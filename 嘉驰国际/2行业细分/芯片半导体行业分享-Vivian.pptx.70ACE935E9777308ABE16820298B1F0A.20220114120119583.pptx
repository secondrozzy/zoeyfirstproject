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347" r:id="rId3"/>
    <p:sldId id="348" r:id="rId5"/>
    <p:sldId id="366" r:id="rId6"/>
    <p:sldId id="384" r:id="rId7"/>
    <p:sldId id="385" r:id="rId8"/>
    <p:sldId id="349" r:id="rId9"/>
    <p:sldId id="350" r:id="rId10"/>
    <p:sldId id="351" r:id="rId11"/>
    <p:sldId id="353" r:id="rId12"/>
    <p:sldId id="352" r:id="rId13"/>
    <p:sldId id="355" r:id="rId14"/>
    <p:sldId id="354" r:id="rId15"/>
    <p:sldId id="356" r:id="rId16"/>
    <p:sldId id="357" r:id="rId17"/>
    <p:sldId id="358" r:id="rId18"/>
    <p:sldId id="359" r:id="rId19"/>
    <p:sldId id="360" r:id="rId20"/>
    <p:sldId id="361" r:id="rId21"/>
    <p:sldId id="362" r:id="rId22"/>
    <p:sldId id="363" r:id="rId23"/>
    <p:sldId id="365" r:id="rId24"/>
    <p:sldId id="364" r:id="rId25"/>
  </p:sldIdLst>
  <p:sldSz cx="12192000" cy="6858000"/>
  <p:notesSz cx="6858000" cy="9144000"/>
  <p:embeddedFontLst>
    <p:embeddedFont>
      <p:font typeface="华文细黑" panose="02010600040101010101" charset="-122"/>
      <p:regular r:id="rId29"/>
    </p:embeddedFont>
    <p:embeddedFont>
      <p:font typeface="汉仪旗黑-55简" panose="00020600040101010101" charset="-122"/>
      <p:regular r:id="rId30"/>
    </p:embeddedFont>
    <p:embeddedFont>
      <p:font typeface="微软雅黑" panose="020B0503020204020204" charset="-122"/>
      <p:regular r:id="rId31"/>
    </p:embeddedFont>
    <p:embeddedFont>
      <p:font typeface="等线 Light" panose="02010600030101010101" charset="-122"/>
      <p:regular r:id="rId32"/>
    </p:embeddedFont>
    <p:embeddedFont>
      <p:font typeface="等线" panose="02010600030101010101" charset="-122"/>
      <p:regular r:id="rId33"/>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95269"/>
    <a:srgbClr val="388BA5"/>
    <a:srgbClr val="267CA0"/>
    <a:srgbClr val="509FA4"/>
    <a:srgbClr val="5BAAA4"/>
    <a:srgbClr val="009B97"/>
    <a:srgbClr val="E6E6E6"/>
    <a:srgbClr val="D3DEDD"/>
    <a:srgbClr val="00C0BB"/>
    <a:srgbClr val="83BF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09" autoAdjust="0"/>
    <p:restoredTop sz="96404" autoAdjust="0"/>
  </p:normalViewPr>
  <p:slideViewPr>
    <p:cSldViewPr snapToGrid="0" showGuides="1">
      <p:cViewPr>
        <p:scale>
          <a:sx n="50" d="100"/>
          <a:sy n="50" d="100"/>
        </p:scale>
        <p:origin x="-1152" y="-802"/>
      </p:cViewPr>
      <p:guideLst>
        <p:guide orient="horz" pos="2398"/>
        <p:guide pos="3873"/>
        <p:guide pos="5034"/>
        <p:guide pos="2628"/>
      </p:guideLst>
    </p:cSldViewPr>
  </p:slid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font" Target="fonts/font5.fntdata"/><Relationship Id="rId32" Type="http://schemas.openxmlformats.org/officeDocument/2006/relationships/font" Target="fonts/font4.fntdata"/><Relationship Id="rId31" Type="http://schemas.openxmlformats.org/officeDocument/2006/relationships/font" Target="fonts/font3.fntdata"/><Relationship Id="rId30" Type="http://schemas.openxmlformats.org/officeDocument/2006/relationships/font" Target="fonts/font2.fntdata"/><Relationship Id="rId3" Type="http://schemas.openxmlformats.org/officeDocument/2006/relationships/slide" Target="slides/slide1.xml"/><Relationship Id="rId29" Type="http://schemas.openxmlformats.org/officeDocument/2006/relationships/font" Target="fonts/font1.fntdata"/><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F2CC8D-3B9A-4706-A2EE-CEE172D75FE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07B8CC-CD7D-4D4E-A59D-DE6DE4293CA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07B8CC-CD7D-4D4E-A59D-DE6DE4293CA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977FFA72-90F3-4843-A88F-D4609A1539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ECF7443-FE70-49D2-8332-A4D465B05ABA}"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977FFA72-90F3-4843-A88F-D4609A1539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ECF7443-FE70-49D2-8332-A4D465B05ABA}"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977FFA72-90F3-4843-A88F-D4609A1539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ECF7443-FE70-49D2-8332-A4D465B05ABA}"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977FFA72-90F3-4843-A88F-D4609A15398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ECF7443-FE70-49D2-8332-A4D465B05ABA}"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977FFA72-90F3-4843-A88F-D4609A15398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ECF7443-FE70-49D2-8332-A4D465B05ABA}"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977FFA72-90F3-4843-A88F-D4609A15398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ECF7443-FE70-49D2-8332-A4D465B05ABA}"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77FFA72-90F3-4843-A88F-D4609A15398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ECF7443-FE70-49D2-8332-A4D465B05ABA}"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977FFA72-90F3-4843-A88F-D4609A15398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ECF7443-FE70-49D2-8332-A4D465B05ABA}"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977FFA72-90F3-4843-A88F-D4609A15398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ECF7443-FE70-49D2-8332-A4D465B05ABA}"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977FFA72-90F3-4843-A88F-D4609A1539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ECF7443-FE70-49D2-8332-A4D465B05ABA}"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977FFA72-90F3-4843-A88F-D4609A1539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ECF7443-FE70-49D2-8332-A4D465B05ABA}"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7FFA72-90F3-4843-A88F-D4609A153988}"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CF7443-FE70-49D2-8332-A4D465B05AB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5" Type="http://schemas.openxmlformats.org/officeDocument/2006/relationships/notesSlide" Target="../notesSlides/notesSlide4.xml"/><Relationship Id="rId54" Type="http://schemas.openxmlformats.org/officeDocument/2006/relationships/slideLayout" Target="../slideLayouts/slideLayout7.xml"/><Relationship Id="rId53" Type="http://schemas.openxmlformats.org/officeDocument/2006/relationships/tags" Target="../tags/tag50.xml"/><Relationship Id="rId52" Type="http://schemas.openxmlformats.org/officeDocument/2006/relationships/tags" Target="../tags/tag49.xml"/><Relationship Id="rId51" Type="http://schemas.openxmlformats.org/officeDocument/2006/relationships/tags" Target="../tags/tag48.xml"/><Relationship Id="rId50" Type="http://schemas.openxmlformats.org/officeDocument/2006/relationships/tags" Target="../tags/tag47.xml"/><Relationship Id="rId5" Type="http://schemas.openxmlformats.org/officeDocument/2006/relationships/image" Target="../media/image5.png"/><Relationship Id="rId49" Type="http://schemas.openxmlformats.org/officeDocument/2006/relationships/tags" Target="../tags/tag46.xml"/><Relationship Id="rId48" Type="http://schemas.openxmlformats.org/officeDocument/2006/relationships/tags" Target="../tags/tag45.xml"/><Relationship Id="rId47" Type="http://schemas.openxmlformats.org/officeDocument/2006/relationships/tags" Target="../tags/tag44.xml"/><Relationship Id="rId46" Type="http://schemas.openxmlformats.org/officeDocument/2006/relationships/tags" Target="../tags/tag43.xml"/><Relationship Id="rId45" Type="http://schemas.openxmlformats.org/officeDocument/2006/relationships/tags" Target="../tags/tag42.xml"/><Relationship Id="rId44" Type="http://schemas.openxmlformats.org/officeDocument/2006/relationships/tags" Target="../tags/tag41.xml"/><Relationship Id="rId43" Type="http://schemas.openxmlformats.org/officeDocument/2006/relationships/tags" Target="../tags/tag40.xml"/><Relationship Id="rId42" Type="http://schemas.openxmlformats.org/officeDocument/2006/relationships/tags" Target="../tags/tag39.xml"/><Relationship Id="rId41" Type="http://schemas.openxmlformats.org/officeDocument/2006/relationships/tags" Target="../tags/tag38.xml"/><Relationship Id="rId40" Type="http://schemas.openxmlformats.org/officeDocument/2006/relationships/tags" Target="../tags/tag37.xml"/><Relationship Id="rId4" Type="http://schemas.openxmlformats.org/officeDocument/2006/relationships/tags" Target="../tags/tag2.xml"/><Relationship Id="rId39" Type="http://schemas.openxmlformats.org/officeDocument/2006/relationships/tags" Target="../tags/tag36.xml"/><Relationship Id="rId38" Type="http://schemas.openxmlformats.org/officeDocument/2006/relationships/tags" Target="../tags/tag35.xml"/><Relationship Id="rId37" Type="http://schemas.openxmlformats.org/officeDocument/2006/relationships/tags" Target="../tags/tag34.xml"/><Relationship Id="rId36" Type="http://schemas.openxmlformats.org/officeDocument/2006/relationships/tags" Target="../tags/tag33.xml"/><Relationship Id="rId35" Type="http://schemas.openxmlformats.org/officeDocument/2006/relationships/tags" Target="../tags/tag32.xml"/><Relationship Id="rId34" Type="http://schemas.openxmlformats.org/officeDocument/2006/relationships/tags" Target="../tags/tag31.xml"/><Relationship Id="rId33" Type="http://schemas.openxmlformats.org/officeDocument/2006/relationships/tags" Target="../tags/tag30.xml"/><Relationship Id="rId32" Type="http://schemas.openxmlformats.org/officeDocument/2006/relationships/tags" Target="../tags/tag29.xml"/><Relationship Id="rId31" Type="http://schemas.openxmlformats.org/officeDocument/2006/relationships/tags" Target="../tags/tag28.xml"/><Relationship Id="rId30" Type="http://schemas.openxmlformats.org/officeDocument/2006/relationships/tags" Target="../tags/tag27.xml"/><Relationship Id="rId3" Type="http://schemas.openxmlformats.org/officeDocument/2006/relationships/tags" Target="../tags/tag1.xml"/><Relationship Id="rId29" Type="http://schemas.openxmlformats.org/officeDocument/2006/relationships/tags" Target="../tags/tag26.xml"/><Relationship Id="rId28" Type="http://schemas.openxmlformats.org/officeDocument/2006/relationships/tags" Target="../tags/tag25.xml"/><Relationship Id="rId27" Type="http://schemas.openxmlformats.org/officeDocument/2006/relationships/tags" Target="../tags/tag24.xml"/><Relationship Id="rId26" Type="http://schemas.openxmlformats.org/officeDocument/2006/relationships/tags" Target="../tags/tag23.xml"/><Relationship Id="rId25" Type="http://schemas.openxmlformats.org/officeDocument/2006/relationships/tags" Target="../tags/tag22.xml"/><Relationship Id="rId24" Type="http://schemas.openxmlformats.org/officeDocument/2006/relationships/tags" Target="../tags/tag21.xml"/><Relationship Id="rId23" Type="http://schemas.openxmlformats.org/officeDocument/2006/relationships/tags" Target="../tags/tag20.xml"/><Relationship Id="rId22" Type="http://schemas.openxmlformats.org/officeDocument/2006/relationships/tags" Target="../tags/tag19.xml"/><Relationship Id="rId21" Type="http://schemas.openxmlformats.org/officeDocument/2006/relationships/tags" Target="../tags/tag18.xml"/><Relationship Id="rId20" Type="http://schemas.openxmlformats.org/officeDocument/2006/relationships/tags" Target="../tags/tag17.xml"/><Relationship Id="rId2" Type="http://schemas.openxmlformats.org/officeDocument/2006/relationships/image" Target="../media/image4.png"/><Relationship Id="rId19" Type="http://schemas.openxmlformats.org/officeDocument/2006/relationships/tags" Target="../tags/tag16.xml"/><Relationship Id="rId18" Type="http://schemas.openxmlformats.org/officeDocument/2006/relationships/tags" Target="../tags/tag15.xml"/><Relationship Id="rId17" Type="http://schemas.openxmlformats.org/officeDocument/2006/relationships/tags" Target="../tags/tag14.xml"/><Relationship Id="rId16" Type="http://schemas.openxmlformats.org/officeDocument/2006/relationships/tags" Target="../tags/tag13.xml"/><Relationship Id="rId15" Type="http://schemas.openxmlformats.org/officeDocument/2006/relationships/tags" Target="../tags/tag12.xml"/><Relationship Id="rId14" Type="http://schemas.openxmlformats.org/officeDocument/2006/relationships/tags" Target="../tags/tag11.xml"/><Relationship Id="rId13" Type="http://schemas.openxmlformats.org/officeDocument/2006/relationships/tags" Target="../tags/tag10.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tags" Target="../tags/tag52.xml"/><Relationship Id="rId2" Type="http://schemas.openxmlformats.org/officeDocument/2006/relationships/image" Target="../media/image2.png"/><Relationship Id="rId1" Type="http://schemas.openxmlformats.org/officeDocument/2006/relationships/tags" Target="../tags/tag51.xml"/></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7.xml"/><Relationship Id="rId5" Type="http://schemas.openxmlformats.org/officeDocument/2006/relationships/tags" Target="../tags/tag55.xml"/><Relationship Id="rId4" Type="http://schemas.openxmlformats.org/officeDocument/2006/relationships/image" Target="../media/image7.png"/><Relationship Id="rId3" Type="http://schemas.openxmlformats.org/officeDocument/2006/relationships/tags" Target="../tags/tag54.xml"/><Relationship Id="rId2" Type="http://schemas.openxmlformats.org/officeDocument/2006/relationships/image" Target="../media/image2.png"/><Relationship Id="rId1" Type="http://schemas.openxmlformats.org/officeDocument/2006/relationships/tags" Target="../tags/tag53.xm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7.xml"/><Relationship Id="rId4" Type="http://schemas.openxmlformats.org/officeDocument/2006/relationships/image" Target="../media/image8.png"/><Relationship Id="rId3" Type="http://schemas.openxmlformats.org/officeDocument/2006/relationships/tags" Target="../tags/tag57.xml"/><Relationship Id="rId2" Type="http://schemas.openxmlformats.org/officeDocument/2006/relationships/image" Target="../media/image2.png"/><Relationship Id="rId1" Type="http://schemas.openxmlformats.org/officeDocument/2006/relationships/tags" Target="../tags/tag56.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7.xml"/><Relationship Id="rId4" Type="http://schemas.openxmlformats.org/officeDocument/2006/relationships/image" Target="../media/image9.png"/><Relationship Id="rId3" Type="http://schemas.openxmlformats.org/officeDocument/2006/relationships/tags" Target="../tags/tag59.xml"/><Relationship Id="rId2" Type="http://schemas.openxmlformats.org/officeDocument/2006/relationships/image" Target="../media/image2.png"/><Relationship Id="rId1" Type="http://schemas.openxmlformats.org/officeDocument/2006/relationships/tags" Target="../tags/tag58.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openxmlformats.org/officeDocument/2006/relationships/tags" Target="../tags/tag60.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7.xml"/><Relationship Id="rId3" Type="http://schemas.openxmlformats.org/officeDocument/2006/relationships/image" Target="../media/image13.png"/><Relationship Id="rId2" Type="http://schemas.openxmlformats.org/officeDocument/2006/relationships/tags" Target="../tags/tag61.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7.xml"/><Relationship Id="rId3" Type="http://schemas.openxmlformats.org/officeDocument/2006/relationships/image" Target="../media/image15.png"/><Relationship Id="rId2" Type="http://schemas.openxmlformats.org/officeDocument/2006/relationships/tags" Target="../tags/tag62.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7.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7.xml"/><Relationship Id="rId3" Type="http://schemas.openxmlformats.org/officeDocument/2006/relationships/tags" Target="../tags/tag64.xml"/><Relationship Id="rId2" Type="http://schemas.openxmlformats.org/officeDocument/2006/relationships/image" Target="../media/image2.png"/><Relationship Id="rId1" Type="http://schemas.openxmlformats.org/officeDocument/2006/relationships/tags" Target="../tags/tag63.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rot="5400000">
            <a:off x="2665730" y="-2667000"/>
            <a:ext cx="6849110" cy="12138025"/>
          </a:xfrm>
          <a:prstGeom prst="rect">
            <a:avLst/>
          </a:prstGeom>
          <a:blipFill dpi="0" rotWithShape="1">
            <a:blip r:embed="rId1">
              <a:alphaModFix amt="9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华文细黑" panose="02010600040101010101" charset="-122"/>
              <a:ea typeface="思源黑体 CN Bold"/>
              <a:sym typeface="华文细黑" panose="02010600040101010101" charset="-122"/>
            </a:endParaRPr>
          </a:p>
        </p:txBody>
      </p:sp>
      <p:sp>
        <p:nvSpPr>
          <p:cNvPr id="13" name="文本框 7"/>
          <p:cNvSpPr txBox="1"/>
          <p:nvPr/>
        </p:nvSpPr>
        <p:spPr bwMode="auto">
          <a:xfrm>
            <a:off x="1905000" y="2576889"/>
            <a:ext cx="8305800" cy="643890"/>
          </a:xfrm>
          <a:prstGeom prst="rect">
            <a:avLst/>
          </a:prstGeom>
          <a:noFill/>
        </p:spPr>
        <p:txBody>
          <a:bodyPr wrap="square" lIns="91438" tIns="45719" rIns="91438" bIns="45719">
            <a:spAutoFit/>
            <a:scene3d>
              <a:camera prst="orthographicFront"/>
              <a:lightRig rig="threePt" dir="t"/>
            </a:scene3d>
            <a:sp3d contourW="12700"/>
          </a:bodyPr>
          <a:lstStyle/>
          <a:p>
            <a:pPr algn="dist">
              <a:defRPr/>
            </a:pPr>
            <a:r>
              <a:rPr lang="zh-CN" altLang="en-US" sz="3600" dirty="0">
                <a:solidFill>
                  <a:srgbClr val="267CA0"/>
                </a:solidFill>
                <a:latin typeface="Arial" panose="020B0604020202020204" pitchFamily="34" charset="0"/>
                <a:ea typeface="汉仪旗黑-55简" panose="00020600040101010101" charset="-122"/>
                <a:sym typeface="华文细黑" panose="02010600040101010101" charset="-122"/>
              </a:rPr>
              <a:t>芯片半导体行业分享</a:t>
            </a:r>
            <a:endParaRPr lang="zh-CN" altLang="en-US" sz="3600" dirty="0">
              <a:solidFill>
                <a:srgbClr val="267CA0"/>
              </a:solidFill>
              <a:latin typeface="Arial" panose="020B0604020202020204" pitchFamily="34" charset="0"/>
              <a:ea typeface="汉仪旗黑-55简" panose="00020600040101010101" charset="-122"/>
              <a:sym typeface="华文细黑" panose="02010600040101010101" charset="-122"/>
            </a:endParaRPr>
          </a:p>
        </p:txBody>
      </p:sp>
      <p:sp>
        <p:nvSpPr>
          <p:cNvPr id="14" name="文本框 10"/>
          <p:cNvSpPr txBox="1"/>
          <p:nvPr/>
        </p:nvSpPr>
        <p:spPr bwMode="auto">
          <a:xfrm>
            <a:off x="2855331" y="3805146"/>
            <a:ext cx="6545249" cy="782320"/>
          </a:xfrm>
          <a:prstGeom prst="rect">
            <a:avLst/>
          </a:prstGeom>
          <a:noFill/>
        </p:spPr>
        <p:txBody>
          <a:bodyPr wrap="square" lIns="91438" tIns="45719" rIns="91438" bIns="45719">
            <a:spAutoFit/>
            <a:scene3d>
              <a:camera prst="orthographicFront"/>
              <a:lightRig rig="threePt" dir="t"/>
            </a:scene3d>
            <a:sp3d contourW="12700"/>
          </a:bodyPr>
          <a:lstStyle/>
          <a:p>
            <a:pPr algn="ctr">
              <a:lnSpc>
                <a:spcPct val="150000"/>
              </a:lnSpc>
              <a:defRPr/>
            </a:pPr>
            <a:r>
              <a:rPr lang="en-US" altLang="zh-CN" sz="1500" dirty="0">
                <a:solidFill>
                  <a:schemeClr val="tx1">
                    <a:lumMod val="65000"/>
                    <a:lumOff val="35000"/>
                  </a:schemeClr>
                </a:solidFill>
                <a:latin typeface="Arial" panose="020B0604020202020204" pitchFamily="34" charset="0"/>
                <a:ea typeface="思源黑体 CN Bold"/>
                <a:sym typeface="华文细黑" panose="02010600040101010101" charset="-122"/>
              </a:rPr>
              <a:t>This template is exclusively designed The user can demonstrate on a projector or </a:t>
            </a:r>
            <a:r>
              <a:rPr lang="en-US" altLang="zh-CN" sz="1500" dirty="0" err="1">
                <a:solidFill>
                  <a:schemeClr val="tx1">
                    <a:lumMod val="65000"/>
                    <a:lumOff val="35000"/>
                  </a:schemeClr>
                </a:solidFill>
                <a:latin typeface="Arial" panose="020B0604020202020204" pitchFamily="34" charset="0"/>
                <a:ea typeface="思源黑体 CN Bold"/>
                <a:sym typeface="华文细黑" panose="02010600040101010101" charset="-122"/>
              </a:rPr>
              <a:t>computerThis</a:t>
            </a:r>
            <a:r>
              <a:rPr lang="en-US" altLang="zh-CN" sz="1500" dirty="0">
                <a:solidFill>
                  <a:schemeClr val="tx1">
                    <a:lumMod val="65000"/>
                    <a:lumOff val="35000"/>
                  </a:schemeClr>
                </a:solidFill>
                <a:latin typeface="Arial" panose="020B0604020202020204" pitchFamily="34" charset="0"/>
                <a:ea typeface="思源黑体 CN Bold"/>
                <a:sym typeface="华文细黑" panose="02010600040101010101" charset="-122"/>
              </a:rPr>
              <a:t> template is exclusively</a:t>
            </a:r>
            <a:endParaRPr lang="en-US" altLang="zh-CN" sz="1500" dirty="0">
              <a:solidFill>
                <a:schemeClr val="tx1">
                  <a:lumMod val="65000"/>
                  <a:lumOff val="35000"/>
                </a:schemeClr>
              </a:solidFill>
              <a:latin typeface="Arial" panose="020B0604020202020204" pitchFamily="34" charset="0"/>
              <a:ea typeface="思源黑体 CN Bold"/>
              <a:sym typeface="华文细黑" panose="02010600040101010101" charset="-122"/>
            </a:endParaRPr>
          </a:p>
        </p:txBody>
      </p:sp>
      <p:sp>
        <p:nvSpPr>
          <p:cNvPr id="15" name="矩形: 圆角 2"/>
          <p:cNvSpPr/>
          <p:nvPr/>
        </p:nvSpPr>
        <p:spPr>
          <a:xfrm>
            <a:off x="4290923" y="4795590"/>
            <a:ext cx="1431636" cy="304800"/>
          </a:xfrm>
          <a:prstGeom prst="roundRect">
            <a:avLst>
              <a:gd name="adj" fmla="val 29167"/>
            </a:avLst>
          </a:prstGeom>
          <a:gradFill>
            <a:gsLst>
              <a:gs pos="0">
                <a:srgbClr val="267CA0"/>
              </a:gs>
              <a:gs pos="33000">
                <a:srgbClr val="388BA5">
                  <a:alpha val="90000"/>
                </a:srgbClr>
              </a:gs>
              <a:gs pos="66000">
                <a:srgbClr val="509FA4">
                  <a:alpha val="90000"/>
                </a:srgbClr>
              </a:gs>
              <a:gs pos="100000">
                <a:srgbClr val="5BAAA4">
                  <a:alpha val="8500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dirty="0">
              <a:solidFill>
                <a:srgbClr val="509FA4"/>
              </a:solidFill>
              <a:latin typeface="华文细黑" panose="02010600040101010101" charset="-122"/>
              <a:ea typeface="思源黑体 CN Bold"/>
              <a:sym typeface="华文细黑" panose="02010600040101010101" charset="-122"/>
            </a:endParaRPr>
          </a:p>
        </p:txBody>
      </p:sp>
      <p:sp>
        <p:nvSpPr>
          <p:cNvPr id="16" name="矩形: 圆角 12"/>
          <p:cNvSpPr/>
          <p:nvPr/>
        </p:nvSpPr>
        <p:spPr>
          <a:xfrm>
            <a:off x="6498586" y="4795590"/>
            <a:ext cx="1431636" cy="304800"/>
          </a:xfrm>
          <a:prstGeom prst="roundRect">
            <a:avLst>
              <a:gd name="adj" fmla="val 29167"/>
            </a:avLst>
          </a:prstGeom>
          <a:gradFill>
            <a:gsLst>
              <a:gs pos="0">
                <a:srgbClr val="267CA0"/>
              </a:gs>
              <a:gs pos="33000">
                <a:srgbClr val="388BA5">
                  <a:alpha val="90000"/>
                </a:srgbClr>
              </a:gs>
              <a:gs pos="66000">
                <a:srgbClr val="509FA4">
                  <a:alpha val="90000"/>
                </a:srgbClr>
              </a:gs>
              <a:gs pos="100000">
                <a:srgbClr val="5BAAA4">
                  <a:alpha val="8500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dirty="0">
              <a:solidFill>
                <a:srgbClr val="509FA4"/>
              </a:solidFill>
              <a:latin typeface="华文细黑" panose="02010600040101010101" charset="-122"/>
              <a:ea typeface="思源黑体 CN Bold"/>
              <a:sym typeface="华文细黑" panose="02010600040101010101" charset="-122"/>
            </a:endParaRPr>
          </a:p>
        </p:txBody>
      </p:sp>
      <p:sp>
        <p:nvSpPr>
          <p:cNvPr id="17" name="文本框 13"/>
          <p:cNvSpPr txBox="1"/>
          <p:nvPr/>
        </p:nvSpPr>
        <p:spPr bwMode="auto">
          <a:xfrm>
            <a:off x="4147287" y="1780874"/>
            <a:ext cx="3874484" cy="751840"/>
          </a:xfrm>
          <a:prstGeom prst="rect">
            <a:avLst/>
          </a:prstGeom>
          <a:noFill/>
        </p:spPr>
        <p:txBody>
          <a:bodyPr wrap="square" lIns="91438" tIns="45719" rIns="91438" bIns="45719">
            <a:spAutoFit/>
            <a:scene3d>
              <a:camera prst="orthographicFront"/>
              <a:lightRig rig="threePt" dir="t"/>
            </a:scene3d>
            <a:sp3d contourW="12700"/>
          </a:bodyPr>
          <a:lstStyle/>
          <a:p>
            <a:pPr algn="ctr">
              <a:defRPr/>
            </a:pPr>
            <a:r>
              <a:rPr lang="en-US" altLang="zh-CN" sz="4300" dirty="0">
                <a:solidFill>
                  <a:srgbClr val="509FA4"/>
                </a:solidFill>
                <a:latin typeface="Arial" panose="020B0604020202020204" pitchFamily="34" charset="0"/>
                <a:ea typeface="汉仪旗黑-55简" panose="00020600040101010101" charset="-122"/>
                <a:sym typeface="华文细黑" panose="02010600040101010101" charset="-122"/>
              </a:rPr>
              <a:t>COMPANY</a:t>
            </a:r>
            <a:endParaRPr lang="en-US" altLang="zh-CN" sz="4300" dirty="0">
              <a:solidFill>
                <a:srgbClr val="509FA4"/>
              </a:solidFill>
              <a:latin typeface="Arial" panose="020B0604020202020204" pitchFamily="34" charset="0"/>
              <a:ea typeface="汉仪旗黑-55简" panose="00020600040101010101" charset="-122"/>
              <a:sym typeface="华文细黑" panose="02010600040101010101" charset="-122"/>
            </a:endParaRPr>
          </a:p>
        </p:txBody>
      </p:sp>
      <p:sp>
        <p:nvSpPr>
          <p:cNvPr id="18" name="文本框 14"/>
          <p:cNvSpPr txBox="1"/>
          <p:nvPr/>
        </p:nvSpPr>
        <p:spPr bwMode="auto">
          <a:xfrm>
            <a:off x="4147185" y="4779645"/>
            <a:ext cx="1758315" cy="320675"/>
          </a:xfrm>
          <a:prstGeom prst="rect">
            <a:avLst/>
          </a:prstGeom>
          <a:noFill/>
          <a:ln>
            <a:noFill/>
          </a:ln>
        </p:spPr>
        <p:txBody>
          <a:bodyPr wrap="square" lIns="91438" tIns="45719" rIns="91438" bIns="45719">
            <a:spAutoFit/>
            <a:scene3d>
              <a:camera prst="orthographicFront"/>
              <a:lightRig rig="threePt" dir="t"/>
            </a:scene3d>
            <a:sp3d contourW="12700"/>
          </a:bodyPr>
          <a:lstStyle/>
          <a:p>
            <a:pPr algn="ctr">
              <a:defRPr/>
            </a:pPr>
            <a:r>
              <a:rPr lang="zh-CN" altLang="en-US" sz="1500" dirty="0">
                <a:solidFill>
                  <a:schemeClr val="bg1"/>
                </a:solidFill>
                <a:latin typeface="Arial" panose="020B0604020202020204" pitchFamily="34" charset="0"/>
                <a:ea typeface="汉仪旗黑-55简" panose="00020600040101010101" charset="-122"/>
                <a:sym typeface="华文细黑" panose="02010600040101010101" charset="-122"/>
              </a:rPr>
              <a:t>汇报</a:t>
            </a:r>
            <a:r>
              <a:rPr lang="zh-CN" altLang="en-US" sz="1500" dirty="0" smtClean="0">
                <a:solidFill>
                  <a:schemeClr val="bg1"/>
                </a:solidFill>
                <a:latin typeface="Arial" panose="020B0604020202020204" pitchFamily="34" charset="0"/>
                <a:ea typeface="汉仪旗黑-55简" panose="00020600040101010101" charset="-122"/>
                <a:sym typeface="华文细黑" panose="02010600040101010101" charset="-122"/>
              </a:rPr>
              <a:t>：</a:t>
            </a:r>
            <a:r>
              <a:rPr lang="en-US" altLang="zh-CN" sz="1500" dirty="0" smtClean="0">
                <a:solidFill>
                  <a:schemeClr val="bg1"/>
                </a:solidFill>
                <a:latin typeface="Arial" panose="020B0604020202020204" pitchFamily="34" charset="0"/>
                <a:ea typeface="汉仪旗黑-55简" panose="00020600040101010101" charset="-122"/>
                <a:sym typeface="华文细黑" panose="02010600040101010101" charset="-122"/>
              </a:rPr>
              <a:t>Vivian</a:t>
            </a:r>
            <a:endParaRPr lang="en-US" altLang="zh-CN" sz="1500" dirty="0" smtClean="0">
              <a:solidFill>
                <a:schemeClr val="bg1"/>
              </a:solidFill>
              <a:latin typeface="Arial" panose="020B0604020202020204" pitchFamily="34" charset="0"/>
              <a:ea typeface="汉仪旗黑-55简" panose="00020600040101010101" charset="-122"/>
              <a:sym typeface="华文细黑" panose="02010600040101010101" charset="-122"/>
            </a:endParaRPr>
          </a:p>
        </p:txBody>
      </p:sp>
      <p:sp>
        <p:nvSpPr>
          <p:cNvPr id="19" name="文本框 15"/>
          <p:cNvSpPr txBox="1"/>
          <p:nvPr/>
        </p:nvSpPr>
        <p:spPr bwMode="auto">
          <a:xfrm>
            <a:off x="6323330" y="4795520"/>
            <a:ext cx="1774190" cy="320675"/>
          </a:xfrm>
          <a:prstGeom prst="rect">
            <a:avLst/>
          </a:prstGeom>
          <a:noFill/>
          <a:ln>
            <a:noFill/>
          </a:ln>
        </p:spPr>
        <p:txBody>
          <a:bodyPr wrap="square" lIns="91438" tIns="45719" rIns="91438" bIns="45719">
            <a:spAutoFit/>
            <a:scene3d>
              <a:camera prst="orthographicFront"/>
              <a:lightRig rig="threePt" dir="t"/>
            </a:scene3d>
            <a:sp3d contourW="12700"/>
          </a:bodyPr>
          <a:lstStyle/>
          <a:p>
            <a:pPr algn="ctr">
              <a:defRPr/>
            </a:pPr>
            <a:r>
              <a:rPr lang="zh-CN" altLang="en-US" sz="1500" dirty="0">
                <a:solidFill>
                  <a:schemeClr val="bg1"/>
                </a:solidFill>
                <a:latin typeface="Arial" panose="020B0604020202020204" pitchFamily="34" charset="0"/>
                <a:ea typeface="思源黑体 CN Bold"/>
                <a:sym typeface="华文细黑" panose="02010600040101010101" charset="-122"/>
              </a:rPr>
              <a:t>部门：武汉公司</a:t>
            </a:r>
            <a:endParaRPr lang="zh-CN" altLang="en-US" sz="1500" dirty="0">
              <a:solidFill>
                <a:schemeClr val="bg1"/>
              </a:solidFill>
              <a:latin typeface="Arial" panose="020B0604020202020204" pitchFamily="34" charset="0"/>
              <a:ea typeface="思源黑体 CN Bold"/>
              <a:sym typeface="华文细黑" panose="02010600040101010101" charset="-122"/>
            </a:endParaRPr>
          </a:p>
        </p:txBody>
      </p:sp>
      <p:pic>
        <p:nvPicPr>
          <p:cNvPr id="3" name="图片 2"/>
          <p:cNvPicPr>
            <a:picLocks noChangeAspect="1"/>
          </p:cNvPicPr>
          <p:nvPr/>
        </p:nvPicPr>
        <p:blipFill>
          <a:blip r:embed="rId2"/>
          <a:stretch>
            <a:fillRect/>
          </a:stretch>
        </p:blipFill>
        <p:spPr>
          <a:xfrm>
            <a:off x="10490200" y="31115"/>
            <a:ext cx="1668780" cy="14859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5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par>
                          <p:cTn id="10" fill="hold">
                            <p:stCondLst>
                              <p:cond delay="500"/>
                            </p:stCondLst>
                            <p:childTnLst>
                              <p:par>
                                <p:cTn id="11" presetID="56" presetClass="entr" presetSubtype="0" fill="hold" grpId="0" nodeType="afterEffect">
                                  <p:stCondLst>
                                    <p:cond delay="0"/>
                                  </p:stCondLst>
                                  <p:iterate type="lt">
                                    <p:tmPct val="10000"/>
                                  </p:iterate>
                                  <p:childTnLst>
                                    <p:set>
                                      <p:cBhvr>
                                        <p:cTn id="12" dur="1" fill="hold">
                                          <p:stCondLst>
                                            <p:cond delay="0"/>
                                          </p:stCondLst>
                                        </p:cTn>
                                        <p:tgtEl>
                                          <p:spTgt spid="13"/>
                                        </p:tgtEl>
                                        <p:attrNameLst>
                                          <p:attrName>style.visibility</p:attrName>
                                        </p:attrNameLst>
                                      </p:cBhvr>
                                      <p:to>
                                        <p:strVal val="visible"/>
                                      </p:to>
                                    </p:set>
                                    <p:anim by="(-#ppt_w*2)" calcmode="lin" valueType="num">
                                      <p:cBhvr rctx="PPT">
                                        <p:cTn id="13" dur="500" autoRev="1" fill="hold">
                                          <p:stCondLst>
                                            <p:cond delay="0"/>
                                          </p:stCondLst>
                                        </p:cTn>
                                        <p:tgtEl>
                                          <p:spTgt spid="13"/>
                                        </p:tgtEl>
                                        <p:attrNameLst>
                                          <p:attrName>ppt_w</p:attrName>
                                        </p:attrNameLst>
                                      </p:cBhvr>
                                    </p:anim>
                                    <p:anim by="(#ppt_w*0.50)" calcmode="lin" valueType="num">
                                      <p:cBhvr>
                                        <p:cTn id="14" dur="500" decel="50000" autoRev="1" fill="hold">
                                          <p:stCondLst>
                                            <p:cond delay="0"/>
                                          </p:stCondLst>
                                        </p:cTn>
                                        <p:tgtEl>
                                          <p:spTgt spid="13"/>
                                        </p:tgtEl>
                                        <p:attrNameLst>
                                          <p:attrName>ppt_x</p:attrName>
                                        </p:attrNameLst>
                                      </p:cBhvr>
                                    </p:anim>
                                    <p:anim from="(-#ppt_h/2)" to="(#ppt_y)" calcmode="lin" valueType="num">
                                      <p:cBhvr>
                                        <p:cTn id="15" dur="1000" fill="hold">
                                          <p:stCondLst>
                                            <p:cond delay="0"/>
                                          </p:stCondLst>
                                        </p:cTn>
                                        <p:tgtEl>
                                          <p:spTgt spid="13"/>
                                        </p:tgtEl>
                                        <p:attrNameLst>
                                          <p:attrName>ppt_y</p:attrName>
                                        </p:attrNameLst>
                                      </p:cBhvr>
                                    </p:anim>
                                    <p:animRot by="21600000">
                                      <p:cBhvr>
                                        <p:cTn id="16" dur="1000" fill="hold">
                                          <p:stCondLst>
                                            <p:cond delay="0"/>
                                          </p:stCondLst>
                                        </p:cTn>
                                        <p:tgtEl>
                                          <p:spTgt spid="13"/>
                                        </p:tgtEl>
                                        <p:attrNameLst>
                                          <p:attrName>r</p:attrName>
                                        </p:attrNameLst>
                                      </p:cBhvr>
                                    </p:animRot>
                                  </p:childTnLst>
                                </p:cTn>
                              </p:par>
                            </p:childTnLst>
                          </p:cTn>
                        </p:par>
                        <p:par>
                          <p:cTn id="17" fill="hold">
                            <p:stCondLst>
                              <p:cond delay="1799"/>
                            </p:stCondLst>
                            <p:childTnLst>
                              <p:par>
                                <p:cTn id="18" presetID="16" presetClass="entr" presetSubtype="37"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barn(outVertical)">
                                      <p:cBhvr>
                                        <p:cTn id="20" dur="500"/>
                                        <p:tgtEl>
                                          <p:spTgt spid="14"/>
                                        </p:tgtEl>
                                      </p:cBhvr>
                                    </p:animEffect>
                                  </p:childTnLst>
                                </p:cTn>
                              </p:par>
                            </p:childTnLst>
                          </p:cTn>
                        </p:par>
                        <p:par>
                          <p:cTn id="21" fill="hold">
                            <p:stCondLst>
                              <p:cond delay="2299"/>
                            </p:stCondLst>
                            <p:childTnLst>
                              <p:par>
                                <p:cTn id="22" presetID="37" presetClass="entr" presetSubtype="0" fill="hold" grpId="0"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1000"/>
                                        <p:tgtEl>
                                          <p:spTgt spid="15"/>
                                        </p:tgtEl>
                                      </p:cBhvr>
                                    </p:animEffect>
                                    <p:anim calcmode="lin" valueType="num">
                                      <p:cBhvr>
                                        <p:cTn id="25" dur="1000" fill="hold"/>
                                        <p:tgtEl>
                                          <p:spTgt spid="15"/>
                                        </p:tgtEl>
                                        <p:attrNameLst>
                                          <p:attrName>ppt_x</p:attrName>
                                        </p:attrNameLst>
                                      </p:cBhvr>
                                      <p:tavLst>
                                        <p:tav tm="0">
                                          <p:val>
                                            <p:strVal val="#ppt_x"/>
                                          </p:val>
                                        </p:tav>
                                        <p:tav tm="100000">
                                          <p:val>
                                            <p:strVal val="#ppt_x"/>
                                          </p:val>
                                        </p:tav>
                                      </p:tavLst>
                                    </p:anim>
                                    <p:anim calcmode="lin" valueType="num">
                                      <p:cBhvr>
                                        <p:cTn id="26" dur="900" decel="100000" fill="hold"/>
                                        <p:tgtEl>
                                          <p:spTgt spid="15"/>
                                        </p:tgtEl>
                                        <p:attrNameLst>
                                          <p:attrName>ppt_y</p:attrName>
                                        </p:attrNameLst>
                                      </p:cBhvr>
                                      <p:tavLst>
                                        <p:tav tm="0">
                                          <p:val>
                                            <p:strVal val="#ppt_y+1"/>
                                          </p:val>
                                        </p:tav>
                                        <p:tav tm="100000">
                                          <p:val>
                                            <p:strVal val="#ppt_y-.03"/>
                                          </p:val>
                                        </p:tav>
                                      </p:tavLst>
                                    </p:anim>
                                    <p:anim calcmode="lin" valueType="num">
                                      <p:cBhvr>
                                        <p:cTn id="27" dur="100" accel="100000" fill="hold">
                                          <p:stCondLst>
                                            <p:cond delay="900"/>
                                          </p:stCondLst>
                                        </p:cTn>
                                        <p:tgtEl>
                                          <p:spTgt spid="15"/>
                                        </p:tgtEl>
                                        <p:attrNameLst>
                                          <p:attrName>ppt_y</p:attrName>
                                        </p:attrNameLst>
                                      </p:cBhvr>
                                      <p:tavLst>
                                        <p:tav tm="0">
                                          <p:val>
                                            <p:strVal val="#ppt_y-.03"/>
                                          </p:val>
                                        </p:tav>
                                        <p:tav tm="100000">
                                          <p:val>
                                            <p:strVal val="#ppt_y"/>
                                          </p:val>
                                        </p:tav>
                                      </p:tavLst>
                                    </p:anim>
                                  </p:childTnLst>
                                </p:cTn>
                              </p:par>
                              <p:par>
                                <p:cTn id="28" presetID="37"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1000"/>
                                        <p:tgtEl>
                                          <p:spTgt spid="16"/>
                                        </p:tgtEl>
                                      </p:cBhvr>
                                    </p:animEffect>
                                    <p:anim calcmode="lin" valueType="num">
                                      <p:cBhvr>
                                        <p:cTn id="31" dur="1000" fill="hold"/>
                                        <p:tgtEl>
                                          <p:spTgt spid="16"/>
                                        </p:tgtEl>
                                        <p:attrNameLst>
                                          <p:attrName>ppt_x</p:attrName>
                                        </p:attrNameLst>
                                      </p:cBhvr>
                                      <p:tavLst>
                                        <p:tav tm="0">
                                          <p:val>
                                            <p:strVal val="#ppt_x"/>
                                          </p:val>
                                        </p:tav>
                                        <p:tav tm="100000">
                                          <p:val>
                                            <p:strVal val="#ppt_x"/>
                                          </p:val>
                                        </p:tav>
                                      </p:tavLst>
                                    </p:anim>
                                    <p:anim calcmode="lin" valueType="num">
                                      <p:cBhvr>
                                        <p:cTn id="32" dur="900" decel="100000" fill="hold"/>
                                        <p:tgtEl>
                                          <p:spTgt spid="16"/>
                                        </p:tgtEl>
                                        <p:attrNameLst>
                                          <p:attrName>ppt_y</p:attrName>
                                        </p:attrNameLst>
                                      </p:cBhvr>
                                      <p:tavLst>
                                        <p:tav tm="0">
                                          <p:val>
                                            <p:strVal val="#ppt_y+1"/>
                                          </p:val>
                                        </p:tav>
                                        <p:tav tm="100000">
                                          <p:val>
                                            <p:strVal val="#ppt_y-.03"/>
                                          </p:val>
                                        </p:tav>
                                      </p:tavLst>
                                    </p:anim>
                                    <p:anim calcmode="lin" valueType="num">
                                      <p:cBhvr>
                                        <p:cTn id="33" dur="100" accel="100000" fill="hold">
                                          <p:stCondLst>
                                            <p:cond delay="900"/>
                                          </p:stCondLst>
                                        </p:cTn>
                                        <p:tgtEl>
                                          <p:spTgt spid="16"/>
                                        </p:tgtEl>
                                        <p:attrNameLst>
                                          <p:attrName>ppt_y</p:attrName>
                                        </p:attrNameLst>
                                      </p:cBhvr>
                                      <p:tavLst>
                                        <p:tav tm="0">
                                          <p:val>
                                            <p:strVal val="#ppt_y-.03"/>
                                          </p:val>
                                        </p:tav>
                                        <p:tav tm="100000">
                                          <p:val>
                                            <p:strVal val="#ppt_y"/>
                                          </p:val>
                                        </p:tav>
                                      </p:tavLst>
                                    </p:anim>
                                  </p:childTnLst>
                                </p:cTn>
                              </p:par>
                              <p:par>
                                <p:cTn id="34" presetID="37"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1000"/>
                                        <p:tgtEl>
                                          <p:spTgt spid="18"/>
                                        </p:tgtEl>
                                      </p:cBhvr>
                                    </p:animEffect>
                                    <p:anim calcmode="lin" valueType="num">
                                      <p:cBhvr>
                                        <p:cTn id="37" dur="1000" fill="hold"/>
                                        <p:tgtEl>
                                          <p:spTgt spid="18"/>
                                        </p:tgtEl>
                                        <p:attrNameLst>
                                          <p:attrName>ppt_x</p:attrName>
                                        </p:attrNameLst>
                                      </p:cBhvr>
                                      <p:tavLst>
                                        <p:tav tm="0">
                                          <p:val>
                                            <p:strVal val="#ppt_x"/>
                                          </p:val>
                                        </p:tav>
                                        <p:tav tm="100000">
                                          <p:val>
                                            <p:strVal val="#ppt_x"/>
                                          </p:val>
                                        </p:tav>
                                      </p:tavLst>
                                    </p:anim>
                                    <p:anim calcmode="lin" valueType="num">
                                      <p:cBhvr>
                                        <p:cTn id="38" dur="900" decel="100000" fill="hold"/>
                                        <p:tgtEl>
                                          <p:spTgt spid="18"/>
                                        </p:tgtEl>
                                        <p:attrNameLst>
                                          <p:attrName>ppt_y</p:attrName>
                                        </p:attrNameLst>
                                      </p:cBhvr>
                                      <p:tavLst>
                                        <p:tav tm="0">
                                          <p:val>
                                            <p:strVal val="#ppt_y+1"/>
                                          </p:val>
                                        </p:tav>
                                        <p:tav tm="100000">
                                          <p:val>
                                            <p:strVal val="#ppt_y-.03"/>
                                          </p:val>
                                        </p:tav>
                                      </p:tavLst>
                                    </p:anim>
                                    <p:anim calcmode="lin" valueType="num">
                                      <p:cBhvr>
                                        <p:cTn id="39" dur="100" accel="100000" fill="hold">
                                          <p:stCondLst>
                                            <p:cond delay="900"/>
                                          </p:stCondLst>
                                        </p:cTn>
                                        <p:tgtEl>
                                          <p:spTgt spid="18"/>
                                        </p:tgtEl>
                                        <p:attrNameLst>
                                          <p:attrName>ppt_y</p:attrName>
                                        </p:attrNameLst>
                                      </p:cBhvr>
                                      <p:tavLst>
                                        <p:tav tm="0">
                                          <p:val>
                                            <p:strVal val="#ppt_y-.03"/>
                                          </p:val>
                                        </p:tav>
                                        <p:tav tm="100000">
                                          <p:val>
                                            <p:strVal val="#ppt_y"/>
                                          </p:val>
                                        </p:tav>
                                      </p:tavLst>
                                    </p:anim>
                                  </p:childTnLst>
                                </p:cTn>
                              </p:par>
                              <p:par>
                                <p:cTn id="40" presetID="37"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1000"/>
                                        <p:tgtEl>
                                          <p:spTgt spid="19"/>
                                        </p:tgtEl>
                                      </p:cBhvr>
                                    </p:animEffect>
                                    <p:anim calcmode="lin" valueType="num">
                                      <p:cBhvr>
                                        <p:cTn id="43" dur="1000" fill="hold"/>
                                        <p:tgtEl>
                                          <p:spTgt spid="19"/>
                                        </p:tgtEl>
                                        <p:attrNameLst>
                                          <p:attrName>ppt_x</p:attrName>
                                        </p:attrNameLst>
                                      </p:cBhvr>
                                      <p:tavLst>
                                        <p:tav tm="0">
                                          <p:val>
                                            <p:strVal val="#ppt_x"/>
                                          </p:val>
                                        </p:tav>
                                        <p:tav tm="100000">
                                          <p:val>
                                            <p:strVal val="#ppt_x"/>
                                          </p:val>
                                        </p:tav>
                                      </p:tavLst>
                                    </p:anim>
                                    <p:anim calcmode="lin" valueType="num">
                                      <p:cBhvr>
                                        <p:cTn id="44" dur="900" decel="100000" fill="hold"/>
                                        <p:tgtEl>
                                          <p:spTgt spid="19"/>
                                        </p:tgtEl>
                                        <p:attrNameLst>
                                          <p:attrName>ppt_y</p:attrName>
                                        </p:attrNameLst>
                                      </p:cBhvr>
                                      <p:tavLst>
                                        <p:tav tm="0">
                                          <p:val>
                                            <p:strVal val="#ppt_y+1"/>
                                          </p:val>
                                        </p:tav>
                                        <p:tav tm="100000">
                                          <p:val>
                                            <p:strVal val="#ppt_y-.03"/>
                                          </p:val>
                                        </p:tav>
                                      </p:tavLst>
                                    </p:anim>
                                    <p:anim calcmode="lin" valueType="num">
                                      <p:cBhvr>
                                        <p:cTn id="45" dur="100" accel="100000" fill="hold">
                                          <p:stCondLst>
                                            <p:cond delay="900"/>
                                          </p:stCondLst>
                                        </p:cTn>
                                        <p:tgtEl>
                                          <p:spTgt spid="19"/>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bldLvl="0" animBg="1"/>
      <p:bldP spid="16" grpId="0" bldLvl="0" animBg="1"/>
      <p:bldP spid="17" grpId="0"/>
      <p:bldP spid="18" grpId="0"/>
      <p:bldP spid="1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rot="5400000" flipV="1">
            <a:off x="2400784" y="-3084205"/>
            <a:ext cx="8580120" cy="14127480"/>
          </a:xfrm>
          <a:prstGeom prst="rect">
            <a:avLst/>
          </a:prstGeom>
          <a:blipFill dpi="0" rotWithShape="1">
            <a:blip r:embed="rId1">
              <a:alphaModFix amt="9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华文细黑" panose="02010600040101010101" charset="-122"/>
              <a:ea typeface="思源黑体 CN Bold"/>
              <a:sym typeface="华文细黑" panose="02010600040101010101" charset="-122"/>
            </a:endParaRPr>
          </a:p>
        </p:txBody>
      </p:sp>
      <p:sp>
        <p:nvSpPr>
          <p:cNvPr id="6" name="文本框 7"/>
          <p:cNvSpPr txBox="1"/>
          <p:nvPr/>
        </p:nvSpPr>
        <p:spPr>
          <a:xfrm>
            <a:off x="167005" y="2621915"/>
            <a:ext cx="7621905" cy="829945"/>
          </a:xfrm>
          <a:prstGeom prst="rect">
            <a:avLst/>
          </a:prstGeom>
          <a:noFill/>
        </p:spPr>
        <p:txBody>
          <a:bodyPr wrap="square" rtlCol="0">
            <a:spAutoFit/>
          </a:bodyPr>
          <a:lstStyle/>
          <a:p>
            <a:pPr lvl="0" algn="ctr">
              <a:defRPr/>
            </a:pPr>
            <a:r>
              <a:rPr lang="zh-CN" altLang="en-US" sz="4800" spc="300" dirty="0">
                <a:solidFill>
                  <a:schemeClr val="tx1">
                    <a:lumMod val="65000"/>
                    <a:lumOff val="35000"/>
                  </a:schemeClr>
                </a:solidFill>
                <a:latin typeface="Arial" panose="020B0604020202020204" pitchFamily="34" charset="0"/>
                <a:ea typeface="汉仪旗黑-55简" panose="00020600040101010101" charset="-122"/>
                <a:sym typeface="华文细黑" panose="02010600040101010101" charset="-122"/>
              </a:rPr>
              <a:t>一、芯片半导体行业概况</a:t>
            </a:r>
            <a:endParaRPr lang="zh-CN" altLang="en-US" sz="4800" spc="300" dirty="0">
              <a:solidFill>
                <a:schemeClr val="tx1">
                  <a:lumMod val="65000"/>
                  <a:lumOff val="35000"/>
                </a:schemeClr>
              </a:solidFill>
              <a:latin typeface="Arial" panose="020B0604020202020204" pitchFamily="34" charset="0"/>
              <a:ea typeface="汉仪旗黑-55简" panose="00020600040101010101" charset="-122"/>
              <a:sym typeface="华文细黑" panose="02010600040101010101" charset="-122"/>
            </a:endParaRPr>
          </a:p>
        </p:txBody>
      </p:sp>
      <p:sp>
        <p:nvSpPr>
          <p:cNvPr id="7" name="文本框 9"/>
          <p:cNvSpPr txBox="1"/>
          <p:nvPr/>
        </p:nvSpPr>
        <p:spPr>
          <a:xfrm>
            <a:off x="1391951" y="3706029"/>
            <a:ext cx="7024974" cy="156845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0000">
                    <a:lumMod val="75000"/>
                    <a:lumOff val="25000"/>
                  </a:srgbClr>
                </a:solidFill>
                <a:effectLst/>
                <a:uLnTx/>
                <a:uFillTx/>
                <a:latin typeface="Arial" panose="020B0604020202020204" pitchFamily="34" charset="0"/>
                <a:ea typeface="思源黑体 CN Bold"/>
                <a:sym typeface="华文细黑" panose="02010600040101010101" charset="-122"/>
              </a:rPr>
              <a:t>01.</a:t>
            </a:r>
            <a:r>
              <a:rPr kumimoji="0" lang="zh-CN" altLang="en-US" sz="1600" b="0" i="0" u="none" strike="noStrike" kern="1200" cap="none" spc="0" normalizeH="0" baseline="0" noProof="0" dirty="0">
                <a:ln>
                  <a:noFill/>
                </a:ln>
                <a:solidFill>
                  <a:srgbClr val="000000">
                    <a:lumMod val="75000"/>
                    <a:lumOff val="25000"/>
                  </a:srgbClr>
                </a:solidFill>
                <a:effectLst/>
                <a:uLnTx/>
                <a:uFillTx/>
                <a:latin typeface="Arial" panose="020B0604020202020204" pitchFamily="34" charset="0"/>
                <a:ea typeface="思源黑体 CN Bold"/>
                <a:sym typeface="华文细黑" panose="02010600040101010101" charset="-122"/>
              </a:rPr>
              <a:t>什么是半导体</a:t>
            </a:r>
            <a:endParaRPr kumimoji="0" lang="zh-CN" altLang="en-US" sz="1600" b="0" i="0" u="none" strike="noStrike" kern="1200" cap="none" spc="0" normalizeH="0" baseline="0" noProof="0" dirty="0">
              <a:ln>
                <a:noFill/>
              </a:ln>
              <a:solidFill>
                <a:srgbClr val="000000">
                  <a:lumMod val="75000"/>
                  <a:lumOff val="25000"/>
                </a:srgbClr>
              </a:solidFill>
              <a:effectLst/>
              <a:uLnTx/>
              <a:uFillTx/>
              <a:latin typeface="Arial" panose="020B0604020202020204" pitchFamily="34" charset="0"/>
              <a:ea typeface="思源黑体 CN Bold"/>
              <a:sym typeface="华文细黑" panose="02010600040101010101"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0000">
                    <a:lumMod val="75000"/>
                    <a:lumOff val="25000"/>
                  </a:srgbClr>
                </a:solidFill>
                <a:effectLst/>
                <a:uLnTx/>
                <a:uFillTx/>
                <a:latin typeface="Arial" panose="020B0604020202020204" pitchFamily="34" charset="0"/>
                <a:ea typeface="思源黑体 CN Bold"/>
                <a:sym typeface="华文细黑" panose="02010600040101010101" charset="-122"/>
              </a:rPr>
              <a:t>02.</a:t>
            </a:r>
            <a:r>
              <a:rPr kumimoji="0" lang="zh-CN" altLang="en-US" sz="1600" b="0" i="0" u="none" strike="noStrike" kern="1200" cap="none" spc="0" normalizeH="0" baseline="0" noProof="0" dirty="0">
                <a:ln>
                  <a:noFill/>
                </a:ln>
                <a:solidFill>
                  <a:srgbClr val="000000">
                    <a:lumMod val="75000"/>
                    <a:lumOff val="25000"/>
                  </a:srgbClr>
                </a:solidFill>
                <a:effectLst/>
                <a:uLnTx/>
                <a:uFillTx/>
                <a:latin typeface="Arial" panose="020B0604020202020204" pitchFamily="34" charset="0"/>
                <a:ea typeface="思源黑体 CN Bold"/>
                <a:sym typeface="华文细黑" panose="02010600040101010101" charset="-122"/>
              </a:rPr>
              <a:t>什么是芯片</a:t>
            </a:r>
            <a:endParaRPr kumimoji="0" lang="zh-CN" altLang="en-US" sz="1600" b="0" i="0" u="none" strike="noStrike" kern="1200" cap="none" spc="0" normalizeH="0" baseline="0" noProof="0" dirty="0">
              <a:ln>
                <a:noFill/>
              </a:ln>
              <a:solidFill>
                <a:srgbClr val="000000">
                  <a:lumMod val="75000"/>
                  <a:lumOff val="25000"/>
                </a:srgbClr>
              </a:solidFill>
              <a:effectLst/>
              <a:uLnTx/>
              <a:uFillTx/>
              <a:latin typeface="Arial" panose="020B0604020202020204" pitchFamily="34" charset="0"/>
              <a:ea typeface="思源黑体 CN Bold"/>
              <a:sym typeface="华文细黑" panose="02010600040101010101"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0000">
                    <a:lumMod val="75000"/>
                    <a:lumOff val="25000"/>
                  </a:srgbClr>
                </a:solidFill>
                <a:effectLst/>
                <a:uLnTx/>
                <a:uFillTx/>
                <a:latin typeface="Arial" panose="020B0604020202020204" pitchFamily="34" charset="0"/>
                <a:ea typeface="思源黑体 CN Bold"/>
                <a:sym typeface="华文细黑" panose="02010600040101010101" charset="-122"/>
              </a:rPr>
              <a:t>03.</a:t>
            </a:r>
            <a:r>
              <a:rPr kumimoji="0" lang="zh-CN" altLang="en-US" sz="1600" b="0" i="0" u="none" strike="noStrike" kern="1200" cap="none" spc="0" normalizeH="0" baseline="0" noProof="0" dirty="0">
                <a:ln>
                  <a:noFill/>
                </a:ln>
                <a:solidFill>
                  <a:srgbClr val="000000">
                    <a:lumMod val="75000"/>
                    <a:lumOff val="25000"/>
                  </a:srgbClr>
                </a:solidFill>
                <a:effectLst/>
                <a:uLnTx/>
                <a:uFillTx/>
                <a:latin typeface="Arial" panose="020B0604020202020204" pitchFamily="34" charset="0"/>
                <a:ea typeface="思源黑体 CN Bold"/>
                <a:sym typeface="华文细黑" panose="02010600040101010101" charset="-122"/>
              </a:rPr>
              <a:t>芯片设计分类</a:t>
            </a:r>
            <a:endParaRPr kumimoji="0" lang="zh-CN" altLang="en-US" sz="1600" b="0" i="0" u="none" strike="noStrike" kern="1200" cap="none" spc="0" normalizeH="0" baseline="0" noProof="0" dirty="0">
              <a:ln>
                <a:noFill/>
              </a:ln>
              <a:solidFill>
                <a:srgbClr val="000000">
                  <a:lumMod val="75000"/>
                  <a:lumOff val="25000"/>
                </a:srgbClr>
              </a:solidFill>
              <a:effectLst/>
              <a:uLnTx/>
              <a:uFillTx/>
              <a:latin typeface="Arial" panose="020B0604020202020204" pitchFamily="34" charset="0"/>
              <a:ea typeface="思源黑体 CN Bold"/>
              <a:sym typeface="华文细黑" panose="02010600040101010101"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0000">
                    <a:lumMod val="75000"/>
                    <a:lumOff val="25000"/>
                  </a:srgbClr>
                </a:solidFill>
                <a:effectLst/>
                <a:uLnTx/>
                <a:uFillTx/>
                <a:latin typeface="Arial" panose="020B0604020202020204" pitchFamily="34" charset="0"/>
                <a:ea typeface="思源黑体 CN Bold"/>
                <a:sym typeface="华文细黑" panose="02010600040101010101" charset="-122"/>
              </a:rPr>
              <a:t>04.</a:t>
            </a:r>
            <a:r>
              <a:rPr kumimoji="0" lang="zh-CN" altLang="en-US" sz="1600" b="0" i="0" u="none" strike="noStrike" kern="1200" cap="none" spc="0" normalizeH="0" baseline="0" noProof="0" dirty="0">
                <a:ln>
                  <a:noFill/>
                </a:ln>
                <a:solidFill>
                  <a:srgbClr val="000000">
                    <a:lumMod val="75000"/>
                    <a:lumOff val="25000"/>
                  </a:srgbClr>
                </a:solidFill>
                <a:effectLst/>
                <a:uLnTx/>
                <a:uFillTx/>
                <a:latin typeface="Arial" panose="020B0604020202020204" pitchFamily="34" charset="0"/>
                <a:ea typeface="思源黑体 CN Bold"/>
                <a:sym typeface="华文细黑" panose="02010600040101010101" charset="-122"/>
              </a:rPr>
              <a:t>芯片设计公司排名</a:t>
            </a:r>
            <a:endParaRPr kumimoji="0" lang="zh-CN" altLang="en-US" sz="1600" b="0" i="0" u="none" strike="noStrike" kern="1200" cap="none" spc="0" normalizeH="0" baseline="0" noProof="0" dirty="0">
              <a:ln>
                <a:noFill/>
              </a:ln>
              <a:solidFill>
                <a:srgbClr val="000000">
                  <a:lumMod val="75000"/>
                  <a:lumOff val="25000"/>
                </a:srgbClr>
              </a:solidFill>
              <a:effectLst/>
              <a:uLnTx/>
              <a:uFillTx/>
              <a:latin typeface="Arial" panose="020B0604020202020204" pitchFamily="34" charset="0"/>
              <a:ea typeface="思源黑体 CN Bold"/>
              <a:sym typeface="华文细黑" panose="02010600040101010101" charset="-122"/>
            </a:endParaRPr>
          </a:p>
        </p:txBody>
      </p:sp>
      <p:grpSp>
        <p:nvGrpSpPr>
          <p:cNvPr id="14" name="组合 13"/>
          <p:cNvGrpSpPr/>
          <p:nvPr/>
        </p:nvGrpSpPr>
        <p:grpSpPr>
          <a:xfrm rot="16200000">
            <a:off x="1839355" y="611703"/>
            <a:ext cx="1327974" cy="2708280"/>
            <a:chOff x="2051578" y="1847971"/>
            <a:chExt cx="1327974" cy="2708280"/>
          </a:xfrm>
        </p:grpSpPr>
        <p:grpSp>
          <p:nvGrpSpPr>
            <p:cNvPr id="13" name="组合 12"/>
            <p:cNvGrpSpPr/>
            <p:nvPr/>
          </p:nvGrpSpPr>
          <p:grpSpPr>
            <a:xfrm rot="8079904">
              <a:off x="1385043" y="2514506"/>
              <a:ext cx="2661044" cy="1327974"/>
              <a:chOff x="4016091" y="1433566"/>
              <a:chExt cx="2661044" cy="1327974"/>
            </a:xfrm>
          </p:grpSpPr>
          <p:sp>
            <p:nvSpPr>
              <p:cNvPr id="10" name="圆角矩形 44"/>
              <p:cNvSpPr/>
              <p:nvPr/>
            </p:nvSpPr>
            <p:spPr>
              <a:xfrm rot="18900000">
                <a:off x="4016091" y="1433566"/>
                <a:ext cx="2661044" cy="631414"/>
              </a:xfrm>
              <a:prstGeom prst="roundRect">
                <a:avLst>
                  <a:gd name="adj" fmla="val 50000"/>
                </a:avLst>
              </a:prstGeom>
              <a:gradFill>
                <a:gsLst>
                  <a:gs pos="0">
                    <a:srgbClr val="267CA0"/>
                  </a:gs>
                  <a:gs pos="33000">
                    <a:srgbClr val="388BA5">
                      <a:alpha val="90000"/>
                    </a:srgbClr>
                  </a:gs>
                  <a:gs pos="66000">
                    <a:srgbClr val="509FA4">
                      <a:alpha val="90000"/>
                    </a:srgbClr>
                  </a:gs>
                  <a:gs pos="100000">
                    <a:srgbClr val="5BAAA4">
                      <a:alpha val="85000"/>
                    </a:srgbClr>
                  </a:gs>
                </a:gsLst>
                <a:lin ang="0" scaled="1"/>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vert="eaVert"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chemeClr val="tx1">
                      <a:lumMod val="50000"/>
                      <a:lumOff val="50000"/>
                    </a:schemeClr>
                  </a:solidFill>
                  <a:effectLst/>
                  <a:uLnTx/>
                  <a:uFillTx/>
                  <a:latin typeface="华文细黑" panose="02010600040101010101" charset="-122"/>
                  <a:ea typeface="思源黑体 CN Bold"/>
                  <a:sym typeface="华文细黑" panose="02010600040101010101" charset="-122"/>
                </a:endParaRPr>
              </a:p>
            </p:txBody>
          </p:sp>
          <p:sp>
            <p:nvSpPr>
              <p:cNvPr id="11" name="椭圆 10"/>
              <p:cNvSpPr/>
              <p:nvPr/>
            </p:nvSpPr>
            <p:spPr>
              <a:xfrm flipH="1">
                <a:off x="4379994" y="2193434"/>
                <a:ext cx="528842" cy="529105"/>
              </a:xfrm>
              <a:prstGeom prst="ellipse">
                <a:avLst/>
              </a:prstGeom>
              <a:solidFill>
                <a:schemeClr val="bg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vert="eaVert"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chemeClr val="tx1">
                      <a:lumMod val="50000"/>
                      <a:lumOff val="50000"/>
                    </a:schemeClr>
                  </a:solidFill>
                  <a:effectLst/>
                  <a:uLnTx/>
                  <a:uFillTx/>
                  <a:latin typeface="华文细黑" panose="02010600040101010101" charset="-122"/>
                  <a:ea typeface="思源黑体 CN Bold"/>
                  <a:sym typeface="华文细黑" panose="02010600040101010101" charset="-122"/>
                </a:endParaRPr>
              </a:p>
            </p:txBody>
          </p:sp>
          <p:sp>
            <p:nvSpPr>
              <p:cNvPr id="12" name="矩形 11"/>
              <p:cNvSpPr/>
              <p:nvPr/>
            </p:nvSpPr>
            <p:spPr>
              <a:xfrm rot="13520096">
                <a:off x="4346636" y="2310372"/>
                <a:ext cx="613410" cy="288925"/>
              </a:xfrm>
              <a:prstGeom prst="rect">
                <a:avLst/>
              </a:prstGeom>
              <a:noFill/>
            </p:spPr>
            <p:txBody>
              <a:bodyPr vert="eaVert"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dirty="0">
                    <a:ln>
                      <a:noFill/>
                    </a:ln>
                    <a:solidFill>
                      <a:schemeClr val="tx1">
                        <a:lumMod val="50000"/>
                        <a:lumOff val="50000"/>
                      </a:schemeClr>
                    </a:solidFill>
                    <a:effectLst/>
                    <a:uLnTx/>
                    <a:uFillTx/>
                    <a:latin typeface="Arial" panose="020B0604020202020204" pitchFamily="34" charset="0"/>
                    <a:ea typeface="思源黑体 CN Bold"/>
                    <a:cs typeface="Arial" panose="020B0604020202020204" pitchFamily="34" charset="0"/>
                    <a:sym typeface="华文细黑" panose="02010600040101010101" charset="-122"/>
                  </a:rPr>
                  <a:t>1</a:t>
                </a:r>
                <a:endParaRPr kumimoji="0" lang="en-US" altLang="zh-CN" sz="2800" b="0" i="0" u="none" strike="noStrike" kern="0" cap="none" spc="0" normalizeH="0" baseline="0" noProof="0" dirty="0">
                  <a:ln>
                    <a:noFill/>
                  </a:ln>
                  <a:solidFill>
                    <a:schemeClr val="tx1">
                      <a:lumMod val="50000"/>
                      <a:lumOff val="50000"/>
                    </a:schemeClr>
                  </a:solidFill>
                  <a:effectLst/>
                  <a:uLnTx/>
                  <a:uFillTx/>
                  <a:latin typeface="Arial" panose="020B0604020202020204" pitchFamily="34" charset="0"/>
                  <a:ea typeface="思源黑体 CN Bold"/>
                  <a:cs typeface="Arial" panose="020B0604020202020204" pitchFamily="34" charset="0"/>
                  <a:sym typeface="华文细黑" panose="02010600040101010101" charset="-122"/>
                </a:endParaRPr>
              </a:p>
            </p:txBody>
          </p:sp>
        </p:grpSp>
        <p:sp>
          <p:nvSpPr>
            <p:cNvPr id="4" name="文本框 4"/>
            <p:cNvSpPr txBox="1"/>
            <p:nvPr/>
          </p:nvSpPr>
          <p:spPr>
            <a:xfrm>
              <a:off x="2694874" y="2815853"/>
              <a:ext cx="490220" cy="1740398"/>
            </a:xfrm>
            <a:prstGeom prst="rect">
              <a:avLst/>
            </a:prstGeom>
            <a:noFill/>
          </p:spPr>
          <p:txBody>
            <a:bodyPr vert="eaVert"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FFFF"/>
                  </a:solidFill>
                  <a:effectLst/>
                  <a:uLnTx/>
                  <a:uFillTx/>
                  <a:latin typeface="Arial" panose="020B0604020202020204" pitchFamily="34" charset="0"/>
                  <a:ea typeface="思源黑体 CN Bold"/>
                  <a:sym typeface="华文细黑" panose="02010600040101010101" charset="-122"/>
                </a:rPr>
                <a:t>BUSINESS</a:t>
              </a:r>
              <a:endParaRPr kumimoji="0" lang="en-US" altLang="zh-CN" sz="2000" b="1" i="0" u="none" strike="noStrike" kern="1200" cap="none" spc="0" normalizeH="0" baseline="0" noProof="0" dirty="0">
                <a:ln>
                  <a:noFill/>
                </a:ln>
                <a:solidFill>
                  <a:srgbClr val="FFFFFF"/>
                </a:solidFill>
                <a:effectLst/>
                <a:uLnTx/>
                <a:uFillTx/>
                <a:latin typeface="Arial" panose="020B0604020202020204" pitchFamily="34" charset="0"/>
                <a:ea typeface="思源黑体 CN Bold"/>
                <a:sym typeface="华文细黑" panose="02010600040101010101" charset="-122"/>
              </a:endParaRPr>
            </a:p>
          </p:txBody>
        </p:sp>
      </p:grpSp>
      <p:pic>
        <p:nvPicPr>
          <p:cNvPr id="3" name="图片 2"/>
          <p:cNvPicPr>
            <a:picLocks noChangeAspect="1"/>
          </p:cNvPicPr>
          <p:nvPr/>
        </p:nvPicPr>
        <p:blipFill>
          <a:blip r:embed="rId2"/>
          <a:stretch>
            <a:fillRect/>
          </a:stretch>
        </p:blipFill>
        <p:spPr>
          <a:xfrm>
            <a:off x="10502265" y="5371465"/>
            <a:ext cx="1668780" cy="14859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5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p:tgtEl>
                                          <p:spTgt spid="14"/>
                                        </p:tgtEl>
                                        <p:attrNameLst>
                                          <p:attrName>ppt_x</p:attrName>
                                        </p:attrNameLst>
                                      </p:cBhvr>
                                      <p:tavLst>
                                        <p:tav tm="0">
                                          <p:val>
                                            <p:strVal val="#ppt_x-#ppt_w*1.125000"/>
                                          </p:val>
                                        </p:tav>
                                        <p:tav tm="100000">
                                          <p:val>
                                            <p:strVal val="#ppt_x"/>
                                          </p:val>
                                        </p:tav>
                                      </p:tavLst>
                                    </p:anim>
                                    <p:animEffect transition="in" filter="wipe(right)">
                                      <p:cBhvr>
                                        <p:cTn id="8" dur="500"/>
                                        <p:tgtEl>
                                          <p:spTgt spid="14"/>
                                        </p:tgtEl>
                                      </p:cBhvr>
                                    </p:animEffect>
                                  </p:childTnLst>
                                </p:cTn>
                              </p:par>
                            </p:childTnLst>
                          </p:cTn>
                        </p:par>
                        <p:par>
                          <p:cTn id="9" fill="hold">
                            <p:stCondLst>
                              <p:cond delay="500"/>
                            </p:stCondLst>
                            <p:childTnLst>
                              <p:par>
                                <p:cTn id="10" presetID="52" presetClass="entr" presetSubtype="0"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Scale>
                                      <p:cBhvr>
                                        <p:cTn id="12"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6"/>
                                        </p:tgtEl>
                                        <p:attrNameLst>
                                          <p:attrName>ppt_x</p:attrName>
                                          <p:attrName>ppt_y</p:attrName>
                                        </p:attrNameLst>
                                      </p:cBhvr>
                                    </p:animMotion>
                                    <p:animEffect transition="in" filter="fade">
                                      <p:cBhvr>
                                        <p:cTn id="14" dur="1000"/>
                                        <p:tgtEl>
                                          <p:spTgt spid="6"/>
                                        </p:tgtEl>
                                      </p:cBhvr>
                                    </p:animEffect>
                                  </p:childTnLst>
                                </p:cTn>
                              </p:par>
                            </p:childTnLst>
                          </p:cTn>
                        </p:par>
                        <p:par>
                          <p:cTn id="15" fill="hold">
                            <p:stCondLst>
                              <p:cond delay="1500"/>
                            </p:stCondLst>
                            <p:childTnLst>
                              <p:par>
                                <p:cTn id="16" presetID="37"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anim calcmode="lin" valueType="num">
                                      <p:cBhvr>
                                        <p:cTn id="19" dur="1000" fill="hold"/>
                                        <p:tgtEl>
                                          <p:spTgt spid="7"/>
                                        </p:tgtEl>
                                        <p:attrNameLst>
                                          <p:attrName>ppt_x</p:attrName>
                                        </p:attrNameLst>
                                      </p:cBhvr>
                                      <p:tavLst>
                                        <p:tav tm="0">
                                          <p:val>
                                            <p:strVal val="#ppt_x"/>
                                          </p:val>
                                        </p:tav>
                                        <p:tav tm="100000">
                                          <p:val>
                                            <p:strVal val="#ppt_x"/>
                                          </p:val>
                                        </p:tav>
                                      </p:tavLst>
                                    </p:anim>
                                    <p:anim calcmode="lin" valueType="num">
                                      <p:cBhvr>
                                        <p:cTn id="20" dur="900" decel="100000" fill="hold"/>
                                        <p:tgtEl>
                                          <p:spTgt spid="7"/>
                                        </p:tgtEl>
                                        <p:attrNameLst>
                                          <p:attrName>ppt_y</p:attrName>
                                        </p:attrNameLst>
                                      </p:cBhvr>
                                      <p:tavLst>
                                        <p:tav tm="0">
                                          <p:val>
                                            <p:strVal val="#ppt_y+1"/>
                                          </p:val>
                                        </p:tav>
                                        <p:tav tm="100000">
                                          <p:val>
                                            <p:strVal val="#ppt_y-.03"/>
                                          </p:val>
                                        </p:tav>
                                      </p:tavLst>
                                    </p:anim>
                                    <p:anim calcmode="lin" valueType="num">
                                      <p:cBhvr>
                                        <p:cTn id="21"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形状 30"/>
          <p:cNvSpPr/>
          <p:nvPr/>
        </p:nvSpPr>
        <p:spPr>
          <a:xfrm>
            <a:off x="89535" y="121920"/>
            <a:ext cx="7649210" cy="462915"/>
          </a:xfrm>
          <a:custGeom>
            <a:avLst/>
            <a:gdLst>
              <a:gd name="connsiteX0" fmla="*/ 124918 w 1413447"/>
              <a:gd name="connsiteY0" fmla="*/ 0 h 535213"/>
              <a:gd name="connsiteX1" fmla="*/ 1413447 w 1413447"/>
              <a:gd name="connsiteY1" fmla="*/ 0 h 535213"/>
              <a:gd name="connsiteX2" fmla="*/ 1293066 w 1413447"/>
              <a:gd name="connsiteY2" fmla="*/ 515770 h 535213"/>
              <a:gd name="connsiteX3" fmla="*/ 1296954 w 1413447"/>
              <a:gd name="connsiteY3" fmla="*/ 499111 h 535213"/>
              <a:gd name="connsiteX4" fmla="*/ 1284655 w 1413447"/>
              <a:gd name="connsiteY4" fmla="*/ 517355 h 535213"/>
              <a:gd name="connsiteX5" fmla="*/ 1263549 w 1413447"/>
              <a:gd name="connsiteY5" fmla="*/ 531584 h 535213"/>
              <a:gd name="connsiteX6" fmla="*/ 1245575 w 1413447"/>
              <a:gd name="connsiteY6" fmla="*/ 535213 h 535213"/>
              <a:gd name="connsiteX7" fmla="*/ 74294 w 1413447"/>
              <a:gd name="connsiteY7" fmla="*/ 535213 h 535213"/>
              <a:gd name="connsiteX8" fmla="*/ 56319 w 1413447"/>
              <a:gd name="connsiteY8" fmla="*/ 531584 h 535213"/>
              <a:gd name="connsiteX9" fmla="*/ 15766 w 1413447"/>
              <a:gd name="connsiteY9" fmla="*/ 470404 h 535213"/>
              <a:gd name="connsiteX10" fmla="*/ 19864 w 1413447"/>
              <a:gd name="connsiteY10" fmla="*/ 450109 h 535213"/>
              <a:gd name="connsiteX11" fmla="*/ 0 w 1413447"/>
              <a:gd name="connsiteY11" fmla="*/ 535213 h 53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3447" h="535213">
                <a:moveTo>
                  <a:pt x="124918" y="0"/>
                </a:moveTo>
                <a:lnTo>
                  <a:pt x="1413447" y="0"/>
                </a:lnTo>
                <a:lnTo>
                  <a:pt x="1293066" y="515770"/>
                </a:lnTo>
                <a:lnTo>
                  <a:pt x="1296954" y="499111"/>
                </a:lnTo>
                <a:lnTo>
                  <a:pt x="1284655" y="517355"/>
                </a:lnTo>
                <a:cubicBezTo>
                  <a:pt x="1278647" y="523362"/>
                  <a:pt x="1271493" y="528224"/>
                  <a:pt x="1263549" y="531584"/>
                </a:cubicBezTo>
                <a:lnTo>
                  <a:pt x="1245575" y="535213"/>
                </a:lnTo>
                <a:lnTo>
                  <a:pt x="74294" y="535213"/>
                </a:lnTo>
                <a:lnTo>
                  <a:pt x="56319" y="531584"/>
                </a:lnTo>
                <a:cubicBezTo>
                  <a:pt x="32488" y="521505"/>
                  <a:pt x="15766" y="497907"/>
                  <a:pt x="15766" y="470404"/>
                </a:cubicBezTo>
                <a:lnTo>
                  <a:pt x="19864" y="450109"/>
                </a:lnTo>
                <a:lnTo>
                  <a:pt x="0" y="535213"/>
                </a:lnTo>
                <a:close/>
              </a:path>
            </a:pathLst>
          </a:custGeom>
          <a:solidFill>
            <a:srgbClr val="267CA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nSpc>
                <a:spcPct val="120000"/>
              </a:lnSpc>
            </a:pPr>
            <a:r>
              <a:rPr lang="en-US" altLang="zh-CN" sz="4000"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t>一、半导体发展史</a:t>
            </a:r>
            <a:endParaRPr lang="en-US" altLang="zh-CN" sz="4000" spc="150">
              <a:solidFill>
                <a:schemeClr val="dk1"/>
              </a:solidFill>
              <a:latin typeface="Arial" panose="020B0604020202020204" pitchFamily="34" charset="0"/>
              <a:ea typeface="微软雅黑" panose="020B0503020204020204" charset="-122"/>
              <a:cs typeface="微软雅黑" panose="020B0503020204020204" charset="-122"/>
              <a:sym typeface="华文细黑" panose="02010600040101010101" charset="-122"/>
            </a:endParaRPr>
          </a:p>
        </p:txBody>
      </p:sp>
      <p:pic>
        <p:nvPicPr>
          <p:cNvPr id="2" name="图片 1"/>
          <p:cNvPicPr>
            <a:picLocks noChangeAspect="1"/>
          </p:cNvPicPr>
          <p:nvPr/>
        </p:nvPicPr>
        <p:blipFill>
          <a:blip r:embed="rId1"/>
          <a:stretch>
            <a:fillRect/>
          </a:stretch>
        </p:blipFill>
        <p:spPr>
          <a:xfrm>
            <a:off x="10523220" y="48895"/>
            <a:ext cx="1668780" cy="1485900"/>
          </a:xfrm>
          <a:prstGeom prst="rect">
            <a:avLst/>
          </a:prstGeom>
        </p:spPr>
      </p:pic>
      <p:pic>
        <p:nvPicPr>
          <p:cNvPr id="5" name="图片 4"/>
          <p:cNvPicPr>
            <a:picLocks noChangeAspect="1"/>
          </p:cNvPicPr>
          <p:nvPr/>
        </p:nvPicPr>
        <p:blipFill>
          <a:blip r:embed="rId2"/>
          <a:stretch>
            <a:fillRect/>
          </a:stretch>
        </p:blipFill>
        <p:spPr>
          <a:xfrm>
            <a:off x="285750" y="1106170"/>
            <a:ext cx="10617835" cy="3336925"/>
          </a:xfrm>
          <a:prstGeom prst="rect">
            <a:avLst/>
          </a:prstGeom>
        </p:spPr>
      </p:pic>
      <p:grpSp>
        <p:nvGrpSpPr>
          <p:cNvPr id="10" name="组合 9"/>
          <p:cNvGrpSpPr/>
          <p:nvPr/>
        </p:nvGrpSpPr>
        <p:grpSpPr>
          <a:xfrm>
            <a:off x="455436" y="4784087"/>
            <a:ext cx="9653308" cy="1527313"/>
            <a:chOff x="1268236" y="2023107"/>
            <a:chExt cx="9653308" cy="1527313"/>
          </a:xfrm>
        </p:grpSpPr>
        <p:sp>
          <p:nvSpPr>
            <p:cNvPr id="36" name="文本框 35"/>
            <p:cNvSpPr txBox="1"/>
            <p:nvPr/>
          </p:nvSpPr>
          <p:spPr>
            <a:xfrm>
              <a:off x="1268236" y="2359795"/>
              <a:ext cx="9653308" cy="1190625"/>
            </a:xfrm>
            <a:prstGeom prst="rect">
              <a:avLst/>
            </a:prstGeom>
            <a:noFill/>
          </p:spPr>
          <p:txBody>
            <a:bodyPr wrap="square" rtlCol="0">
              <a:spAutoFit/>
            </a:bodyPr>
            <a:p>
              <a:pPr>
                <a:lnSpc>
                  <a:spcPct val="130000"/>
                </a:lnSpc>
              </a:pPr>
              <a:r>
                <a:rPr sz="1100" spc="130" dirty="0">
                  <a:solidFill>
                    <a:schemeClr val="tx1"/>
                  </a:solidFill>
                  <a:latin typeface="华文细黑" panose="02010600040101010101" charset="-122"/>
                  <a:ea typeface="思源黑体 CN Bold"/>
                  <a:sym typeface="华文细黑" panose="02010600040101010101" charset="-122"/>
                </a:rPr>
                <a:t>电路制造在半导体芯片表面上的集成电路又称薄膜（thin-film）集成电路。另有一种厚膜（thick-film）集成电路（hybrid integrated circuit）是由独立半导体设备和被动组件，集成到衬底或线路板所构成的小型化电路。</a:t>
              </a:r>
              <a:endParaRPr sz="1100" spc="130" dirty="0">
                <a:solidFill>
                  <a:schemeClr val="tx1"/>
                </a:solidFill>
                <a:latin typeface="华文细黑" panose="02010600040101010101" charset="-122"/>
                <a:ea typeface="思源黑体 CN Bold"/>
                <a:sym typeface="华文细黑" panose="02010600040101010101" charset="-122"/>
              </a:endParaRPr>
            </a:p>
            <a:p>
              <a:pPr>
                <a:lnSpc>
                  <a:spcPct val="130000"/>
                </a:lnSpc>
              </a:pPr>
              <a:r>
                <a:rPr sz="1100" spc="130" dirty="0">
                  <a:solidFill>
                    <a:schemeClr val="tx1"/>
                  </a:solidFill>
                  <a:latin typeface="华文细黑" panose="02010600040101010101" charset="-122"/>
                  <a:ea typeface="思源黑体 CN Bold"/>
                  <a:sym typeface="华文细黑" panose="02010600040101010101" charset="-122"/>
                </a:rPr>
                <a:t>从1949年到1957年，维尔纳·雅各比（Werner Jacobi）、杰弗里·杜默（Jeffrey Dummer）、西德尼·达林顿（Sidney Darlington）、樽井康夫（Yasuo Tarui）都开发了原型，但现代集成电路是由杰克·基尔比在1958年发明的。其因此荣获2000年诺贝尔物理奖，但同时间也发展出近代实用的集成电路的罗伯特·诺伊斯，却早于1990年就过世</a:t>
              </a:r>
              <a:endParaRPr sz="1100" spc="130" dirty="0">
                <a:solidFill>
                  <a:schemeClr val="tx1"/>
                </a:solidFill>
                <a:latin typeface="华文细黑" panose="02010600040101010101" charset="-122"/>
                <a:ea typeface="思源黑体 CN Bold"/>
                <a:sym typeface="华文细黑" panose="02010600040101010101" charset="-122"/>
              </a:endParaRPr>
            </a:p>
          </p:txBody>
        </p:sp>
        <p:sp>
          <p:nvSpPr>
            <p:cNvPr id="37" name="文本框 36"/>
            <p:cNvSpPr txBox="1"/>
            <p:nvPr/>
          </p:nvSpPr>
          <p:spPr>
            <a:xfrm>
              <a:off x="1275221" y="2023107"/>
              <a:ext cx="3665220" cy="368300"/>
            </a:xfrm>
            <a:prstGeom prst="rect">
              <a:avLst/>
            </a:prstGeom>
            <a:noFill/>
          </p:spPr>
          <p:txBody>
            <a:bodyPr wrap="square" rtlCol="0">
              <a:spAutoFit/>
            </a:bodyPr>
            <a:p>
              <a:r>
                <a:rPr lang="zh-CN" altLang="en-US" b="1" spc="150" dirty="0">
                  <a:solidFill>
                    <a:schemeClr val="bg1"/>
                  </a:solidFill>
                  <a:latin typeface="华文细黑" panose="02010600040101010101" charset="-122"/>
                  <a:ea typeface="思源黑体 CN Bold"/>
                  <a:sym typeface="华文细黑" panose="02010600040101010101" charset="-122"/>
                </a:rPr>
                <a:t>定义：芯片</a:t>
              </a:r>
              <a:r>
                <a:rPr lang="en-US" altLang="zh-CN" b="1" spc="150" dirty="0">
                  <a:solidFill>
                    <a:schemeClr val="bg1"/>
                  </a:solidFill>
                  <a:latin typeface="华文细黑" panose="02010600040101010101" charset="-122"/>
                  <a:ea typeface="思源黑体 CN Bold"/>
                  <a:sym typeface="华文细黑" panose="02010600040101010101" charset="-122"/>
                </a:rPr>
                <a:t>/</a:t>
              </a:r>
              <a:r>
                <a:rPr lang="zh-CN" altLang="en-US" b="1" spc="150" dirty="0">
                  <a:solidFill>
                    <a:schemeClr val="bg1"/>
                  </a:solidFill>
                  <a:latin typeface="华文细黑" panose="02010600040101010101" charset="-122"/>
                  <a:ea typeface="思源黑体 CN Bold"/>
                  <a:sym typeface="华文细黑" panose="02010600040101010101" charset="-122"/>
                </a:rPr>
                <a:t>集成电路</a:t>
              </a:r>
              <a:r>
                <a:rPr lang="en-US" altLang="zh-CN" b="1" spc="150" dirty="0">
                  <a:solidFill>
                    <a:schemeClr val="bg1"/>
                  </a:solidFill>
                  <a:latin typeface="华文细黑" panose="02010600040101010101" charset="-122"/>
                  <a:ea typeface="思源黑体 CN Bold"/>
                  <a:sym typeface="华文细黑" panose="02010600040101010101" charset="-122"/>
                </a:rPr>
                <a:t>/</a:t>
              </a:r>
              <a:r>
                <a:rPr lang="zh-CN" altLang="en-US" b="1" spc="150" dirty="0">
                  <a:solidFill>
                    <a:schemeClr val="bg1"/>
                  </a:solidFill>
                  <a:latin typeface="华文细黑" panose="02010600040101010101" charset="-122"/>
                  <a:ea typeface="思源黑体 CN Bold"/>
                  <a:sym typeface="华文细黑" panose="02010600040101010101" charset="-122"/>
                </a:rPr>
                <a:t>半导体</a:t>
              </a:r>
              <a:endParaRPr lang="zh-CN" altLang="en-US" b="1" spc="150" dirty="0">
                <a:solidFill>
                  <a:schemeClr val="bg1"/>
                </a:solidFill>
                <a:latin typeface="华文细黑" panose="02010600040101010101" charset="-122"/>
                <a:ea typeface="思源黑体 CN Bold"/>
                <a:sym typeface="华文细黑" panose="02010600040101010101" charset="-122"/>
              </a:endParaRPr>
            </a:p>
          </p:txBody>
        </p:sp>
      </p:grpSp>
    </p:spTree>
  </p:cSld>
  <p:clrMapOvr>
    <a:masterClrMapping/>
  </p:clrMapOvr>
  <p:transition spd="slow" advTm="300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形状 30"/>
          <p:cNvSpPr/>
          <p:nvPr/>
        </p:nvSpPr>
        <p:spPr>
          <a:xfrm>
            <a:off x="89535" y="121920"/>
            <a:ext cx="8163560" cy="784860"/>
          </a:xfrm>
          <a:custGeom>
            <a:avLst/>
            <a:gdLst>
              <a:gd name="connsiteX0" fmla="*/ 124918 w 1413447"/>
              <a:gd name="connsiteY0" fmla="*/ 0 h 535213"/>
              <a:gd name="connsiteX1" fmla="*/ 1413447 w 1413447"/>
              <a:gd name="connsiteY1" fmla="*/ 0 h 535213"/>
              <a:gd name="connsiteX2" fmla="*/ 1293066 w 1413447"/>
              <a:gd name="connsiteY2" fmla="*/ 515770 h 535213"/>
              <a:gd name="connsiteX3" fmla="*/ 1296954 w 1413447"/>
              <a:gd name="connsiteY3" fmla="*/ 499111 h 535213"/>
              <a:gd name="connsiteX4" fmla="*/ 1284655 w 1413447"/>
              <a:gd name="connsiteY4" fmla="*/ 517355 h 535213"/>
              <a:gd name="connsiteX5" fmla="*/ 1263549 w 1413447"/>
              <a:gd name="connsiteY5" fmla="*/ 531584 h 535213"/>
              <a:gd name="connsiteX6" fmla="*/ 1245575 w 1413447"/>
              <a:gd name="connsiteY6" fmla="*/ 535213 h 535213"/>
              <a:gd name="connsiteX7" fmla="*/ 74294 w 1413447"/>
              <a:gd name="connsiteY7" fmla="*/ 535213 h 535213"/>
              <a:gd name="connsiteX8" fmla="*/ 56319 w 1413447"/>
              <a:gd name="connsiteY8" fmla="*/ 531584 h 535213"/>
              <a:gd name="connsiteX9" fmla="*/ 15766 w 1413447"/>
              <a:gd name="connsiteY9" fmla="*/ 470404 h 535213"/>
              <a:gd name="connsiteX10" fmla="*/ 19864 w 1413447"/>
              <a:gd name="connsiteY10" fmla="*/ 450109 h 535213"/>
              <a:gd name="connsiteX11" fmla="*/ 0 w 1413447"/>
              <a:gd name="connsiteY11" fmla="*/ 535213 h 53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3447" h="535213">
                <a:moveTo>
                  <a:pt x="124918" y="0"/>
                </a:moveTo>
                <a:lnTo>
                  <a:pt x="1413447" y="0"/>
                </a:lnTo>
                <a:lnTo>
                  <a:pt x="1293066" y="515770"/>
                </a:lnTo>
                <a:lnTo>
                  <a:pt x="1296954" y="499111"/>
                </a:lnTo>
                <a:lnTo>
                  <a:pt x="1284655" y="517355"/>
                </a:lnTo>
                <a:cubicBezTo>
                  <a:pt x="1278647" y="523362"/>
                  <a:pt x="1271493" y="528224"/>
                  <a:pt x="1263549" y="531584"/>
                </a:cubicBezTo>
                <a:lnTo>
                  <a:pt x="1245575" y="535213"/>
                </a:lnTo>
                <a:lnTo>
                  <a:pt x="74294" y="535213"/>
                </a:lnTo>
                <a:lnTo>
                  <a:pt x="56319" y="531584"/>
                </a:lnTo>
                <a:cubicBezTo>
                  <a:pt x="32488" y="521505"/>
                  <a:pt x="15766" y="497907"/>
                  <a:pt x="15766" y="470404"/>
                </a:cubicBezTo>
                <a:lnTo>
                  <a:pt x="19864" y="450109"/>
                </a:lnTo>
                <a:lnTo>
                  <a:pt x="0" y="535213"/>
                </a:lnTo>
                <a:close/>
              </a:path>
            </a:pathLst>
          </a:custGeom>
          <a:solidFill>
            <a:srgbClr val="267CA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nSpc>
                <a:spcPct val="120000"/>
              </a:lnSpc>
            </a:pPr>
            <a:r>
              <a:rPr lang="en-US" altLang="zh-CN" sz="4000"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t>八叛逆———仙童半导体公司</a:t>
            </a:r>
            <a:endParaRPr lang="zh-CN" altLang="en-US" sz="1600"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pic>
        <p:nvPicPr>
          <p:cNvPr id="2" name="图片 1"/>
          <p:cNvPicPr>
            <a:picLocks noChangeAspect="1"/>
          </p:cNvPicPr>
          <p:nvPr/>
        </p:nvPicPr>
        <p:blipFill>
          <a:blip r:embed="rId1"/>
          <a:stretch>
            <a:fillRect/>
          </a:stretch>
        </p:blipFill>
        <p:spPr>
          <a:xfrm>
            <a:off x="10523220" y="48895"/>
            <a:ext cx="1668780" cy="1485900"/>
          </a:xfrm>
          <a:prstGeom prst="rect">
            <a:avLst/>
          </a:prstGeom>
        </p:spPr>
      </p:pic>
      <p:pic>
        <p:nvPicPr>
          <p:cNvPr id="5" name="图片 4"/>
          <p:cNvPicPr>
            <a:picLocks noChangeAspect="1"/>
          </p:cNvPicPr>
          <p:nvPr/>
        </p:nvPicPr>
        <p:blipFill>
          <a:blip r:embed="rId2"/>
          <a:stretch>
            <a:fillRect/>
          </a:stretch>
        </p:blipFill>
        <p:spPr>
          <a:xfrm>
            <a:off x="627380" y="1406525"/>
            <a:ext cx="5019675" cy="2609850"/>
          </a:xfrm>
          <a:prstGeom prst="rect">
            <a:avLst/>
          </a:prstGeom>
        </p:spPr>
      </p:pic>
      <p:sp>
        <p:nvSpPr>
          <p:cNvPr id="6" name="文本框 5"/>
          <p:cNvSpPr txBox="1"/>
          <p:nvPr/>
        </p:nvSpPr>
        <p:spPr>
          <a:xfrm>
            <a:off x="436245" y="4426585"/>
            <a:ext cx="5210175" cy="1198880"/>
          </a:xfrm>
          <a:prstGeom prst="rect">
            <a:avLst/>
          </a:prstGeom>
          <a:noFill/>
        </p:spPr>
        <p:txBody>
          <a:bodyPr wrap="square" rtlCol="0" anchor="t">
            <a:spAutoFit/>
          </a:bodyPr>
          <a:p>
            <a:r>
              <a:rPr lang="zh-CN" altLang="en-US"/>
              <a:t>诺依斯（N. Noyce）、摩尔（R.Moore）、布兰克（J.Blank）、克莱尔（E.Kliner）、赫尔尼</a:t>
            </a:r>
            <a:endParaRPr lang="zh-CN" altLang="en-US"/>
          </a:p>
          <a:p>
            <a:r>
              <a:rPr lang="zh-CN" altLang="en-US"/>
              <a:t>（J.Hoerni）、拉斯特（J.Last）、罗伯茨（S.Boberts）和格里尼克（V.Grinich）</a:t>
            </a:r>
            <a:endParaRPr lang="zh-CN" altLang="en-US"/>
          </a:p>
        </p:txBody>
      </p:sp>
      <p:sp>
        <p:nvSpPr>
          <p:cNvPr id="7" name="文本框 6"/>
          <p:cNvSpPr txBox="1"/>
          <p:nvPr/>
        </p:nvSpPr>
        <p:spPr>
          <a:xfrm>
            <a:off x="6036945" y="1656080"/>
            <a:ext cx="5474970" cy="1198880"/>
          </a:xfrm>
          <a:prstGeom prst="rect">
            <a:avLst/>
          </a:prstGeom>
          <a:noFill/>
        </p:spPr>
        <p:txBody>
          <a:bodyPr wrap="square" rtlCol="0" anchor="t">
            <a:spAutoFit/>
          </a:bodyPr>
          <a:p>
            <a:r>
              <a:rPr lang="zh-CN" altLang="en-US"/>
              <a:t>1958年德州仪器公司的基尔比发明了半导体固态电路，1959年2月申请了专利。</a:t>
            </a:r>
            <a:endParaRPr lang="zh-CN" altLang="en-US"/>
          </a:p>
          <a:p>
            <a:r>
              <a:rPr lang="zh-CN" altLang="en-US"/>
              <a:t>1958年年底仙童半导体公司的诺伊斯发明了硅集成电路1959年7月才申请专利。</a:t>
            </a:r>
            <a:endParaRPr lang="zh-CN" altLang="en-US"/>
          </a:p>
        </p:txBody>
      </p:sp>
      <p:sp>
        <p:nvSpPr>
          <p:cNvPr id="8" name="文本框 7"/>
          <p:cNvSpPr txBox="1"/>
          <p:nvPr/>
        </p:nvSpPr>
        <p:spPr>
          <a:xfrm>
            <a:off x="628015" y="5896610"/>
            <a:ext cx="9895205" cy="368300"/>
          </a:xfrm>
          <a:prstGeom prst="rect">
            <a:avLst/>
          </a:prstGeom>
          <a:solidFill>
            <a:srgbClr val="00B0F0"/>
          </a:solidFill>
        </p:spPr>
        <p:style>
          <a:lnRef idx="2">
            <a:schemeClr val="accent1"/>
          </a:lnRef>
          <a:fillRef idx="1">
            <a:schemeClr val="lt1"/>
          </a:fillRef>
          <a:effectRef idx="0">
            <a:schemeClr val="accent1"/>
          </a:effectRef>
          <a:fontRef idx="minor">
            <a:schemeClr val="dk1"/>
          </a:fontRef>
        </p:style>
        <p:txBody>
          <a:bodyPr wrap="square" rtlCol="0" anchor="t">
            <a:spAutoFit/>
            <a:scene3d>
              <a:camera prst="orthographicFront"/>
              <a:lightRig rig="threePt" dir="t"/>
            </a:scene3d>
          </a:bodyPr>
          <a:p>
            <a:r>
              <a:rPr lang="zh-CN" altLang="en-US">
                <a:ln/>
                <a:solidFill>
                  <a:schemeClr val="tx1"/>
                </a:solidFill>
                <a:effectLst>
                  <a:outerShdw blurRad="38100" dist="25400" dir="5400000" algn="ctr" rotWithShape="0">
                    <a:srgbClr val="6E747A">
                      <a:alpha val="43000"/>
                    </a:srgbClr>
                  </a:outerShdw>
                </a:effectLst>
              </a:rPr>
              <a:t>诺伊斯最终成为集成电路之父、硅谷之父、仙童半导体联合创始人和英特尔创始人。</a:t>
            </a:r>
            <a:r>
              <a:rPr lang="zh-CN" altLang="en-US">
                <a:ln/>
                <a:solidFill>
                  <a:schemeClr val="accent1"/>
                </a:solidFill>
                <a:effectLst>
                  <a:outerShdw blurRad="38100" dist="25400" dir="5400000" algn="ctr" rotWithShape="0">
                    <a:srgbClr val="6E747A">
                      <a:alpha val="43000"/>
                    </a:srgbClr>
                  </a:outerShdw>
                </a:effectLst>
              </a:rPr>
              <a:t> </a:t>
            </a:r>
            <a:endParaRPr lang="zh-CN" altLang="en-US">
              <a:ln/>
              <a:solidFill>
                <a:schemeClr val="accent1"/>
              </a:solidFill>
              <a:effectLst>
                <a:outerShdw blurRad="38100" dist="25400" dir="5400000" algn="ctr" rotWithShape="0">
                  <a:srgbClr val="6E747A">
                    <a:alpha val="43000"/>
                  </a:srgbClr>
                </a:outerShdw>
              </a:effectLst>
            </a:endParaRPr>
          </a:p>
        </p:txBody>
      </p:sp>
      <p:sp>
        <p:nvSpPr>
          <p:cNvPr id="9" name="文本框 8"/>
          <p:cNvSpPr txBox="1"/>
          <p:nvPr/>
        </p:nvSpPr>
        <p:spPr>
          <a:xfrm>
            <a:off x="6148705" y="4234180"/>
            <a:ext cx="4937125" cy="1198880"/>
          </a:xfrm>
          <a:prstGeom prst="rect">
            <a:avLst/>
          </a:prstGeom>
          <a:noFill/>
        </p:spPr>
        <p:txBody>
          <a:bodyPr wrap="square" rtlCol="0" anchor="t">
            <a:spAutoFit/>
          </a:bodyPr>
          <a:p>
            <a:r>
              <a:rPr lang="zh-CN" altLang="en-US"/>
              <a:t>历史证明，诺伊斯契合了集成电路的正确发展方向，基尔比的</a:t>
            </a:r>
            <a:endParaRPr lang="zh-CN" altLang="en-US"/>
          </a:p>
          <a:p>
            <a:r>
              <a:rPr lang="zh-CN" altLang="en-US"/>
              <a:t>锗集成电路里面只有一个晶体管，更谈不上有连接技术。</a:t>
            </a:r>
            <a:endParaRPr lang="zh-CN" altLang="en-US"/>
          </a:p>
        </p:txBody>
      </p:sp>
      <p:sp>
        <p:nvSpPr>
          <p:cNvPr id="10" name="文本框 9"/>
          <p:cNvSpPr txBox="1"/>
          <p:nvPr/>
        </p:nvSpPr>
        <p:spPr>
          <a:xfrm>
            <a:off x="6036945" y="3083560"/>
            <a:ext cx="5048885" cy="922020"/>
          </a:xfrm>
          <a:prstGeom prst="rect">
            <a:avLst/>
          </a:prstGeom>
          <a:noFill/>
        </p:spPr>
        <p:txBody>
          <a:bodyPr wrap="square" rtlCol="0" anchor="t">
            <a:spAutoFit/>
          </a:bodyPr>
          <a:p>
            <a:r>
              <a:rPr lang="zh-CN" altLang="en-US"/>
              <a:t>因为两人的专利相差了半年法院判定：集成电路发明专利属于基尔比，集成电路内部连接技术专利属于诺伊斯</a:t>
            </a:r>
            <a:endParaRPr lang="zh-CN" altLang="en-US"/>
          </a:p>
        </p:txBody>
      </p:sp>
      <p:grpSp>
        <p:nvGrpSpPr>
          <p:cNvPr id="78" name="组合 77"/>
          <p:cNvGrpSpPr/>
          <p:nvPr>
            <p:custDataLst>
              <p:tags r:id="rId3"/>
            </p:custDataLst>
          </p:nvPr>
        </p:nvGrpSpPr>
        <p:grpSpPr>
          <a:xfrm>
            <a:off x="1940560" y="1265555"/>
            <a:ext cx="3016019" cy="2766695"/>
            <a:chOff x="1941" y="1518"/>
            <a:chExt cx="6000" cy="5504"/>
          </a:xfrm>
        </p:grpSpPr>
        <p:pic>
          <p:nvPicPr>
            <p:cNvPr id="45" name="PA-替换占位" descr="C:\Users\Administrator\AppData\Roaming\Kingsoft\office6\wpsassist\onlinetemplates\thumb\_partial_zoom_ori.png_partial_zoom_ori"/>
            <p:cNvPicPr>
              <a:picLocks noChangeAspect="1"/>
            </p:cNvPicPr>
            <p:nvPr>
              <p:custDataLst>
                <p:tags r:id="rId4"/>
              </p:custDataLst>
            </p:nvPr>
          </p:nvPicPr>
          <p:blipFill>
            <a:blip r:embed="rId5"/>
            <a:srcRect l="15029" t="20509" r="63565" b="41435"/>
            <a:stretch>
              <a:fillRect/>
            </a:stretch>
          </p:blipFill>
          <p:spPr>
            <a:xfrm>
              <a:off x="2021" y="1582"/>
              <a:ext cx="4925" cy="4925"/>
            </a:xfrm>
            <a:prstGeom prst="rect">
              <a:avLst/>
            </a:prstGeom>
            <a:ln>
              <a:noFill/>
            </a:ln>
          </p:spPr>
        </p:pic>
        <p:grpSp>
          <p:nvGrpSpPr>
            <p:cNvPr id="46" name="PA-组合 3"/>
            <p:cNvGrpSpPr/>
            <p:nvPr>
              <p:custDataLst>
                <p:tags r:id="rId6"/>
              </p:custDataLst>
            </p:nvPr>
          </p:nvGrpSpPr>
          <p:grpSpPr>
            <a:xfrm>
              <a:off x="1941" y="1518"/>
              <a:ext cx="6000" cy="5504"/>
              <a:chOff x="3632835" y="875665"/>
              <a:chExt cx="5850890" cy="5367655"/>
            </a:xfrm>
          </p:grpSpPr>
          <p:sp>
            <p:nvSpPr>
              <p:cNvPr id="47" name="PA-形状"/>
              <p:cNvSpPr/>
              <p:nvPr>
                <p:custDataLst>
                  <p:tags r:id="rId7"/>
                </p:custDataLst>
              </p:nvPr>
            </p:nvSpPr>
            <p:spPr>
              <a:xfrm>
                <a:off x="8075295" y="4605020"/>
                <a:ext cx="779780" cy="502920"/>
              </a:xfrm>
              <a:custGeom>
                <a:avLst/>
                <a:gdLst/>
                <a:ahLst/>
                <a:cxnLst>
                  <a:cxn ang="0">
                    <a:pos x="wd2" y="hd2"/>
                  </a:cxn>
                  <a:cxn ang="5400000">
                    <a:pos x="wd2" y="hd2"/>
                  </a:cxn>
                  <a:cxn ang="10800000">
                    <a:pos x="wd2" y="hd2"/>
                  </a:cxn>
                  <a:cxn ang="16200000">
                    <a:pos x="wd2" y="hd2"/>
                  </a:cxn>
                </a:cxnLst>
                <a:rect l="0" t="0" r="r" b="b"/>
                <a:pathLst>
                  <a:path w="21489" h="20869" extrusionOk="0">
                    <a:moveTo>
                      <a:pt x="10552" y="12623"/>
                    </a:moveTo>
                    <a:cubicBezTo>
                      <a:pt x="1629" y="7983"/>
                      <a:pt x="1629" y="7983"/>
                      <a:pt x="1629" y="7983"/>
                    </a:cubicBezTo>
                    <a:cubicBezTo>
                      <a:pt x="0" y="15183"/>
                      <a:pt x="0" y="15183"/>
                      <a:pt x="0" y="15183"/>
                    </a:cubicBezTo>
                    <a:cubicBezTo>
                      <a:pt x="10481" y="20676"/>
                      <a:pt x="10481" y="20676"/>
                      <a:pt x="10481" y="20676"/>
                    </a:cubicBezTo>
                    <a:cubicBezTo>
                      <a:pt x="11473" y="21156"/>
                      <a:pt x="12535" y="20729"/>
                      <a:pt x="13243" y="19556"/>
                    </a:cubicBezTo>
                    <a:cubicBezTo>
                      <a:pt x="20892" y="6276"/>
                      <a:pt x="20892" y="6276"/>
                      <a:pt x="20892" y="6276"/>
                    </a:cubicBezTo>
                    <a:cubicBezTo>
                      <a:pt x="21423" y="5316"/>
                      <a:pt x="21600" y="4036"/>
                      <a:pt x="21423" y="2916"/>
                    </a:cubicBezTo>
                    <a:cubicBezTo>
                      <a:pt x="21317" y="2169"/>
                      <a:pt x="21033" y="1476"/>
                      <a:pt x="20609" y="943"/>
                    </a:cubicBezTo>
                    <a:cubicBezTo>
                      <a:pt x="19582" y="-444"/>
                      <a:pt x="17988" y="-284"/>
                      <a:pt x="17068" y="1316"/>
                    </a:cubicBezTo>
                    <a:lnTo>
                      <a:pt x="10552" y="12623"/>
                    </a:lnTo>
                    <a:close/>
                  </a:path>
                </a:pathLst>
              </a:custGeom>
              <a:solidFill>
                <a:srgbClr val="FFFFFF"/>
              </a:solidFill>
              <a:ln w="12700" cap="flat">
                <a:noFill/>
                <a:miter lim="400000"/>
                <a:tailEnd type="triangle" w="med" len="med"/>
              </a:ln>
              <a:effectLst/>
            </p:spPr>
            <p:txBody>
              <a:bodyPr wrap="square" lIns="45719" tIns="45719" rIns="45719" bIns="45719" numCol="1" anchor="t">
                <a:noAutofit/>
              </a:bodyPr>
              <a:p/>
            </p:txBody>
          </p:sp>
          <p:sp>
            <p:nvSpPr>
              <p:cNvPr id="48" name="PA-形状"/>
              <p:cNvSpPr/>
              <p:nvPr>
                <p:custDataLst>
                  <p:tags r:id="rId8"/>
                </p:custDataLst>
              </p:nvPr>
            </p:nvSpPr>
            <p:spPr>
              <a:xfrm>
                <a:off x="7962265" y="4775200"/>
                <a:ext cx="172085" cy="196215"/>
              </a:xfrm>
              <a:custGeom>
                <a:avLst/>
                <a:gdLst/>
                <a:ahLst/>
                <a:cxnLst>
                  <a:cxn ang="0">
                    <a:pos x="wd2" y="hd2"/>
                  </a:cxn>
                  <a:cxn ang="5400000">
                    <a:pos x="wd2" y="hd2"/>
                  </a:cxn>
                  <a:cxn ang="10800000">
                    <a:pos x="wd2" y="hd2"/>
                  </a:cxn>
                  <a:cxn ang="16200000">
                    <a:pos x="wd2" y="hd2"/>
                  </a:cxn>
                </a:cxnLst>
                <a:rect l="0" t="0" r="r" b="b"/>
                <a:pathLst>
                  <a:path w="20236" h="20471" extrusionOk="0">
                    <a:moveTo>
                      <a:pt x="14345" y="481"/>
                    </a:moveTo>
                    <a:cubicBezTo>
                      <a:pt x="8605" y="-1129"/>
                      <a:pt x="2563" y="1420"/>
                      <a:pt x="600" y="6384"/>
                    </a:cubicBezTo>
                    <a:cubicBezTo>
                      <a:pt x="-1364" y="11348"/>
                      <a:pt x="1657" y="16849"/>
                      <a:pt x="7246" y="18593"/>
                    </a:cubicBezTo>
                    <a:cubicBezTo>
                      <a:pt x="13288" y="20471"/>
                      <a:pt x="13288" y="20471"/>
                      <a:pt x="13288" y="20471"/>
                    </a:cubicBezTo>
                    <a:cubicBezTo>
                      <a:pt x="20236" y="2359"/>
                      <a:pt x="20236" y="2359"/>
                      <a:pt x="20236" y="2359"/>
                    </a:cubicBezTo>
                    <a:lnTo>
                      <a:pt x="14345" y="481"/>
                    </a:lnTo>
                    <a:close/>
                  </a:path>
                </a:pathLst>
              </a:custGeom>
              <a:solidFill>
                <a:srgbClr val="FDCF94"/>
              </a:solidFill>
              <a:ln w="12700" cap="flat">
                <a:noFill/>
                <a:miter lim="400000"/>
                <a:tailEnd type="triangle" w="med" len="med"/>
              </a:ln>
              <a:effectLst/>
            </p:spPr>
            <p:txBody>
              <a:bodyPr wrap="square" lIns="45719" tIns="45719" rIns="45719" bIns="45719" numCol="1" anchor="t">
                <a:noAutofit/>
              </a:bodyPr>
              <a:p/>
            </p:txBody>
          </p:sp>
          <p:sp>
            <p:nvSpPr>
              <p:cNvPr id="49" name="PA-形状"/>
              <p:cNvSpPr/>
              <p:nvPr>
                <p:custDataLst>
                  <p:tags r:id="rId9"/>
                </p:custDataLst>
              </p:nvPr>
            </p:nvSpPr>
            <p:spPr>
              <a:xfrm>
                <a:off x="8211820" y="5062855"/>
                <a:ext cx="970280" cy="952500"/>
              </a:xfrm>
              <a:custGeom>
                <a:avLst/>
                <a:gdLst/>
                <a:ahLst/>
                <a:cxnLst>
                  <a:cxn ang="0">
                    <a:pos x="wd2" y="hd2"/>
                  </a:cxn>
                  <a:cxn ang="5400000">
                    <a:pos x="wd2" y="hd2"/>
                  </a:cxn>
                  <a:cxn ang="10800000">
                    <a:pos x="wd2" y="hd2"/>
                  </a:cxn>
                  <a:cxn ang="16200000">
                    <a:pos x="wd2" y="hd2"/>
                  </a:cxn>
                </a:cxnLst>
                <a:rect l="0" t="0" r="r" b="b"/>
                <a:pathLst>
                  <a:path w="21423" h="21515" extrusionOk="0">
                    <a:moveTo>
                      <a:pt x="17653" y="1628"/>
                    </a:moveTo>
                    <a:cubicBezTo>
                      <a:pt x="17199" y="1396"/>
                      <a:pt x="16689" y="1367"/>
                      <a:pt x="16236" y="1483"/>
                    </a:cubicBezTo>
                    <a:cubicBezTo>
                      <a:pt x="15669" y="1599"/>
                      <a:pt x="13288" y="1628"/>
                      <a:pt x="12466" y="2063"/>
                    </a:cubicBezTo>
                    <a:cubicBezTo>
                      <a:pt x="12154" y="1570"/>
                      <a:pt x="11700" y="1076"/>
                      <a:pt x="11303" y="670"/>
                    </a:cubicBezTo>
                    <a:cubicBezTo>
                      <a:pt x="10963" y="321"/>
                      <a:pt x="10510" y="89"/>
                      <a:pt x="10056" y="31"/>
                    </a:cubicBezTo>
                    <a:cubicBezTo>
                      <a:pt x="9376" y="-85"/>
                      <a:pt x="8610" y="118"/>
                      <a:pt x="8072" y="699"/>
                    </a:cubicBezTo>
                    <a:cubicBezTo>
                      <a:pt x="645" y="8363"/>
                      <a:pt x="645" y="8363"/>
                      <a:pt x="645" y="8363"/>
                    </a:cubicBezTo>
                    <a:cubicBezTo>
                      <a:pt x="-7" y="9031"/>
                      <a:pt x="-177" y="10047"/>
                      <a:pt x="192" y="10947"/>
                    </a:cubicBezTo>
                    <a:cubicBezTo>
                      <a:pt x="4245" y="20499"/>
                      <a:pt x="4245" y="20499"/>
                      <a:pt x="4245" y="20499"/>
                    </a:cubicBezTo>
                    <a:cubicBezTo>
                      <a:pt x="8412" y="18641"/>
                      <a:pt x="8412" y="18641"/>
                      <a:pt x="8412" y="18641"/>
                    </a:cubicBezTo>
                    <a:cubicBezTo>
                      <a:pt x="4982" y="10512"/>
                      <a:pt x="4982" y="10512"/>
                      <a:pt x="4982" y="10512"/>
                    </a:cubicBezTo>
                    <a:cubicBezTo>
                      <a:pt x="9036" y="6970"/>
                      <a:pt x="9036" y="6970"/>
                      <a:pt x="9036" y="6970"/>
                    </a:cubicBezTo>
                    <a:cubicBezTo>
                      <a:pt x="9347" y="6709"/>
                      <a:pt x="9773" y="6592"/>
                      <a:pt x="10169" y="6709"/>
                    </a:cubicBezTo>
                    <a:cubicBezTo>
                      <a:pt x="10595" y="6825"/>
                      <a:pt x="10595" y="6825"/>
                      <a:pt x="10595" y="6825"/>
                    </a:cubicBezTo>
                    <a:cubicBezTo>
                      <a:pt x="11190" y="6970"/>
                      <a:pt x="11558" y="7580"/>
                      <a:pt x="11502" y="8189"/>
                    </a:cubicBezTo>
                    <a:cubicBezTo>
                      <a:pt x="10992" y="12254"/>
                      <a:pt x="10992" y="12254"/>
                      <a:pt x="10992" y="12254"/>
                    </a:cubicBezTo>
                    <a:cubicBezTo>
                      <a:pt x="10680" y="13096"/>
                      <a:pt x="10878" y="14054"/>
                      <a:pt x="11502" y="14692"/>
                    </a:cubicBezTo>
                    <a:cubicBezTo>
                      <a:pt x="18447" y="21515"/>
                      <a:pt x="18447" y="21515"/>
                      <a:pt x="18447" y="21515"/>
                    </a:cubicBezTo>
                    <a:cubicBezTo>
                      <a:pt x="21423" y="18321"/>
                      <a:pt x="21423" y="18321"/>
                      <a:pt x="21423" y="18321"/>
                    </a:cubicBezTo>
                    <a:cubicBezTo>
                      <a:pt x="15555" y="12544"/>
                      <a:pt x="15555" y="12544"/>
                      <a:pt x="15555" y="12544"/>
                    </a:cubicBezTo>
                    <a:cubicBezTo>
                      <a:pt x="18702" y="4531"/>
                      <a:pt x="18702" y="4531"/>
                      <a:pt x="18702" y="4531"/>
                    </a:cubicBezTo>
                    <a:cubicBezTo>
                      <a:pt x="19155" y="3428"/>
                      <a:pt x="18702" y="2121"/>
                      <a:pt x="17653" y="1628"/>
                    </a:cubicBezTo>
                    <a:close/>
                  </a:path>
                </a:pathLst>
              </a:custGeom>
              <a:solidFill>
                <a:srgbClr val="1C657D"/>
              </a:solidFill>
              <a:ln w="12700" cap="flat">
                <a:noFill/>
                <a:miter lim="400000"/>
                <a:tailEnd type="triangle" w="med" len="med"/>
              </a:ln>
              <a:effectLst/>
            </p:spPr>
            <p:txBody>
              <a:bodyPr wrap="square" lIns="45719" tIns="45719" rIns="45719" bIns="45719" numCol="1" anchor="t">
                <a:noAutofit/>
              </a:bodyPr>
              <a:p/>
            </p:txBody>
          </p:sp>
          <p:sp>
            <p:nvSpPr>
              <p:cNvPr id="50" name="PA-镜片反光"/>
              <p:cNvSpPr/>
              <p:nvPr>
                <p:custDataLst>
                  <p:tags r:id="rId10"/>
                </p:custDataLst>
              </p:nvPr>
            </p:nvSpPr>
            <p:spPr>
              <a:xfrm>
                <a:off x="3633414" y="876244"/>
                <a:ext cx="4925116" cy="4925116"/>
              </a:xfrm>
              <a:prstGeom prst="rect">
                <a:avLst/>
              </a:prstGeom>
              <a:gradFill flip="none" rotWithShape="1">
                <a:gsLst>
                  <a:gs pos="89000">
                    <a:schemeClr val="bg1">
                      <a:alpha val="0"/>
                    </a:schemeClr>
                  </a:gs>
                  <a:gs pos="100000">
                    <a:schemeClr val="bg1">
                      <a:alpha val="40000"/>
                    </a:scheme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a:p>
            </p:txBody>
          </p:sp>
          <p:sp>
            <p:nvSpPr>
              <p:cNvPr id="51" name="PA-镜片折光"/>
              <p:cNvSpPr/>
              <p:nvPr>
                <p:custDataLst>
                  <p:tags r:id="rId11"/>
                </p:custDataLst>
              </p:nvPr>
            </p:nvSpPr>
            <p:spPr>
              <a:xfrm>
                <a:off x="3633414" y="876244"/>
                <a:ext cx="4925116" cy="4925116"/>
              </a:xfrm>
              <a:prstGeom prst="frame">
                <a:avLst>
                  <a:gd name="adj1" fmla="val 1607"/>
                </a:avLst>
              </a:prstGeom>
              <a:solidFill>
                <a:schemeClr val="bg1">
                  <a:lumMod val="65000"/>
                  <a:alpha val="20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a:p>
            </p:txBody>
          </p:sp>
          <p:sp>
            <p:nvSpPr>
              <p:cNvPr id="52" name="PA-高光"/>
              <p:cNvSpPr/>
              <p:nvPr>
                <p:custDataLst>
                  <p:tags r:id="rId12"/>
                </p:custDataLst>
              </p:nvPr>
            </p:nvSpPr>
            <p:spPr>
              <a:xfrm>
                <a:off x="3633414" y="876244"/>
                <a:ext cx="4925116" cy="4925116"/>
              </a:xfrm>
              <a:prstGeom prst="rect">
                <a:avLst/>
              </a:prstGeom>
              <a:gradFill>
                <a:gsLst>
                  <a:gs pos="0">
                    <a:schemeClr val="bg1"/>
                  </a:gs>
                  <a:gs pos="19000">
                    <a:schemeClr val="bg1">
                      <a:lumMod val="95000"/>
                      <a:alpha val="0"/>
                    </a:schemeClr>
                  </a:gs>
                </a:gsLst>
                <a:lin ang="5400000" scaled="0"/>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a:p>
            </p:txBody>
          </p:sp>
          <p:sp>
            <p:nvSpPr>
              <p:cNvPr id="53" name="PA-镜框内"/>
              <p:cNvSpPr>
                <a:spLocks noChangeAspect="1"/>
              </p:cNvSpPr>
              <p:nvPr>
                <p:custDataLst>
                  <p:tags r:id="rId13"/>
                </p:custDataLst>
              </p:nvPr>
            </p:nvSpPr>
            <p:spPr>
              <a:xfrm>
                <a:off x="3633414" y="876244"/>
                <a:ext cx="4924537" cy="4924537"/>
              </a:xfrm>
              <a:prstGeom prst="frame">
                <a:avLst>
                  <a:gd name="adj1" fmla="val 4492"/>
                </a:avLst>
              </a:prstGeom>
              <a:gradFill>
                <a:gsLst>
                  <a:gs pos="0">
                    <a:schemeClr val="tx1">
                      <a:lumMod val="65000"/>
                      <a:lumOff val="35000"/>
                      <a:alpha val="100000"/>
                    </a:schemeClr>
                  </a:gs>
                  <a:gs pos="60000">
                    <a:schemeClr val="tx1">
                      <a:lumMod val="75000"/>
                      <a:lumOff val="25000"/>
                      <a:alpha val="100000"/>
                    </a:schemeClr>
                  </a:gs>
                  <a:gs pos="100000">
                    <a:schemeClr val="tx1">
                      <a:lumMod val="85000"/>
                      <a:lumOff val="15000"/>
                      <a:alpha val="100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4" name="PA-镜片光晕"/>
              <p:cNvSpPr/>
              <p:nvPr>
                <p:custDataLst>
                  <p:tags r:id="rId14"/>
                </p:custDataLst>
              </p:nvPr>
            </p:nvSpPr>
            <p:spPr>
              <a:xfrm>
                <a:off x="3633414" y="876244"/>
                <a:ext cx="4925116" cy="4925116"/>
              </a:xfrm>
              <a:prstGeom prst="rect">
                <a:avLst/>
              </a:prstGeom>
              <a:gradFill flip="none" rotWithShape="1">
                <a:gsLst>
                  <a:gs pos="79000">
                    <a:schemeClr val="tx2">
                      <a:lumMod val="40000"/>
                      <a:lumOff val="60000"/>
                      <a:alpha val="0"/>
                    </a:schemeClr>
                  </a:gs>
                  <a:gs pos="94000">
                    <a:schemeClr val="tx2">
                      <a:lumMod val="60000"/>
                      <a:lumOff val="40000"/>
                      <a:alpha val="37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a:p>
            </p:txBody>
          </p:sp>
          <p:sp>
            <p:nvSpPr>
              <p:cNvPr id="55" name="PA-镜框顶"/>
              <p:cNvSpPr>
                <a:spLocks noChangeAspect="1"/>
              </p:cNvSpPr>
              <p:nvPr>
                <p:custDataLst>
                  <p:tags r:id="rId15"/>
                </p:custDataLst>
              </p:nvPr>
            </p:nvSpPr>
            <p:spPr>
              <a:xfrm>
                <a:off x="3633414" y="876244"/>
                <a:ext cx="4924537" cy="4924537"/>
              </a:xfrm>
              <a:prstGeom prst="frame">
                <a:avLst>
                  <a:gd name="adj1" fmla="val 2551"/>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6" name="PA-镜框外"/>
              <p:cNvSpPr>
                <a:spLocks noChangeAspect="1"/>
              </p:cNvSpPr>
              <p:nvPr>
                <p:custDataLst>
                  <p:tags r:id="rId16"/>
                </p:custDataLst>
              </p:nvPr>
            </p:nvSpPr>
            <p:spPr>
              <a:xfrm>
                <a:off x="3632835" y="875665"/>
                <a:ext cx="4924537" cy="4924537"/>
              </a:xfrm>
              <a:prstGeom prst="frame">
                <a:avLst>
                  <a:gd name="adj1" fmla="val 1822"/>
                </a:avLst>
              </a:prstGeom>
              <a:gradFill>
                <a:gsLst>
                  <a:gs pos="0">
                    <a:schemeClr val="bg1"/>
                  </a:gs>
                  <a:gs pos="60000">
                    <a:schemeClr val="bg1">
                      <a:lumMod val="75000"/>
                    </a:schemeClr>
                  </a:gs>
                  <a:gs pos="100000">
                    <a:schemeClr val="bg1">
                      <a:lumMod val="9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7" name="PA-形状"/>
              <p:cNvSpPr/>
              <p:nvPr>
                <p:custDataLst>
                  <p:tags r:id="rId17"/>
                </p:custDataLst>
              </p:nvPr>
            </p:nvSpPr>
            <p:spPr>
              <a:xfrm>
                <a:off x="8785860" y="5904230"/>
                <a:ext cx="319405" cy="15811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4834" y="21600"/>
                      <a:pt x="14834" y="21600"/>
                      <a:pt x="14834" y="21600"/>
                    </a:cubicBezTo>
                    <a:cubicBezTo>
                      <a:pt x="21600" y="4039"/>
                      <a:pt x="21600" y="4039"/>
                      <a:pt x="21600" y="4039"/>
                    </a:cubicBezTo>
                    <a:cubicBezTo>
                      <a:pt x="15441" y="1580"/>
                      <a:pt x="7981" y="0"/>
                      <a:pt x="0" y="0"/>
                    </a:cubicBezTo>
                  </a:path>
                </a:pathLst>
              </a:custGeom>
              <a:solidFill>
                <a:srgbClr val="61C5E3"/>
              </a:solidFill>
              <a:ln w="12700" cap="flat">
                <a:noFill/>
                <a:miter lim="400000"/>
                <a:tailEnd type="triangle" w="med" len="med"/>
              </a:ln>
              <a:effectLst/>
            </p:spPr>
            <p:txBody>
              <a:bodyPr wrap="square" lIns="45719" tIns="45719" rIns="45719" bIns="45719" numCol="1" anchor="t">
                <a:noAutofit/>
              </a:bodyPr>
              <a:p/>
            </p:txBody>
          </p:sp>
          <p:sp>
            <p:nvSpPr>
              <p:cNvPr id="58" name="PA-形状"/>
              <p:cNvSpPr/>
              <p:nvPr>
                <p:custDataLst>
                  <p:tags r:id="rId18"/>
                </p:custDataLst>
              </p:nvPr>
            </p:nvSpPr>
            <p:spPr>
              <a:xfrm>
                <a:off x="9004935" y="5934075"/>
                <a:ext cx="349250" cy="132080"/>
              </a:xfrm>
              <a:custGeom>
                <a:avLst/>
                <a:gdLst/>
                <a:ahLst/>
                <a:cxnLst>
                  <a:cxn ang="0">
                    <a:pos x="wd2" y="hd2"/>
                  </a:cxn>
                  <a:cxn ang="5400000">
                    <a:pos x="wd2" y="hd2"/>
                  </a:cxn>
                  <a:cxn ang="10800000">
                    <a:pos x="wd2" y="hd2"/>
                  </a:cxn>
                  <a:cxn ang="16200000">
                    <a:pos x="wd2" y="hd2"/>
                  </a:cxn>
                </a:cxnLst>
                <a:rect l="0" t="0" r="r" b="b"/>
                <a:pathLst>
                  <a:path w="21600" h="21600" extrusionOk="0">
                    <a:moveTo>
                      <a:pt x="6194" y="0"/>
                    </a:moveTo>
                    <a:cubicBezTo>
                      <a:pt x="0" y="20971"/>
                      <a:pt x="0" y="20971"/>
                      <a:pt x="0" y="20971"/>
                    </a:cubicBezTo>
                    <a:cubicBezTo>
                      <a:pt x="21600" y="21600"/>
                      <a:pt x="21600" y="21600"/>
                      <a:pt x="21600" y="21600"/>
                    </a:cubicBezTo>
                    <a:cubicBezTo>
                      <a:pt x="21044" y="12583"/>
                      <a:pt x="15088" y="4823"/>
                      <a:pt x="6194" y="0"/>
                    </a:cubicBezTo>
                  </a:path>
                </a:pathLst>
              </a:custGeom>
              <a:solidFill>
                <a:srgbClr val="6DC9E4"/>
              </a:solidFill>
              <a:ln w="12700" cap="flat">
                <a:noFill/>
                <a:miter lim="400000"/>
                <a:tailEnd type="triangle" w="med" len="med"/>
              </a:ln>
              <a:effectLst/>
            </p:spPr>
            <p:txBody>
              <a:bodyPr wrap="square" lIns="45719" tIns="45719" rIns="45719" bIns="45719" numCol="1" anchor="t">
                <a:noAutofit/>
              </a:bodyPr>
              <a:p/>
            </p:txBody>
          </p:sp>
          <p:sp>
            <p:nvSpPr>
              <p:cNvPr id="59" name="PA-形状"/>
              <p:cNvSpPr/>
              <p:nvPr>
                <p:custDataLst>
                  <p:tags r:id="rId19"/>
                </p:custDataLst>
              </p:nvPr>
            </p:nvSpPr>
            <p:spPr>
              <a:xfrm>
                <a:off x="8202295" y="5904230"/>
                <a:ext cx="837565" cy="339090"/>
              </a:xfrm>
              <a:custGeom>
                <a:avLst/>
                <a:gdLst/>
                <a:ahLst/>
                <a:cxnLst>
                  <a:cxn ang="0">
                    <a:pos x="wd2" y="hd2"/>
                  </a:cxn>
                  <a:cxn ang="5400000">
                    <a:pos x="wd2" y="hd2"/>
                  </a:cxn>
                  <a:cxn ang="10800000">
                    <a:pos x="wd2" y="hd2"/>
                  </a:cxn>
                  <a:cxn ang="16200000">
                    <a:pos x="wd2" y="hd2"/>
                  </a:cxn>
                </a:cxnLst>
                <a:rect l="0" t="0" r="r" b="b"/>
                <a:pathLst>
                  <a:path w="21600" h="21600" extrusionOk="0">
                    <a:moveTo>
                      <a:pt x="14842" y="0"/>
                    </a:moveTo>
                    <a:cubicBezTo>
                      <a:pt x="6659" y="0"/>
                      <a:pt x="0" y="4827"/>
                      <a:pt x="0" y="10800"/>
                    </a:cubicBezTo>
                    <a:cubicBezTo>
                      <a:pt x="0" y="16773"/>
                      <a:pt x="6659" y="21600"/>
                      <a:pt x="14842" y="21600"/>
                    </a:cubicBezTo>
                    <a:cubicBezTo>
                      <a:pt x="17293" y="21600"/>
                      <a:pt x="19579" y="21191"/>
                      <a:pt x="21600" y="20455"/>
                    </a:cubicBezTo>
                    <a:cubicBezTo>
                      <a:pt x="20706" y="10064"/>
                      <a:pt x="20706" y="10064"/>
                      <a:pt x="20706" y="10064"/>
                    </a:cubicBezTo>
                    <a:cubicBezTo>
                      <a:pt x="15040" y="0"/>
                      <a:pt x="15040" y="0"/>
                      <a:pt x="15040" y="0"/>
                    </a:cubicBezTo>
                    <a:cubicBezTo>
                      <a:pt x="14974" y="0"/>
                      <a:pt x="14908" y="0"/>
                      <a:pt x="14842" y="0"/>
                    </a:cubicBezTo>
                  </a:path>
                </a:pathLst>
              </a:custGeom>
              <a:solidFill>
                <a:srgbClr val="6DC9E4"/>
              </a:solidFill>
              <a:ln w="12700" cap="flat">
                <a:noFill/>
                <a:miter lim="400000"/>
                <a:tailEnd type="triangle" w="med" len="med"/>
              </a:ln>
              <a:effectLst/>
            </p:spPr>
            <p:txBody>
              <a:bodyPr wrap="square" lIns="45719" tIns="45719" rIns="45719" bIns="45719" numCol="1" anchor="t">
                <a:noAutofit/>
              </a:bodyPr>
              <a:p/>
            </p:txBody>
          </p:sp>
          <p:sp>
            <p:nvSpPr>
              <p:cNvPr id="60" name="PA-形状"/>
              <p:cNvSpPr/>
              <p:nvPr>
                <p:custDataLst>
                  <p:tags r:id="rId20"/>
                </p:custDataLst>
              </p:nvPr>
            </p:nvSpPr>
            <p:spPr>
              <a:xfrm>
                <a:off x="9004935" y="6062345"/>
                <a:ext cx="349250" cy="16319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0" y="0"/>
                      <a:pt x="0" y="0"/>
                      <a:pt x="0" y="0"/>
                    </a:cubicBezTo>
                    <a:cubicBezTo>
                      <a:pt x="2144" y="21600"/>
                      <a:pt x="2144" y="21600"/>
                      <a:pt x="2144" y="21600"/>
                    </a:cubicBezTo>
                    <a:cubicBezTo>
                      <a:pt x="13738" y="17858"/>
                      <a:pt x="21600" y="10375"/>
                      <a:pt x="21600" y="1531"/>
                    </a:cubicBezTo>
                    <a:cubicBezTo>
                      <a:pt x="21600" y="1191"/>
                      <a:pt x="21600" y="850"/>
                      <a:pt x="21600" y="510"/>
                    </a:cubicBezTo>
                    <a:cubicBezTo>
                      <a:pt x="0" y="0"/>
                      <a:pt x="0" y="0"/>
                      <a:pt x="0" y="0"/>
                    </a:cubicBezTo>
                  </a:path>
                </a:pathLst>
              </a:custGeom>
              <a:solidFill>
                <a:srgbClr val="5EC4E3"/>
              </a:solidFill>
              <a:ln w="12700" cap="flat">
                <a:noFill/>
                <a:miter lim="400000"/>
                <a:tailEnd type="triangle" w="med" len="med"/>
              </a:ln>
              <a:effectLst/>
            </p:spPr>
            <p:txBody>
              <a:bodyPr wrap="square" lIns="45719" tIns="45719" rIns="45719" bIns="45719" numCol="1" anchor="t">
                <a:noAutofit/>
              </a:bodyPr>
              <a:p/>
            </p:txBody>
          </p:sp>
          <p:sp>
            <p:nvSpPr>
              <p:cNvPr id="61" name="PA-形状"/>
              <p:cNvSpPr/>
              <p:nvPr>
                <p:custDataLst>
                  <p:tags r:id="rId21"/>
                </p:custDataLst>
              </p:nvPr>
            </p:nvSpPr>
            <p:spPr>
              <a:xfrm>
                <a:off x="9034780" y="5854700"/>
                <a:ext cx="189865" cy="307340"/>
              </a:xfrm>
              <a:custGeom>
                <a:avLst/>
                <a:gdLst/>
                <a:ahLst/>
                <a:cxnLst>
                  <a:cxn ang="0">
                    <a:pos x="wd2" y="hd2"/>
                  </a:cxn>
                  <a:cxn ang="5400000">
                    <a:pos x="wd2" y="hd2"/>
                  </a:cxn>
                  <a:cxn ang="10800000">
                    <a:pos x="wd2" y="hd2"/>
                  </a:cxn>
                  <a:cxn ang="16200000">
                    <a:pos x="wd2" y="hd2"/>
                  </a:cxn>
                </a:cxnLst>
                <a:rect l="0" t="0" r="r" b="b"/>
                <a:pathLst>
                  <a:path w="21043" h="21065" extrusionOk="0">
                    <a:moveTo>
                      <a:pt x="21043" y="10273"/>
                    </a:moveTo>
                    <a:cubicBezTo>
                      <a:pt x="19622" y="3484"/>
                      <a:pt x="19622" y="3484"/>
                      <a:pt x="19622" y="3484"/>
                    </a:cubicBezTo>
                    <a:cubicBezTo>
                      <a:pt x="19622" y="3484"/>
                      <a:pt x="19622" y="3484"/>
                      <a:pt x="19622" y="3484"/>
                    </a:cubicBezTo>
                    <a:cubicBezTo>
                      <a:pt x="19480" y="3220"/>
                      <a:pt x="19338" y="2867"/>
                      <a:pt x="18769" y="2691"/>
                    </a:cubicBezTo>
                    <a:cubicBezTo>
                      <a:pt x="12659" y="398"/>
                      <a:pt x="12659" y="398"/>
                      <a:pt x="12659" y="398"/>
                    </a:cubicBezTo>
                    <a:cubicBezTo>
                      <a:pt x="10669" y="-395"/>
                      <a:pt x="7969" y="46"/>
                      <a:pt x="6832" y="1280"/>
                    </a:cubicBezTo>
                    <a:cubicBezTo>
                      <a:pt x="580" y="7540"/>
                      <a:pt x="580" y="7540"/>
                      <a:pt x="580" y="7540"/>
                    </a:cubicBezTo>
                    <a:cubicBezTo>
                      <a:pt x="-557" y="8774"/>
                      <a:pt x="11" y="10361"/>
                      <a:pt x="2001" y="11154"/>
                    </a:cubicBezTo>
                    <a:cubicBezTo>
                      <a:pt x="2569" y="11331"/>
                      <a:pt x="2569" y="11331"/>
                      <a:pt x="2569" y="11331"/>
                    </a:cubicBezTo>
                    <a:cubicBezTo>
                      <a:pt x="2569" y="11419"/>
                      <a:pt x="2427" y="11419"/>
                      <a:pt x="2427" y="11507"/>
                    </a:cubicBezTo>
                    <a:cubicBezTo>
                      <a:pt x="1290" y="15122"/>
                      <a:pt x="1290" y="15122"/>
                      <a:pt x="1290" y="15122"/>
                    </a:cubicBezTo>
                    <a:cubicBezTo>
                      <a:pt x="1006" y="16356"/>
                      <a:pt x="722" y="17678"/>
                      <a:pt x="2569" y="18384"/>
                    </a:cubicBezTo>
                    <a:cubicBezTo>
                      <a:pt x="9106" y="20941"/>
                      <a:pt x="9106" y="20941"/>
                      <a:pt x="9106" y="20941"/>
                    </a:cubicBezTo>
                    <a:cubicBezTo>
                      <a:pt x="9959" y="21205"/>
                      <a:pt x="10811" y="21029"/>
                      <a:pt x="11380" y="20588"/>
                    </a:cubicBezTo>
                    <a:cubicBezTo>
                      <a:pt x="20901" y="10890"/>
                      <a:pt x="20901" y="10890"/>
                      <a:pt x="20901" y="10890"/>
                    </a:cubicBezTo>
                    <a:cubicBezTo>
                      <a:pt x="21043" y="10714"/>
                      <a:pt x="21043" y="10449"/>
                      <a:pt x="21043" y="10273"/>
                    </a:cubicBezTo>
                    <a:close/>
                  </a:path>
                </a:pathLst>
              </a:custGeom>
              <a:solidFill>
                <a:srgbClr val="2F394A"/>
              </a:solidFill>
              <a:ln w="12700" cap="flat">
                <a:noFill/>
                <a:miter lim="400000"/>
                <a:tailEnd type="triangle" w="med" len="med"/>
              </a:ln>
              <a:effectLst/>
            </p:spPr>
            <p:txBody>
              <a:bodyPr wrap="square" lIns="45719" tIns="45719" rIns="45719" bIns="45719" numCol="1" anchor="t">
                <a:noAutofit/>
              </a:bodyPr>
              <a:p/>
            </p:txBody>
          </p:sp>
          <p:sp>
            <p:nvSpPr>
              <p:cNvPr id="62" name="PA-形状"/>
              <p:cNvSpPr/>
              <p:nvPr>
                <p:custDataLst>
                  <p:tags r:id="rId22"/>
                </p:custDataLst>
              </p:nvPr>
            </p:nvSpPr>
            <p:spPr>
              <a:xfrm>
                <a:off x="8347075" y="5866130"/>
                <a:ext cx="274320" cy="281940"/>
              </a:xfrm>
              <a:custGeom>
                <a:avLst/>
                <a:gdLst/>
                <a:ahLst/>
                <a:cxnLst>
                  <a:cxn ang="0">
                    <a:pos x="wd2" y="hd2"/>
                  </a:cxn>
                  <a:cxn ang="5400000">
                    <a:pos x="wd2" y="hd2"/>
                  </a:cxn>
                  <a:cxn ang="10800000">
                    <a:pos x="wd2" y="hd2"/>
                  </a:cxn>
                  <a:cxn ang="16200000">
                    <a:pos x="wd2" y="hd2"/>
                  </a:cxn>
                </a:cxnLst>
                <a:rect l="0" t="0" r="r" b="b"/>
                <a:pathLst>
                  <a:path w="21044" h="21070" extrusionOk="0">
                    <a:moveTo>
                      <a:pt x="20930" y="6749"/>
                    </a:moveTo>
                    <a:cubicBezTo>
                      <a:pt x="18563" y="1661"/>
                      <a:pt x="18563" y="1661"/>
                      <a:pt x="18563" y="1661"/>
                    </a:cubicBezTo>
                    <a:cubicBezTo>
                      <a:pt x="17971" y="221"/>
                      <a:pt x="16195" y="-355"/>
                      <a:pt x="14716" y="221"/>
                    </a:cubicBezTo>
                    <a:cubicBezTo>
                      <a:pt x="6234" y="3965"/>
                      <a:pt x="6234" y="3965"/>
                      <a:pt x="6234" y="3965"/>
                    </a:cubicBezTo>
                    <a:cubicBezTo>
                      <a:pt x="4754" y="4637"/>
                      <a:pt x="4064" y="6365"/>
                      <a:pt x="4754" y="7805"/>
                    </a:cubicBezTo>
                    <a:cubicBezTo>
                      <a:pt x="4952" y="8381"/>
                      <a:pt x="4952" y="8381"/>
                      <a:pt x="4952" y="8381"/>
                    </a:cubicBezTo>
                    <a:cubicBezTo>
                      <a:pt x="4952" y="8381"/>
                      <a:pt x="4853" y="8477"/>
                      <a:pt x="4853" y="8477"/>
                    </a:cubicBezTo>
                    <a:cubicBezTo>
                      <a:pt x="1598" y="11453"/>
                      <a:pt x="1598" y="11453"/>
                      <a:pt x="1598" y="11453"/>
                    </a:cubicBezTo>
                    <a:cubicBezTo>
                      <a:pt x="612" y="12605"/>
                      <a:pt x="-473" y="13757"/>
                      <a:pt x="217" y="15197"/>
                    </a:cubicBezTo>
                    <a:cubicBezTo>
                      <a:pt x="2585" y="20381"/>
                      <a:pt x="2585" y="20381"/>
                      <a:pt x="2585" y="20381"/>
                    </a:cubicBezTo>
                    <a:cubicBezTo>
                      <a:pt x="2880" y="20957"/>
                      <a:pt x="3571" y="21245"/>
                      <a:pt x="4163" y="20957"/>
                    </a:cubicBezTo>
                    <a:cubicBezTo>
                      <a:pt x="16590" y="15485"/>
                      <a:pt x="16590" y="15485"/>
                      <a:pt x="16590" y="15485"/>
                    </a:cubicBezTo>
                    <a:cubicBezTo>
                      <a:pt x="16886" y="15389"/>
                      <a:pt x="17083" y="15197"/>
                      <a:pt x="17182" y="14909"/>
                    </a:cubicBezTo>
                    <a:cubicBezTo>
                      <a:pt x="17182" y="14909"/>
                      <a:pt x="17182" y="14909"/>
                      <a:pt x="17182" y="14909"/>
                    </a:cubicBezTo>
                    <a:cubicBezTo>
                      <a:pt x="20930" y="7805"/>
                      <a:pt x="20930" y="7805"/>
                      <a:pt x="20930" y="7805"/>
                    </a:cubicBezTo>
                    <a:cubicBezTo>
                      <a:pt x="20930" y="7805"/>
                      <a:pt x="20930" y="7805"/>
                      <a:pt x="20930" y="7805"/>
                    </a:cubicBezTo>
                    <a:cubicBezTo>
                      <a:pt x="21028" y="7517"/>
                      <a:pt x="21127" y="7133"/>
                      <a:pt x="20930" y="6749"/>
                    </a:cubicBezTo>
                    <a:close/>
                  </a:path>
                </a:pathLst>
              </a:custGeom>
              <a:solidFill>
                <a:srgbClr val="2F394A"/>
              </a:solidFill>
              <a:ln w="12700" cap="flat">
                <a:noFill/>
                <a:miter lim="400000"/>
                <a:tailEnd type="triangle" w="med" len="med"/>
              </a:ln>
              <a:effectLst/>
            </p:spPr>
            <p:txBody>
              <a:bodyPr wrap="square" lIns="45719" tIns="45719" rIns="45719" bIns="45719" numCol="1" anchor="t">
                <a:noAutofit/>
              </a:bodyPr>
              <a:p/>
            </p:txBody>
          </p:sp>
          <p:sp>
            <p:nvSpPr>
              <p:cNvPr id="63" name="PA-形状"/>
              <p:cNvSpPr/>
              <p:nvPr>
                <p:custDataLst>
                  <p:tags r:id="rId23"/>
                </p:custDataLst>
              </p:nvPr>
            </p:nvSpPr>
            <p:spPr>
              <a:xfrm>
                <a:off x="8495665" y="4624705"/>
                <a:ext cx="756920" cy="724535"/>
              </a:xfrm>
              <a:custGeom>
                <a:avLst/>
                <a:gdLst/>
                <a:ahLst/>
                <a:cxnLst>
                  <a:cxn ang="0">
                    <a:pos x="wd2" y="hd2"/>
                  </a:cxn>
                  <a:cxn ang="5400000">
                    <a:pos x="wd2" y="hd2"/>
                  </a:cxn>
                  <a:cxn ang="10800000">
                    <a:pos x="wd2" y="hd2"/>
                  </a:cxn>
                  <a:cxn ang="16200000">
                    <a:pos x="wd2" y="hd2"/>
                  </a:cxn>
                </a:cxnLst>
                <a:rect l="0" t="0" r="r" b="b"/>
                <a:pathLst>
                  <a:path w="21085" h="21453" extrusionOk="0">
                    <a:moveTo>
                      <a:pt x="13594" y="21334"/>
                    </a:moveTo>
                    <a:cubicBezTo>
                      <a:pt x="541" y="16352"/>
                      <a:pt x="541" y="16352"/>
                      <a:pt x="541" y="16352"/>
                    </a:cubicBezTo>
                    <a:cubicBezTo>
                      <a:pt x="41" y="16086"/>
                      <a:pt x="-138" y="15477"/>
                      <a:pt x="112" y="14945"/>
                    </a:cubicBezTo>
                    <a:cubicBezTo>
                      <a:pt x="9267" y="0"/>
                      <a:pt x="9267" y="0"/>
                      <a:pt x="9267" y="0"/>
                    </a:cubicBezTo>
                    <a:cubicBezTo>
                      <a:pt x="19638" y="5666"/>
                      <a:pt x="19638" y="5666"/>
                      <a:pt x="19638" y="5666"/>
                    </a:cubicBezTo>
                    <a:cubicBezTo>
                      <a:pt x="20961" y="6389"/>
                      <a:pt x="21462" y="8100"/>
                      <a:pt x="20783" y="9545"/>
                    </a:cubicBezTo>
                    <a:cubicBezTo>
                      <a:pt x="14918" y="20877"/>
                      <a:pt x="14918" y="20877"/>
                      <a:pt x="14918" y="20877"/>
                    </a:cubicBezTo>
                    <a:cubicBezTo>
                      <a:pt x="14667" y="21410"/>
                      <a:pt x="14095" y="21600"/>
                      <a:pt x="13594" y="21334"/>
                    </a:cubicBezTo>
                    <a:close/>
                  </a:path>
                </a:pathLst>
              </a:custGeom>
              <a:solidFill>
                <a:srgbClr val="FFFFFF"/>
              </a:solidFill>
              <a:ln w="12700" cap="flat">
                <a:noFill/>
                <a:miter lim="400000"/>
                <a:tailEnd type="triangle" w="med" len="med"/>
              </a:ln>
              <a:effectLst/>
            </p:spPr>
            <p:txBody>
              <a:bodyPr wrap="square" lIns="45719" tIns="45719" rIns="45719" bIns="45719" numCol="1" anchor="t">
                <a:noAutofit/>
              </a:bodyPr>
              <a:p/>
            </p:txBody>
          </p:sp>
          <p:sp>
            <p:nvSpPr>
              <p:cNvPr id="64" name="PA-形状"/>
              <p:cNvSpPr/>
              <p:nvPr>
                <p:custDataLst>
                  <p:tags r:id="rId24"/>
                </p:custDataLst>
              </p:nvPr>
            </p:nvSpPr>
            <p:spPr>
              <a:xfrm>
                <a:off x="8495665" y="4624705"/>
                <a:ext cx="757555" cy="724535"/>
              </a:xfrm>
              <a:custGeom>
                <a:avLst/>
                <a:gdLst/>
                <a:ahLst/>
                <a:cxnLst>
                  <a:cxn ang="0">
                    <a:pos x="wd2" y="hd2"/>
                  </a:cxn>
                  <a:cxn ang="5400000">
                    <a:pos x="wd2" y="hd2"/>
                  </a:cxn>
                  <a:cxn ang="10800000">
                    <a:pos x="wd2" y="hd2"/>
                  </a:cxn>
                  <a:cxn ang="16200000">
                    <a:pos x="wd2" y="hd2"/>
                  </a:cxn>
                </a:cxnLst>
                <a:rect l="0" t="0" r="r" b="b"/>
                <a:pathLst>
                  <a:path w="21403" h="21453" extrusionOk="0">
                    <a:moveTo>
                      <a:pt x="21380" y="7986"/>
                    </a:moveTo>
                    <a:cubicBezTo>
                      <a:pt x="21308" y="7035"/>
                      <a:pt x="20800" y="6123"/>
                      <a:pt x="19928" y="5666"/>
                    </a:cubicBezTo>
                    <a:cubicBezTo>
                      <a:pt x="9401" y="0"/>
                      <a:pt x="9401" y="0"/>
                      <a:pt x="9401" y="0"/>
                    </a:cubicBezTo>
                    <a:cubicBezTo>
                      <a:pt x="3157" y="10039"/>
                      <a:pt x="3157" y="10039"/>
                      <a:pt x="3157" y="10039"/>
                    </a:cubicBezTo>
                    <a:cubicBezTo>
                      <a:pt x="252" y="14717"/>
                      <a:pt x="252" y="14717"/>
                      <a:pt x="252" y="14717"/>
                    </a:cubicBezTo>
                    <a:cubicBezTo>
                      <a:pt x="107" y="14945"/>
                      <a:pt x="107" y="14945"/>
                      <a:pt x="107" y="14945"/>
                    </a:cubicBezTo>
                    <a:cubicBezTo>
                      <a:pt x="-147" y="15477"/>
                      <a:pt x="71" y="16086"/>
                      <a:pt x="543" y="16352"/>
                    </a:cubicBezTo>
                    <a:cubicBezTo>
                      <a:pt x="13793" y="21334"/>
                      <a:pt x="13793" y="21334"/>
                      <a:pt x="13793" y="21334"/>
                    </a:cubicBezTo>
                    <a:cubicBezTo>
                      <a:pt x="14301" y="21600"/>
                      <a:pt x="14882" y="21410"/>
                      <a:pt x="15136" y="20877"/>
                    </a:cubicBezTo>
                    <a:cubicBezTo>
                      <a:pt x="18948" y="13614"/>
                      <a:pt x="18948" y="13614"/>
                      <a:pt x="18948" y="13614"/>
                    </a:cubicBezTo>
                    <a:cubicBezTo>
                      <a:pt x="21090" y="9545"/>
                      <a:pt x="21090" y="9545"/>
                      <a:pt x="21090" y="9545"/>
                    </a:cubicBezTo>
                    <a:cubicBezTo>
                      <a:pt x="21344" y="9013"/>
                      <a:pt x="21453" y="8480"/>
                      <a:pt x="21380" y="7986"/>
                    </a:cubicBezTo>
                    <a:close/>
                  </a:path>
                </a:pathLst>
              </a:custGeom>
              <a:solidFill>
                <a:srgbClr val="FFFFFF"/>
              </a:solidFill>
              <a:ln w="12700" cap="flat">
                <a:noFill/>
                <a:miter lim="400000"/>
                <a:tailEnd type="triangle" w="med" len="med"/>
              </a:ln>
              <a:effectLst/>
            </p:spPr>
            <p:txBody>
              <a:bodyPr wrap="square" lIns="45719" tIns="45719" rIns="45719" bIns="45719" numCol="1" anchor="t">
                <a:noAutofit/>
              </a:bodyPr>
              <a:p/>
            </p:txBody>
          </p:sp>
          <p:sp>
            <p:nvSpPr>
              <p:cNvPr id="65" name="PA-形状"/>
              <p:cNvSpPr/>
              <p:nvPr>
                <p:custDataLst>
                  <p:tags r:id="rId25"/>
                </p:custDataLst>
              </p:nvPr>
            </p:nvSpPr>
            <p:spPr>
              <a:xfrm>
                <a:off x="8846185" y="4643755"/>
                <a:ext cx="300355" cy="38163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20" y="14923"/>
                    </a:lnTo>
                    <a:lnTo>
                      <a:pt x="21600" y="8215"/>
                    </a:lnTo>
                    <a:lnTo>
                      <a:pt x="11444" y="4092"/>
                    </a:lnTo>
                    <a:lnTo>
                      <a:pt x="1289" y="0"/>
                    </a:lnTo>
                    <a:lnTo>
                      <a:pt x="664" y="10769"/>
                    </a:lnTo>
                    <a:lnTo>
                      <a:pt x="0" y="21600"/>
                    </a:lnTo>
                    <a:close/>
                  </a:path>
                </a:pathLst>
              </a:custGeom>
              <a:solidFill>
                <a:srgbClr val="FFFFFF"/>
              </a:solidFill>
              <a:ln w="12700" cap="flat">
                <a:noFill/>
                <a:miter lim="400000"/>
                <a:tailEnd type="triangle" w="med" len="med"/>
              </a:ln>
              <a:effectLst/>
            </p:spPr>
            <p:txBody>
              <a:bodyPr wrap="square" lIns="45719" tIns="45719" rIns="45719" bIns="45719" numCol="1" anchor="t">
                <a:noAutofit/>
              </a:bodyPr>
              <a:p/>
            </p:txBody>
          </p:sp>
          <p:sp>
            <p:nvSpPr>
              <p:cNvPr id="66" name="PA-形状"/>
              <p:cNvSpPr/>
              <p:nvPr>
                <p:custDataLst>
                  <p:tags r:id="rId26"/>
                </p:custDataLst>
              </p:nvPr>
            </p:nvSpPr>
            <p:spPr>
              <a:xfrm>
                <a:off x="8950325" y="4725035"/>
                <a:ext cx="66675" cy="66040"/>
              </a:xfrm>
              <a:custGeom>
                <a:avLst/>
                <a:gdLst/>
                <a:ahLst/>
                <a:cxnLst>
                  <a:cxn ang="0">
                    <a:pos x="wd2" y="hd2"/>
                  </a:cxn>
                  <a:cxn ang="5400000">
                    <a:pos x="wd2" y="hd2"/>
                  </a:cxn>
                  <a:cxn ang="10800000">
                    <a:pos x="wd2" y="hd2"/>
                  </a:cxn>
                  <a:cxn ang="16200000">
                    <a:pos x="wd2" y="hd2"/>
                  </a:cxn>
                </a:cxnLst>
                <a:rect l="0" t="0" r="r" b="b"/>
                <a:pathLst>
                  <a:path w="20723" h="20723" extrusionOk="0">
                    <a:moveTo>
                      <a:pt x="20647" y="12247"/>
                    </a:moveTo>
                    <a:cubicBezTo>
                      <a:pt x="17447" y="3047"/>
                      <a:pt x="17447" y="3047"/>
                      <a:pt x="17447" y="3047"/>
                    </a:cubicBezTo>
                    <a:cubicBezTo>
                      <a:pt x="16647" y="647"/>
                      <a:pt x="14647" y="-553"/>
                      <a:pt x="12247" y="247"/>
                    </a:cubicBezTo>
                    <a:cubicBezTo>
                      <a:pt x="3047" y="3047"/>
                      <a:pt x="3047" y="3047"/>
                      <a:pt x="3047" y="3047"/>
                    </a:cubicBezTo>
                    <a:cubicBezTo>
                      <a:pt x="647" y="3847"/>
                      <a:pt x="-553" y="6247"/>
                      <a:pt x="247" y="8647"/>
                    </a:cubicBezTo>
                    <a:cubicBezTo>
                      <a:pt x="3047" y="17847"/>
                      <a:pt x="3047" y="17847"/>
                      <a:pt x="3047" y="17847"/>
                    </a:cubicBezTo>
                    <a:cubicBezTo>
                      <a:pt x="3847" y="19847"/>
                      <a:pt x="6247" y="21047"/>
                      <a:pt x="8647" y="20647"/>
                    </a:cubicBezTo>
                    <a:cubicBezTo>
                      <a:pt x="17847" y="17447"/>
                      <a:pt x="17847" y="17447"/>
                      <a:pt x="17847" y="17447"/>
                    </a:cubicBezTo>
                    <a:cubicBezTo>
                      <a:pt x="19847" y="16647"/>
                      <a:pt x="21047" y="14247"/>
                      <a:pt x="20647" y="12247"/>
                    </a:cubicBezTo>
                    <a:close/>
                  </a:path>
                </a:pathLst>
              </a:custGeom>
              <a:solidFill>
                <a:srgbClr val="1C657D"/>
              </a:solidFill>
              <a:ln w="12700" cap="flat">
                <a:noFill/>
                <a:miter lim="400000"/>
                <a:tailEnd type="triangle" w="med" len="med"/>
              </a:ln>
              <a:effectLst/>
            </p:spPr>
            <p:txBody>
              <a:bodyPr wrap="square" lIns="45719" tIns="45719" rIns="45719" bIns="45719" numCol="1" anchor="t">
                <a:noAutofit/>
              </a:bodyPr>
              <a:p/>
            </p:txBody>
          </p:sp>
          <p:sp>
            <p:nvSpPr>
              <p:cNvPr id="67" name="PA-形状"/>
              <p:cNvSpPr/>
              <p:nvPr>
                <p:custDataLst>
                  <p:tags r:id="rId27"/>
                </p:custDataLst>
              </p:nvPr>
            </p:nvSpPr>
            <p:spPr>
              <a:xfrm>
                <a:off x="8744585" y="4789170"/>
                <a:ext cx="227965" cy="393700"/>
              </a:xfrm>
              <a:custGeom>
                <a:avLst/>
                <a:gdLst/>
                <a:ahLst/>
                <a:cxnLst>
                  <a:cxn ang="0">
                    <a:pos x="wd2" y="hd2"/>
                  </a:cxn>
                  <a:cxn ang="5400000">
                    <a:pos x="wd2" y="hd2"/>
                  </a:cxn>
                  <a:cxn ang="10800000">
                    <a:pos x="wd2" y="hd2"/>
                  </a:cxn>
                  <a:cxn ang="16200000">
                    <a:pos x="wd2" y="hd2"/>
                  </a:cxn>
                </a:cxnLst>
                <a:rect l="0" t="0" r="r" b="b"/>
                <a:pathLst>
                  <a:path w="21490" h="21364" extrusionOk="0">
                    <a:moveTo>
                      <a:pt x="20265" y="127"/>
                    </a:moveTo>
                    <a:cubicBezTo>
                      <a:pt x="121" y="15107"/>
                      <a:pt x="121" y="15107"/>
                      <a:pt x="121" y="15107"/>
                    </a:cubicBezTo>
                    <a:cubicBezTo>
                      <a:pt x="0" y="15247"/>
                      <a:pt x="0" y="15316"/>
                      <a:pt x="0" y="15386"/>
                    </a:cubicBezTo>
                    <a:cubicBezTo>
                      <a:pt x="1699" y="21030"/>
                      <a:pt x="1699" y="21030"/>
                      <a:pt x="1699" y="21030"/>
                    </a:cubicBezTo>
                    <a:cubicBezTo>
                      <a:pt x="1820" y="21309"/>
                      <a:pt x="2184" y="21448"/>
                      <a:pt x="2548" y="21309"/>
                    </a:cubicBezTo>
                    <a:cubicBezTo>
                      <a:pt x="12013" y="18940"/>
                      <a:pt x="12013" y="18940"/>
                      <a:pt x="12013" y="18940"/>
                    </a:cubicBezTo>
                    <a:cubicBezTo>
                      <a:pt x="12135" y="18940"/>
                      <a:pt x="12256" y="18800"/>
                      <a:pt x="12378" y="18731"/>
                    </a:cubicBezTo>
                    <a:cubicBezTo>
                      <a:pt x="21479" y="475"/>
                      <a:pt x="21479" y="475"/>
                      <a:pt x="21479" y="475"/>
                    </a:cubicBezTo>
                    <a:cubicBezTo>
                      <a:pt x="21600" y="57"/>
                      <a:pt x="20751" y="-152"/>
                      <a:pt x="20265" y="127"/>
                    </a:cubicBezTo>
                    <a:close/>
                  </a:path>
                </a:pathLst>
              </a:custGeom>
              <a:solidFill>
                <a:srgbClr val="1C657D"/>
              </a:solidFill>
              <a:ln w="12700" cap="flat">
                <a:noFill/>
                <a:miter lim="400000"/>
                <a:tailEnd type="triangle" w="med" len="med"/>
              </a:ln>
              <a:effectLst/>
            </p:spPr>
            <p:txBody>
              <a:bodyPr wrap="square" lIns="45719" tIns="45719" rIns="45719" bIns="45719" numCol="1" anchor="t">
                <a:noAutofit/>
              </a:bodyPr>
              <a:p/>
            </p:txBody>
          </p:sp>
          <p:sp>
            <p:nvSpPr>
              <p:cNvPr id="68" name="PA-形状"/>
              <p:cNvSpPr/>
              <p:nvPr>
                <p:custDataLst>
                  <p:tags r:id="rId28"/>
                </p:custDataLst>
              </p:nvPr>
            </p:nvSpPr>
            <p:spPr>
              <a:xfrm>
                <a:off x="8883650" y="4284980"/>
                <a:ext cx="520065" cy="524510"/>
              </a:xfrm>
              <a:custGeom>
                <a:avLst/>
                <a:gdLst/>
                <a:ahLst/>
                <a:cxnLst>
                  <a:cxn ang="0">
                    <a:pos x="wd2" y="hd2"/>
                  </a:cxn>
                  <a:cxn ang="5400000">
                    <a:pos x="wd2" y="hd2"/>
                  </a:cxn>
                  <a:cxn ang="10800000">
                    <a:pos x="wd2" y="hd2"/>
                  </a:cxn>
                  <a:cxn ang="16200000">
                    <a:pos x="wd2" y="hd2"/>
                  </a:cxn>
                </a:cxnLst>
                <a:rect l="0" t="0" r="r" b="b"/>
                <a:pathLst>
                  <a:path w="20911" h="20934" extrusionOk="0">
                    <a:moveTo>
                      <a:pt x="6132" y="0"/>
                    </a:moveTo>
                    <a:cubicBezTo>
                      <a:pt x="551" y="10826"/>
                      <a:pt x="551" y="10826"/>
                      <a:pt x="551" y="10826"/>
                    </a:cubicBezTo>
                    <a:cubicBezTo>
                      <a:pt x="-689" y="13134"/>
                      <a:pt x="241" y="16008"/>
                      <a:pt x="2567" y="17188"/>
                    </a:cubicBezTo>
                    <a:cubicBezTo>
                      <a:pt x="8871" y="20420"/>
                      <a:pt x="8871" y="20420"/>
                      <a:pt x="8871" y="20420"/>
                    </a:cubicBezTo>
                    <a:cubicBezTo>
                      <a:pt x="11196" y="21600"/>
                      <a:pt x="14090" y="20676"/>
                      <a:pt x="15278" y="18368"/>
                    </a:cubicBezTo>
                    <a:cubicBezTo>
                      <a:pt x="20911" y="7542"/>
                      <a:pt x="20911" y="7542"/>
                      <a:pt x="20911" y="7542"/>
                    </a:cubicBezTo>
                    <a:lnTo>
                      <a:pt x="6132" y="0"/>
                    </a:lnTo>
                    <a:close/>
                  </a:path>
                </a:pathLst>
              </a:custGeom>
              <a:solidFill>
                <a:srgbClr val="FDCF94"/>
              </a:solidFill>
              <a:ln w="12700" cap="flat">
                <a:noFill/>
                <a:miter lim="400000"/>
                <a:tailEnd type="triangle" w="med" len="med"/>
              </a:ln>
              <a:effectLst/>
            </p:spPr>
            <p:txBody>
              <a:bodyPr wrap="square" lIns="45719" tIns="45719" rIns="45719" bIns="45719" numCol="1" anchor="t">
                <a:noAutofit/>
              </a:bodyPr>
              <a:p/>
            </p:txBody>
          </p:sp>
          <p:sp>
            <p:nvSpPr>
              <p:cNvPr id="69" name="PA-形状"/>
              <p:cNvSpPr/>
              <p:nvPr>
                <p:custDataLst>
                  <p:tags r:id="rId29"/>
                </p:custDataLst>
              </p:nvPr>
            </p:nvSpPr>
            <p:spPr>
              <a:xfrm>
                <a:off x="8993505" y="4168140"/>
                <a:ext cx="417195" cy="368300"/>
              </a:xfrm>
              <a:custGeom>
                <a:avLst/>
                <a:gdLst/>
                <a:ahLst/>
                <a:cxnLst>
                  <a:cxn ang="0">
                    <a:pos x="wd2" y="hd2"/>
                  </a:cxn>
                  <a:cxn ang="5400000">
                    <a:pos x="wd2" y="hd2"/>
                  </a:cxn>
                  <a:cxn ang="10800000">
                    <a:pos x="wd2" y="hd2"/>
                  </a:cxn>
                  <a:cxn ang="16200000">
                    <a:pos x="wd2" y="hd2"/>
                  </a:cxn>
                </a:cxnLst>
                <a:rect l="0" t="0" r="r" b="b"/>
                <a:pathLst>
                  <a:path w="20524" h="20992" extrusionOk="0">
                    <a:moveTo>
                      <a:pt x="18473" y="12008"/>
                    </a:moveTo>
                    <a:cubicBezTo>
                      <a:pt x="5651" y="4320"/>
                      <a:pt x="5651" y="4320"/>
                      <a:pt x="5651" y="4320"/>
                    </a:cubicBezTo>
                    <a:cubicBezTo>
                      <a:pt x="3946" y="2929"/>
                      <a:pt x="3062" y="1172"/>
                      <a:pt x="3567" y="0"/>
                    </a:cubicBezTo>
                    <a:cubicBezTo>
                      <a:pt x="2494" y="2489"/>
                      <a:pt x="2494" y="2489"/>
                      <a:pt x="2494" y="2489"/>
                    </a:cubicBezTo>
                    <a:cubicBezTo>
                      <a:pt x="409" y="7102"/>
                      <a:pt x="409" y="7102"/>
                      <a:pt x="409" y="7102"/>
                    </a:cubicBezTo>
                    <a:cubicBezTo>
                      <a:pt x="-538" y="9226"/>
                      <a:pt x="220" y="11862"/>
                      <a:pt x="2051" y="12960"/>
                    </a:cubicBezTo>
                    <a:cubicBezTo>
                      <a:pt x="14683" y="20502"/>
                      <a:pt x="14683" y="20502"/>
                      <a:pt x="14683" y="20502"/>
                    </a:cubicBezTo>
                    <a:cubicBezTo>
                      <a:pt x="16578" y="21600"/>
                      <a:pt x="18851" y="20795"/>
                      <a:pt x="19799" y="18671"/>
                    </a:cubicBezTo>
                    <a:cubicBezTo>
                      <a:pt x="20115" y="17866"/>
                      <a:pt x="20115" y="17866"/>
                      <a:pt x="20115" y="17866"/>
                    </a:cubicBezTo>
                    <a:cubicBezTo>
                      <a:pt x="21062" y="15742"/>
                      <a:pt x="20304" y="13106"/>
                      <a:pt x="18473" y="12008"/>
                    </a:cubicBezTo>
                    <a:close/>
                  </a:path>
                </a:pathLst>
              </a:custGeom>
              <a:solidFill>
                <a:srgbClr val="3F4C62"/>
              </a:solidFill>
              <a:ln w="12700" cap="flat">
                <a:noFill/>
                <a:miter lim="400000"/>
                <a:tailEnd type="triangle" w="med" len="med"/>
              </a:ln>
              <a:effectLst/>
            </p:spPr>
            <p:txBody>
              <a:bodyPr wrap="square" lIns="45719" tIns="45719" rIns="45719" bIns="45719" numCol="1" anchor="t">
                <a:noAutofit/>
              </a:bodyPr>
              <a:p/>
            </p:txBody>
          </p:sp>
          <p:sp>
            <p:nvSpPr>
              <p:cNvPr id="70" name="PA-形状"/>
              <p:cNvSpPr/>
              <p:nvPr>
                <p:custDataLst>
                  <p:tags r:id="rId30"/>
                </p:custDataLst>
              </p:nvPr>
            </p:nvSpPr>
            <p:spPr>
              <a:xfrm>
                <a:off x="9195435" y="4538345"/>
                <a:ext cx="39370" cy="38735"/>
              </a:xfrm>
              <a:custGeom>
                <a:avLst/>
                <a:gdLst/>
                <a:ahLst/>
                <a:cxnLst>
                  <a:cxn ang="0">
                    <a:pos x="wd2" y="hd2"/>
                  </a:cxn>
                  <a:cxn ang="5400000">
                    <a:pos x="wd2" y="hd2"/>
                  </a:cxn>
                  <a:cxn ang="10800000">
                    <a:pos x="wd2" y="hd2"/>
                  </a:cxn>
                  <a:cxn ang="16200000">
                    <a:pos x="wd2" y="hd2"/>
                  </a:cxn>
                </a:cxnLst>
                <a:rect l="0" t="0" r="r" b="b"/>
                <a:pathLst>
                  <a:path w="18857" h="18857" extrusionOk="0">
                    <a:moveTo>
                      <a:pt x="1089" y="4808"/>
                    </a:moveTo>
                    <a:cubicBezTo>
                      <a:pt x="-1380" y="9746"/>
                      <a:pt x="471" y="15300"/>
                      <a:pt x="5409" y="17768"/>
                    </a:cubicBezTo>
                    <a:cubicBezTo>
                      <a:pt x="9729" y="20237"/>
                      <a:pt x="15900" y="18386"/>
                      <a:pt x="17751" y="13448"/>
                    </a:cubicBezTo>
                    <a:cubicBezTo>
                      <a:pt x="20220" y="9128"/>
                      <a:pt x="18369" y="2957"/>
                      <a:pt x="14049" y="1106"/>
                    </a:cubicBezTo>
                    <a:cubicBezTo>
                      <a:pt x="9111" y="-1363"/>
                      <a:pt x="3557" y="488"/>
                      <a:pt x="1089" y="4808"/>
                    </a:cubicBezTo>
                    <a:close/>
                  </a:path>
                </a:pathLst>
              </a:custGeom>
              <a:solidFill>
                <a:srgbClr val="3F4C62"/>
              </a:solidFill>
              <a:ln w="12700" cap="flat">
                <a:noFill/>
                <a:miter lim="400000"/>
                <a:tailEnd type="triangle" w="med" len="med"/>
              </a:ln>
              <a:effectLst/>
            </p:spPr>
            <p:txBody>
              <a:bodyPr wrap="square" lIns="45719" tIns="45719" rIns="45719" bIns="45719" numCol="1" anchor="t">
                <a:noAutofit/>
              </a:bodyPr>
              <a:p/>
            </p:txBody>
          </p:sp>
          <p:sp>
            <p:nvSpPr>
              <p:cNvPr id="71" name="PA-形状"/>
              <p:cNvSpPr/>
              <p:nvPr>
                <p:custDataLst>
                  <p:tags r:id="rId31"/>
                </p:custDataLst>
              </p:nvPr>
            </p:nvSpPr>
            <p:spPr>
              <a:xfrm>
                <a:off x="9036050" y="4456430"/>
                <a:ext cx="39370" cy="38735"/>
              </a:xfrm>
              <a:custGeom>
                <a:avLst/>
                <a:gdLst/>
                <a:ahLst/>
                <a:cxnLst>
                  <a:cxn ang="0">
                    <a:pos x="wd2" y="hd2"/>
                  </a:cxn>
                  <a:cxn ang="5400000">
                    <a:pos x="wd2" y="hd2"/>
                  </a:cxn>
                  <a:cxn ang="10800000">
                    <a:pos x="wd2" y="hd2"/>
                  </a:cxn>
                  <a:cxn ang="16200000">
                    <a:pos x="wd2" y="hd2"/>
                  </a:cxn>
                </a:cxnLst>
                <a:rect l="0" t="0" r="r" b="b"/>
                <a:pathLst>
                  <a:path w="18857" h="18857" extrusionOk="0">
                    <a:moveTo>
                      <a:pt x="1089" y="4808"/>
                    </a:moveTo>
                    <a:cubicBezTo>
                      <a:pt x="-1380" y="9746"/>
                      <a:pt x="471" y="15300"/>
                      <a:pt x="5409" y="17768"/>
                    </a:cubicBezTo>
                    <a:cubicBezTo>
                      <a:pt x="9729" y="20237"/>
                      <a:pt x="15283" y="18386"/>
                      <a:pt x="17751" y="13448"/>
                    </a:cubicBezTo>
                    <a:cubicBezTo>
                      <a:pt x="20220" y="9128"/>
                      <a:pt x="18369" y="3574"/>
                      <a:pt x="14049" y="1106"/>
                    </a:cubicBezTo>
                    <a:cubicBezTo>
                      <a:pt x="9111" y="-1363"/>
                      <a:pt x="3557" y="488"/>
                      <a:pt x="1089" y="4808"/>
                    </a:cubicBezTo>
                    <a:close/>
                  </a:path>
                </a:pathLst>
              </a:custGeom>
              <a:solidFill>
                <a:srgbClr val="3F4C62"/>
              </a:solidFill>
              <a:ln w="12700" cap="flat">
                <a:noFill/>
                <a:miter lim="400000"/>
                <a:tailEnd type="triangle" w="med" len="med"/>
              </a:ln>
              <a:effectLst/>
            </p:spPr>
            <p:txBody>
              <a:bodyPr wrap="square" lIns="45719" tIns="45719" rIns="45719" bIns="45719" numCol="1" anchor="t">
                <a:noAutofit/>
              </a:bodyPr>
              <a:p/>
            </p:txBody>
          </p:sp>
          <p:sp>
            <p:nvSpPr>
              <p:cNvPr id="72" name="PA-形状"/>
              <p:cNvSpPr/>
              <p:nvPr>
                <p:custDataLst>
                  <p:tags r:id="rId32"/>
                </p:custDataLst>
              </p:nvPr>
            </p:nvSpPr>
            <p:spPr>
              <a:xfrm>
                <a:off x="9301480" y="4435475"/>
                <a:ext cx="182245" cy="248920"/>
              </a:xfrm>
              <a:custGeom>
                <a:avLst/>
                <a:gdLst/>
                <a:ahLst/>
                <a:cxnLst>
                  <a:cxn ang="0">
                    <a:pos x="wd2" y="hd2"/>
                  </a:cxn>
                  <a:cxn ang="5400000">
                    <a:pos x="wd2" y="hd2"/>
                  </a:cxn>
                  <a:cxn ang="10800000">
                    <a:pos x="wd2" y="hd2"/>
                  </a:cxn>
                  <a:cxn ang="16200000">
                    <a:pos x="wd2" y="hd2"/>
                  </a:cxn>
                </a:cxnLst>
                <a:rect l="0" t="0" r="r" b="b"/>
                <a:pathLst>
                  <a:path w="20313" h="20535" extrusionOk="0">
                    <a:moveTo>
                      <a:pt x="17667" y="1055"/>
                    </a:moveTo>
                    <a:cubicBezTo>
                      <a:pt x="15950" y="420"/>
                      <a:pt x="15950" y="420"/>
                      <a:pt x="15950" y="420"/>
                    </a:cubicBezTo>
                    <a:cubicBezTo>
                      <a:pt x="13519" y="-533"/>
                      <a:pt x="10658" y="208"/>
                      <a:pt x="9370" y="1902"/>
                    </a:cubicBezTo>
                    <a:cubicBezTo>
                      <a:pt x="501" y="14608"/>
                      <a:pt x="501" y="14608"/>
                      <a:pt x="501" y="14608"/>
                    </a:cubicBezTo>
                    <a:cubicBezTo>
                      <a:pt x="-643" y="16408"/>
                      <a:pt x="215" y="18526"/>
                      <a:pt x="2647" y="19479"/>
                    </a:cubicBezTo>
                    <a:cubicBezTo>
                      <a:pt x="4507" y="20114"/>
                      <a:pt x="4507" y="20114"/>
                      <a:pt x="4507" y="20114"/>
                    </a:cubicBezTo>
                    <a:cubicBezTo>
                      <a:pt x="6795" y="21067"/>
                      <a:pt x="9799" y="20326"/>
                      <a:pt x="10944" y="18632"/>
                    </a:cubicBezTo>
                    <a:cubicBezTo>
                      <a:pt x="19813" y="5926"/>
                      <a:pt x="19813" y="5926"/>
                      <a:pt x="19813" y="5926"/>
                    </a:cubicBezTo>
                    <a:cubicBezTo>
                      <a:pt x="20957" y="4126"/>
                      <a:pt x="20099" y="2008"/>
                      <a:pt x="17667" y="1055"/>
                    </a:cubicBezTo>
                    <a:close/>
                  </a:path>
                </a:pathLst>
              </a:custGeom>
              <a:solidFill>
                <a:srgbClr val="3F4C62"/>
              </a:solidFill>
              <a:ln w="12700" cap="flat">
                <a:noFill/>
                <a:miter lim="400000"/>
                <a:tailEnd type="triangle" w="med" len="med"/>
              </a:ln>
              <a:effectLst/>
            </p:spPr>
            <p:txBody>
              <a:bodyPr wrap="square" lIns="45719" tIns="45719" rIns="45719" bIns="45719" numCol="1" anchor="t">
                <a:noAutofit/>
              </a:bodyPr>
              <a:p/>
            </p:txBody>
          </p:sp>
          <p:sp>
            <p:nvSpPr>
              <p:cNvPr id="73" name="PA-形状"/>
              <p:cNvSpPr/>
              <p:nvPr>
                <p:custDataLst>
                  <p:tags r:id="rId33"/>
                </p:custDataLst>
              </p:nvPr>
            </p:nvSpPr>
            <p:spPr>
              <a:xfrm>
                <a:off x="9275445" y="4610100"/>
                <a:ext cx="86360" cy="117475"/>
              </a:xfrm>
              <a:custGeom>
                <a:avLst/>
                <a:gdLst/>
                <a:ahLst/>
                <a:cxnLst>
                  <a:cxn ang="0">
                    <a:pos x="wd2" y="hd2"/>
                  </a:cxn>
                  <a:cxn ang="5400000">
                    <a:pos x="wd2" y="hd2"/>
                  </a:cxn>
                  <a:cxn ang="10800000">
                    <a:pos x="wd2" y="hd2"/>
                  </a:cxn>
                  <a:cxn ang="16200000">
                    <a:pos x="wd2" y="hd2"/>
                  </a:cxn>
                </a:cxnLst>
                <a:rect l="0" t="0" r="r" b="b"/>
                <a:pathLst>
                  <a:path w="20243" h="20343" extrusionOk="0">
                    <a:moveTo>
                      <a:pt x="17322" y="708"/>
                    </a:moveTo>
                    <a:cubicBezTo>
                      <a:pt x="16122" y="485"/>
                      <a:pt x="16122" y="485"/>
                      <a:pt x="16122" y="485"/>
                    </a:cubicBezTo>
                    <a:cubicBezTo>
                      <a:pt x="13422" y="-628"/>
                      <a:pt x="10122" y="263"/>
                      <a:pt x="8622" y="2267"/>
                    </a:cubicBezTo>
                    <a:cubicBezTo>
                      <a:pt x="522" y="13846"/>
                      <a:pt x="522" y="13846"/>
                      <a:pt x="522" y="13846"/>
                    </a:cubicBezTo>
                    <a:cubicBezTo>
                      <a:pt x="-678" y="15850"/>
                      <a:pt x="222" y="18523"/>
                      <a:pt x="2922" y="19413"/>
                    </a:cubicBezTo>
                    <a:cubicBezTo>
                      <a:pt x="4122" y="19859"/>
                      <a:pt x="4122" y="19859"/>
                      <a:pt x="4122" y="19859"/>
                    </a:cubicBezTo>
                    <a:cubicBezTo>
                      <a:pt x="6822" y="20972"/>
                      <a:pt x="10122" y="20081"/>
                      <a:pt x="11622" y="18077"/>
                    </a:cubicBezTo>
                    <a:cubicBezTo>
                      <a:pt x="19722" y="6498"/>
                      <a:pt x="19722" y="6498"/>
                      <a:pt x="19722" y="6498"/>
                    </a:cubicBezTo>
                    <a:cubicBezTo>
                      <a:pt x="20922" y="4271"/>
                      <a:pt x="20022" y="1821"/>
                      <a:pt x="17322" y="708"/>
                    </a:cubicBezTo>
                    <a:close/>
                  </a:path>
                </a:pathLst>
              </a:custGeom>
              <a:solidFill>
                <a:srgbClr val="FDCF94"/>
              </a:solidFill>
              <a:ln w="12700" cap="flat">
                <a:noFill/>
                <a:miter lim="400000"/>
                <a:tailEnd type="triangle" w="med" len="med"/>
              </a:ln>
              <a:effectLst/>
            </p:spPr>
            <p:txBody>
              <a:bodyPr wrap="square" lIns="45719" tIns="45719" rIns="45719" bIns="45719" numCol="1" anchor="t">
                <a:noAutofit/>
              </a:bodyPr>
              <a:p/>
            </p:txBody>
          </p:sp>
          <p:sp>
            <p:nvSpPr>
              <p:cNvPr id="74" name="PA-三角形"/>
              <p:cNvSpPr/>
              <p:nvPr>
                <p:custDataLst>
                  <p:tags r:id="rId34"/>
                </p:custDataLst>
              </p:nvPr>
            </p:nvSpPr>
            <p:spPr>
              <a:xfrm>
                <a:off x="8561070" y="4078605"/>
                <a:ext cx="36195" cy="254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lnTo>
                      <a:pt x="0" y="0"/>
                    </a:lnTo>
                    <a:close/>
                  </a:path>
                </a:pathLst>
              </a:custGeom>
              <a:solidFill>
                <a:srgbClr val="C0DCE6"/>
              </a:solidFill>
              <a:ln w="12700" cap="flat">
                <a:noFill/>
                <a:miter lim="400000"/>
                <a:tailEnd type="triangle" w="med" len="med"/>
              </a:ln>
              <a:effectLst/>
            </p:spPr>
            <p:txBody>
              <a:bodyPr wrap="square" lIns="45719" tIns="45719" rIns="45719" bIns="45719" numCol="1" anchor="t">
                <a:noAutofit/>
              </a:bodyPr>
              <a:p/>
            </p:txBody>
          </p:sp>
          <p:sp>
            <p:nvSpPr>
              <p:cNvPr id="75" name="PA-形状"/>
              <p:cNvSpPr/>
              <p:nvPr>
                <p:custDataLst>
                  <p:tags r:id="rId35"/>
                </p:custDataLst>
              </p:nvPr>
            </p:nvSpPr>
            <p:spPr>
              <a:xfrm>
                <a:off x="8504555" y="4870450"/>
                <a:ext cx="748030" cy="382905"/>
              </a:xfrm>
              <a:custGeom>
                <a:avLst/>
                <a:gdLst/>
                <a:ahLst/>
                <a:cxnLst>
                  <a:cxn ang="0">
                    <a:pos x="wd2" y="hd2"/>
                  </a:cxn>
                  <a:cxn ang="5400000">
                    <a:pos x="wd2" y="hd2"/>
                  </a:cxn>
                  <a:cxn ang="10800000">
                    <a:pos x="wd2" y="hd2"/>
                  </a:cxn>
                  <a:cxn ang="16200000">
                    <a:pos x="wd2" y="hd2"/>
                  </a:cxn>
                </a:cxnLst>
                <a:rect l="0" t="0" r="r" b="b"/>
                <a:pathLst>
                  <a:path w="21549" h="20766" extrusionOk="0">
                    <a:moveTo>
                      <a:pt x="21230" y="4141"/>
                    </a:moveTo>
                    <a:cubicBezTo>
                      <a:pt x="19048" y="11596"/>
                      <a:pt x="19048" y="11596"/>
                      <a:pt x="19048" y="11596"/>
                    </a:cubicBezTo>
                    <a:cubicBezTo>
                      <a:pt x="11947" y="19679"/>
                      <a:pt x="11947" y="19679"/>
                      <a:pt x="11947" y="19679"/>
                    </a:cubicBezTo>
                    <a:cubicBezTo>
                      <a:pt x="11096" y="20933"/>
                      <a:pt x="9912" y="21142"/>
                      <a:pt x="8988" y="20097"/>
                    </a:cubicBezTo>
                    <a:cubicBezTo>
                      <a:pt x="0" y="13617"/>
                      <a:pt x="0" y="13617"/>
                      <a:pt x="0" y="13617"/>
                    </a:cubicBezTo>
                    <a:cubicBezTo>
                      <a:pt x="2959" y="5047"/>
                      <a:pt x="2959" y="5047"/>
                      <a:pt x="2959" y="5047"/>
                    </a:cubicBezTo>
                    <a:cubicBezTo>
                      <a:pt x="10060" y="9854"/>
                      <a:pt x="10060" y="9854"/>
                      <a:pt x="10060" y="9854"/>
                    </a:cubicBezTo>
                    <a:cubicBezTo>
                      <a:pt x="18160" y="1075"/>
                      <a:pt x="18160" y="1075"/>
                      <a:pt x="18160" y="1075"/>
                    </a:cubicBezTo>
                    <a:cubicBezTo>
                      <a:pt x="19159" y="-458"/>
                      <a:pt x="20601" y="-319"/>
                      <a:pt x="21526" y="1284"/>
                    </a:cubicBezTo>
                    <a:cubicBezTo>
                      <a:pt x="21600" y="2190"/>
                      <a:pt x="21489" y="3165"/>
                      <a:pt x="21230" y="4141"/>
                    </a:cubicBezTo>
                    <a:close/>
                  </a:path>
                </a:pathLst>
              </a:custGeom>
              <a:solidFill>
                <a:srgbClr val="E2E3E4"/>
              </a:solidFill>
              <a:ln w="12700" cap="flat">
                <a:noFill/>
                <a:miter lim="400000"/>
                <a:tailEnd type="triangle" w="med" len="med"/>
              </a:ln>
              <a:effectLst/>
            </p:spPr>
            <p:txBody>
              <a:bodyPr wrap="square" lIns="45719" tIns="45719" rIns="45719" bIns="45719" numCol="1" anchor="t">
                <a:noAutofit/>
              </a:bodyPr>
              <a:p/>
            </p:txBody>
          </p:sp>
          <p:sp>
            <p:nvSpPr>
              <p:cNvPr id="76" name="PA-形状"/>
              <p:cNvSpPr/>
              <p:nvPr>
                <p:custDataLst>
                  <p:tags r:id="rId36"/>
                </p:custDataLst>
              </p:nvPr>
            </p:nvSpPr>
            <p:spPr>
              <a:xfrm>
                <a:off x="8437880" y="4827270"/>
                <a:ext cx="819785" cy="382905"/>
              </a:xfrm>
              <a:custGeom>
                <a:avLst/>
                <a:gdLst/>
                <a:ahLst/>
                <a:cxnLst>
                  <a:cxn ang="0">
                    <a:pos x="wd2" y="hd2"/>
                  </a:cxn>
                  <a:cxn ang="5400000">
                    <a:pos x="wd2" y="hd2"/>
                  </a:cxn>
                  <a:cxn ang="10800000">
                    <a:pos x="wd2" y="hd2"/>
                  </a:cxn>
                  <a:cxn ang="16200000">
                    <a:pos x="wd2" y="hd2"/>
                  </a:cxn>
                </a:cxnLst>
                <a:rect l="0" t="0" r="r" b="b"/>
                <a:pathLst>
                  <a:path w="21569" h="20639" extrusionOk="0">
                    <a:moveTo>
                      <a:pt x="10242" y="9757"/>
                    </a:moveTo>
                    <a:cubicBezTo>
                      <a:pt x="1623" y="3387"/>
                      <a:pt x="1623" y="3387"/>
                      <a:pt x="1623" y="3387"/>
                    </a:cubicBezTo>
                    <a:cubicBezTo>
                      <a:pt x="0" y="12734"/>
                      <a:pt x="0" y="12734"/>
                      <a:pt x="0" y="12734"/>
                    </a:cubicBezTo>
                    <a:cubicBezTo>
                      <a:pt x="9262" y="20003"/>
                      <a:pt x="9262" y="20003"/>
                      <a:pt x="9262" y="20003"/>
                    </a:cubicBezTo>
                    <a:cubicBezTo>
                      <a:pt x="10141" y="20972"/>
                      <a:pt x="11189" y="20834"/>
                      <a:pt x="11966" y="19587"/>
                    </a:cubicBezTo>
                    <a:cubicBezTo>
                      <a:pt x="20654" y="8787"/>
                      <a:pt x="20654" y="8787"/>
                      <a:pt x="20654" y="8787"/>
                    </a:cubicBezTo>
                    <a:cubicBezTo>
                      <a:pt x="21296" y="7749"/>
                      <a:pt x="21600" y="6226"/>
                      <a:pt x="21566" y="4703"/>
                    </a:cubicBezTo>
                    <a:cubicBezTo>
                      <a:pt x="21532" y="3664"/>
                      <a:pt x="21363" y="2695"/>
                      <a:pt x="21025" y="1864"/>
                    </a:cubicBezTo>
                    <a:cubicBezTo>
                      <a:pt x="20214" y="-282"/>
                      <a:pt x="18693" y="-628"/>
                      <a:pt x="17645" y="1103"/>
                    </a:cubicBezTo>
                    <a:lnTo>
                      <a:pt x="10242" y="9757"/>
                    </a:lnTo>
                    <a:close/>
                  </a:path>
                </a:pathLst>
              </a:custGeom>
              <a:solidFill>
                <a:srgbClr val="FFFFFF"/>
              </a:solidFill>
              <a:ln w="12700" cap="flat">
                <a:noFill/>
                <a:miter lim="400000"/>
                <a:tailEnd type="triangle" w="med" len="med"/>
              </a:ln>
              <a:effectLst/>
            </p:spPr>
            <p:txBody>
              <a:bodyPr wrap="square" lIns="45719" tIns="45719" rIns="45719" bIns="45719" numCol="1" anchor="t">
                <a:noAutofit/>
              </a:bodyPr>
              <a:p/>
            </p:txBody>
          </p:sp>
          <p:sp>
            <p:nvSpPr>
              <p:cNvPr id="77" name="PA-形状"/>
              <p:cNvSpPr/>
              <p:nvPr>
                <p:custDataLst>
                  <p:tags r:id="rId37"/>
                </p:custDataLst>
              </p:nvPr>
            </p:nvSpPr>
            <p:spPr>
              <a:xfrm>
                <a:off x="8326120" y="4867275"/>
                <a:ext cx="173355" cy="195580"/>
              </a:xfrm>
              <a:custGeom>
                <a:avLst/>
                <a:gdLst/>
                <a:ahLst/>
                <a:cxnLst>
                  <a:cxn ang="0">
                    <a:pos x="wd2" y="hd2"/>
                  </a:cxn>
                  <a:cxn ang="5400000">
                    <a:pos x="wd2" y="hd2"/>
                  </a:cxn>
                  <a:cxn ang="10800000">
                    <a:pos x="wd2" y="hd2"/>
                  </a:cxn>
                  <a:cxn ang="16200000">
                    <a:pos x="wd2" y="hd2"/>
                  </a:cxn>
                </a:cxnLst>
                <a:rect l="0" t="0" r="r" b="b"/>
                <a:pathLst>
                  <a:path w="20246" h="20389" extrusionOk="0">
                    <a:moveTo>
                      <a:pt x="14246" y="533"/>
                    </a:moveTo>
                    <a:cubicBezTo>
                      <a:pt x="8696" y="-1211"/>
                      <a:pt x="2546" y="1472"/>
                      <a:pt x="596" y="6436"/>
                    </a:cubicBezTo>
                    <a:cubicBezTo>
                      <a:pt x="-1354" y="11400"/>
                      <a:pt x="1646" y="16767"/>
                      <a:pt x="7196" y="18511"/>
                    </a:cubicBezTo>
                    <a:cubicBezTo>
                      <a:pt x="13196" y="20389"/>
                      <a:pt x="13196" y="20389"/>
                      <a:pt x="13196" y="20389"/>
                    </a:cubicBezTo>
                    <a:cubicBezTo>
                      <a:pt x="20246" y="2411"/>
                      <a:pt x="20246" y="2411"/>
                      <a:pt x="20246" y="2411"/>
                    </a:cubicBezTo>
                    <a:lnTo>
                      <a:pt x="14246" y="533"/>
                    </a:lnTo>
                    <a:close/>
                  </a:path>
                </a:pathLst>
              </a:custGeom>
              <a:solidFill>
                <a:srgbClr val="FDCF94"/>
              </a:solidFill>
              <a:ln w="12700" cap="flat">
                <a:noFill/>
                <a:miter lim="400000"/>
                <a:tailEnd type="triangle" w="med" len="med"/>
              </a:ln>
              <a:effectLst/>
            </p:spPr>
            <p:txBody>
              <a:bodyPr wrap="square" lIns="45719" tIns="45719" rIns="45719" bIns="45719" numCol="1" anchor="t">
                <a:noAutofit/>
              </a:bodyPr>
              <a:p/>
            </p:txBody>
          </p:sp>
        </p:grpSp>
      </p:grpSp>
      <p:grpSp>
        <p:nvGrpSpPr>
          <p:cNvPr id="117" name="组合 116"/>
          <p:cNvGrpSpPr/>
          <p:nvPr>
            <p:custDataLst>
              <p:tags r:id="rId38"/>
            </p:custDataLst>
          </p:nvPr>
        </p:nvGrpSpPr>
        <p:grpSpPr>
          <a:xfrm>
            <a:off x="1232535" y="895985"/>
            <a:ext cx="3810000" cy="3630930"/>
            <a:chOff x="1941" y="1411"/>
            <a:chExt cx="6000" cy="5718"/>
          </a:xfrm>
        </p:grpSpPr>
        <p:pic>
          <p:nvPicPr>
            <p:cNvPr id="98" name="PA-替换占位" descr="C:\Users\Administrator\AppData\Roaming\Kingsoft\office6\wpsassist\onlinetemplates\thumb\_partial_zoom_ori.png_partial_zoom_ori"/>
            <p:cNvPicPr>
              <a:picLocks noChangeAspect="1"/>
            </p:cNvPicPr>
            <p:nvPr>
              <p:custDataLst>
                <p:tags r:id="rId39"/>
              </p:custDataLst>
            </p:nvPr>
          </p:nvPicPr>
          <p:blipFill>
            <a:blip r:embed="rId5"/>
            <a:srcRect l="15029" t="20509" r="63565" b="41435"/>
            <a:stretch>
              <a:fillRect/>
            </a:stretch>
          </p:blipFill>
          <p:spPr>
            <a:xfrm>
              <a:off x="2894" y="2229"/>
              <a:ext cx="4367" cy="4367"/>
            </a:xfrm>
            <a:prstGeom prst="ellipse">
              <a:avLst/>
            </a:prstGeom>
            <a:ln>
              <a:noFill/>
            </a:ln>
          </p:spPr>
        </p:pic>
        <p:grpSp>
          <p:nvGrpSpPr>
            <p:cNvPr id="99" name="PA-组合 7"/>
            <p:cNvGrpSpPr/>
            <p:nvPr>
              <p:custDataLst>
                <p:tags r:id="rId40"/>
              </p:custDataLst>
            </p:nvPr>
          </p:nvGrpSpPr>
          <p:grpSpPr>
            <a:xfrm>
              <a:off x="2850" y="2183"/>
              <a:ext cx="4452" cy="4452"/>
              <a:chOff x="3711575" y="895985"/>
              <a:chExt cx="5401310" cy="5401310"/>
            </a:xfrm>
          </p:grpSpPr>
          <p:grpSp>
            <p:nvGrpSpPr>
              <p:cNvPr id="100" name="镜片组件"/>
              <p:cNvGrpSpPr>
                <a:grpSpLocks noChangeAspect="1"/>
              </p:cNvGrpSpPr>
              <p:nvPr/>
            </p:nvGrpSpPr>
            <p:grpSpPr>
              <a:xfrm>
                <a:off x="3876675" y="1061085"/>
                <a:ext cx="5071110" cy="5071110"/>
                <a:chOff x="5606" y="1406"/>
                <a:chExt cx="7986" cy="7986"/>
              </a:xfrm>
            </p:grpSpPr>
            <p:sp>
              <p:nvSpPr>
                <p:cNvPr id="101" name="PA-镜片光晕"/>
                <p:cNvSpPr>
                  <a:spLocks noChangeAspect="1"/>
                </p:cNvSpPr>
                <p:nvPr>
                  <p:custDataLst>
                    <p:tags r:id="rId41"/>
                  </p:custDataLst>
                </p:nvPr>
              </p:nvSpPr>
              <p:spPr>
                <a:xfrm>
                  <a:off x="5606" y="1406"/>
                  <a:ext cx="7987" cy="7987"/>
                </a:xfrm>
                <a:prstGeom prst="ellipse">
                  <a:avLst/>
                </a:prstGeom>
                <a:gradFill flip="none" rotWithShape="1">
                  <a:gsLst>
                    <a:gs pos="76000">
                      <a:schemeClr val="tx2">
                        <a:lumMod val="40000"/>
                        <a:lumOff val="60000"/>
                        <a:alpha val="0"/>
                      </a:schemeClr>
                    </a:gs>
                    <a:gs pos="94000">
                      <a:schemeClr val="tx2">
                        <a:lumMod val="60000"/>
                        <a:lumOff val="40000"/>
                        <a:alpha val="37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a:p>
              </p:txBody>
            </p:sp>
            <p:sp>
              <p:nvSpPr>
                <p:cNvPr id="102" name="PA-镜片反光"/>
                <p:cNvSpPr>
                  <a:spLocks noChangeAspect="1"/>
                </p:cNvSpPr>
                <p:nvPr>
                  <p:custDataLst>
                    <p:tags r:id="rId42"/>
                  </p:custDataLst>
                </p:nvPr>
              </p:nvSpPr>
              <p:spPr>
                <a:xfrm rot="18900000">
                  <a:off x="5606" y="1406"/>
                  <a:ext cx="7987" cy="7987"/>
                </a:xfrm>
                <a:prstGeom prst="ellipse">
                  <a:avLst/>
                </a:prstGeom>
                <a:gradFill flip="none" rotWithShape="1">
                  <a:gsLst>
                    <a:gs pos="66000">
                      <a:schemeClr val="bg1">
                        <a:lumMod val="65000"/>
                        <a:alpha val="0"/>
                      </a:schemeClr>
                    </a:gs>
                    <a:gs pos="100000">
                      <a:schemeClr val="bg1">
                        <a:lumMod val="75000"/>
                        <a:alpha val="70000"/>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a:p>
              </p:txBody>
            </p:sp>
            <p:sp>
              <p:nvSpPr>
                <p:cNvPr id="103" name="PA-镜片折光"/>
                <p:cNvSpPr>
                  <a:spLocks noChangeAspect="1"/>
                </p:cNvSpPr>
                <p:nvPr>
                  <p:custDataLst>
                    <p:tags r:id="rId43"/>
                  </p:custDataLst>
                </p:nvPr>
              </p:nvSpPr>
              <p:spPr>
                <a:xfrm>
                  <a:off x="5606" y="1406"/>
                  <a:ext cx="7987" cy="7987"/>
                </a:xfrm>
                <a:prstGeom prst="donut">
                  <a:avLst>
                    <a:gd name="adj" fmla="val 3142"/>
                  </a:avLst>
                </a:prstGeom>
                <a:solidFill>
                  <a:schemeClr val="bg1">
                    <a:lumMod val="65000"/>
                    <a:alpha val="20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a:p>
              </p:txBody>
            </p:sp>
            <p:sp>
              <p:nvSpPr>
                <p:cNvPr id="104" name="PA-镜片边"/>
                <p:cNvSpPr>
                  <a:spLocks noChangeAspect="1"/>
                </p:cNvSpPr>
                <p:nvPr>
                  <p:custDataLst>
                    <p:tags r:id="rId44"/>
                  </p:custDataLst>
                </p:nvPr>
              </p:nvSpPr>
              <p:spPr>
                <a:xfrm>
                  <a:off x="5606" y="1406"/>
                  <a:ext cx="7987" cy="7987"/>
                </a:xfrm>
                <a:prstGeom prst="donut">
                  <a:avLst>
                    <a:gd name="adj" fmla="val 758"/>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a:solidFill>
                      <a:schemeClr val="tx1"/>
                    </a:solidFill>
                  </a:endParaRPr>
                </a:p>
              </p:txBody>
            </p:sp>
            <p:sp>
              <p:nvSpPr>
                <p:cNvPr id="105" name="PA-高光"/>
                <p:cNvSpPr>
                  <a:spLocks noChangeAspect="1"/>
                </p:cNvSpPr>
                <p:nvPr>
                  <p:custDataLst>
                    <p:tags r:id="rId45"/>
                  </p:custDataLst>
                </p:nvPr>
              </p:nvSpPr>
              <p:spPr>
                <a:xfrm>
                  <a:off x="7639" y="1557"/>
                  <a:ext cx="3922" cy="2642"/>
                </a:xfrm>
                <a:prstGeom prst="ellipse">
                  <a:avLst/>
                </a:prstGeom>
                <a:gradFill>
                  <a:gsLst>
                    <a:gs pos="0">
                      <a:schemeClr val="bg1">
                        <a:lumMod val="95000"/>
                        <a:alpha val="100000"/>
                      </a:schemeClr>
                    </a:gs>
                    <a:gs pos="66000">
                      <a:srgbClr val="F2F2F2">
                        <a:alpha val="10000"/>
                      </a:srgbClr>
                    </a:gs>
                    <a:gs pos="40000">
                      <a:schemeClr val="bg1">
                        <a:lumMod val="95000"/>
                        <a:alpha val="40000"/>
                      </a:schemeClr>
                    </a:gs>
                    <a:gs pos="100000">
                      <a:schemeClr val="bg1">
                        <a:lumMod val="95000"/>
                        <a:alpha val="0"/>
                      </a:schemeClr>
                    </a:gs>
                  </a:gsLst>
                  <a:lin ang="5400000" scaled="0"/>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a:p>
              </p:txBody>
            </p:sp>
          </p:grpSp>
          <p:grpSp>
            <p:nvGrpSpPr>
              <p:cNvPr id="106" name="镜框组件"/>
              <p:cNvGrpSpPr>
                <a:grpSpLocks noChangeAspect="1"/>
              </p:cNvGrpSpPr>
              <p:nvPr/>
            </p:nvGrpSpPr>
            <p:grpSpPr>
              <a:xfrm>
                <a:off x="3711575" y="895985"/>
                <a:ext cx="5401310" cy="5401310"/>
                <a:chOff x="5347" y="1147"/>
                <a:chExt cx="8506" cy="8506"/>
              </a:xfrm>
              <a:effectLst>
                <a:outerShdw blurRad="177800" sx="92000" sy="92000" algn="ctr" rotWithShape="0">
                  <a:prstClr val="black">
                    <a:alpha val="20000"/>
                  </a:prstClr>
                </a:outerShdw>
              </a:effectLst>
            </p:grpSpPr>
            <p:sp>
              <p:nvSpPr>
                <p:cNvPr id="107" name="PA-镜框内"/>
                <p:cNvSpPr>
                  <a:spLocks noChangeAspect="1"/>
                </p:cNvSpPr>
                <p:nvPr>
                  <p:custDataLst>
                    <p:tags r:id="rId46"/>
                  </p:custDataLst>
                </p:nvPr>
              </p:nvSpPr>
              <p:spPr>
                <a:xfrm>
                  <a:off x="5347" y="1147"/>
                  <a:ext cx="8506" cy="8506"/>
                </a:xfrm>
                <a:prstGeom prst="donut">
                  <a:avLst>
                    <a:gd name="adj" fmla="val 3463"/>
                  </a:avLst>
                </a:prstGeom>
                <a:gradFill flip="none" rotWithShape="1">
                  <a:gsLst>
                    <a:gs pos="0">
                      <a:schemeClr val="tx2"/>
                    </a:gs>
                    <a:gs pos="24000">
                      <a:schemeClr val="tx2">
                        <a:lumMod val="60000"/>
                        <a:lumOff val="40000"/>
                      </a:schemeClr>
                    </a:gs>
                    <a:gs pos="84000">
                      <a:schemeClr val="tx2">
                        <a:lumMod val="50000"/>
                      </a:schemeClr>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8" name="PA-镜框外"/>
                <p:cNvSpPr>
                  <a:spLocks noChangeAspect="1"/>
                </p:cNvSpPr>
                <p:nvPr>
                  <p:custDataLst>
                    <p:tags r:id="rId47"/>
                  </p:custDataLst>
                </p:nvPr>
              </p:nvSpPr>
              <p:spPr>
                <a:xfrm>
                  <a:off x="5347" y="1147"/>
                  <a:ext cx="8506" cy="8506"/>
                </a:xfrm>
                <a:prstGeom prst="donut">
                  <a:avLst>
                    <a:gd name="adj" fmla="val 1696"/>
                  </a:avLst>
                </a:prstGeom>
                <a:gradFill flip="none" rotWithShape="1">
                  <a:gsLst>
                    <a:gs pos="0">
                      <a:schemeClr val="tx2"/>
                    </a:gs>
                    <a:gs pos="51000">
                      <a:schemeClr val="tx2">
                        <a:lumMod val="75000"/>
                      </a:schemeClr>
                    </a:gs>
                    <a:gs pos="75000">
                      <a:schemeClr val="tx2">
                        <a:lumMod val="50000"/>
                      </a:schemeClr>
                    </a:gs>
                  </a:gsLst>
                  <a:lin ang="3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9" name="PA-镜框顶"/>
                <p:cNvSpPr>
                  <a:spLocks noChangeAspect="1"/>
                </p:cNvSpPr>
                <p:nvPr>
                  <p:custDataLst>
                    <p:tags r:id="rId48"/>
                  </p:custDataLst>
                </p:nvPr>
              </p:nvSpPr>
              <p:spPr>
                <a:xfrm>
                  <a:off x="5436" y="1236"/>
                  <a:ext cx="8329" cy="8329"/>
                </a:xfrm>
                <a:prstGeom prst="donut">
                  <a:avLst>
                    <a:gd name="adj" fmla="val 1405"/>
                  </a:avLst>
                </a:prstGeom>
                <a:gradFill flip="none" rotWithShape="1">
                  <a:gsLst>
                    <a:gs pos="0">
                      <a:schemeClr val="tx2">
                        <a:lumMod val="60000"/>
                        <a:lumOff val="40000"/>
                      </a:schemeClr>
                    </a:gs>
                    <a:gs pos="51000">
                      <a:schemeClr val="tx2"/>
                    </a:gs>
                    <a:gs pos="100000">
                      <a:schemeClr val="tx2">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grpSp>
          <p:nvGrpSpPr>
            <p:cNvPr id="110" name="PA-组合 8"/>
            <p:cNvGrpSpPr/>
            <p:nvPr>
              <p:custDataLst>
                <p:tags r:id="rId49"/>
              </p:custDataLst>
            </p:nvPr>
          </p:nvGrpSpPr>
          <p:grpSpPr>
            <a:xfrm>
              <a:off x="1941" y="1411"/>
              <a:ext cx="6001" cy="5718"/>
              <a:chOff x="6833" y="2803"/>
              <a:chExt cx="4144" cy="4145"/>
            </a:xfrm>
          </p:grpSpPr>
          <p:grpSp>
            <p:nvGrpSpPr>
              <p:cNvPr id="111" name="组合 110"/>
              <p:cNvGrpSpPr/>
              <p:nvPr/>
            </p:nvGrpSpPr>
            <p:grpSpPr>
              <a:xfrm>
                <a:off x="6833" y="2803"/>
                <a:ext cx="4144" cy="4144"/>
                <a:chOff x="4209837" y="128588"/>
                <a:chExt cx="3980576" cy="3980576"/>
              </a:xfrm>
            </p:grpSpPr>
            <p:sp>
              <p:nvSpPr>
                <p:cNvPr id="112" name="PA-弧形 23"/>
                <p:cNvSpPr/>
                <p:nvPr>
                  <p:custDataLst>
                    <p:tags r:id="rId50"/>
                  </p:custDataLst>
                </p:nvPr>
              </p:nvSpPr>
              <p:spPr>
                <a:xfrm>
                  <a:off x="4209837" y="128588"/>
                  <a:ext cx="3980576" cy="3980576"/>
                </a:xfrm>
                <a:prstGeom prst="arc">
                  <a:avLst>
                    <a:gd name="adj1" fmla="val 18521281"/>
                    <a:gd name="adj2" fmla="val 19451945"/>
                  </a:avLst>
                </a:prstGeom>
                <a:ln w="63500" cap="rnd">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13" name="PA-弧形 11"/>
                <p:cNvSpPr/>
                <p:nvPr>
                  <p:custDataLst>
                    <p:tags r:id="rId51"/>
                  </p:custDataLst>
                </p:nvPr>
              </p:nvSpPr>
              <p:spPr>
                <a:xfrm>
                  <a:off x="4409862" y="328613"/>
                  <a:ext cx="3580526" cy="3580526"/>
                </a:xfrm>
                <a:prstGeom prst="arc">
                  <a:avLst>
                    <a:gd name="adj1" fmla="val 18254249"/>
                    <a:gd name="adj2" fmla="val 19717971"/>
                  </a:avLst>
                </a:prstGeom>
                <a:ln w="63500" cap="rnd">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grpSp>
            <p:nvGrpSpPr>
              <p:cNvPr id="114" name="组合 113"/>
              <p:cNvGrpSpPr/>
              <p:nvPr/>
            </p:nvGrpSpPr>
            <p:grpSpPr>
              <a:xfrm rot="10800000">
                <a:off x="6833" y="2804"/>
                <a:ext cx="4144" cy="4144"/>
                <a:chOff x="4209837" y="127130"/>
                <a:chExt cx="3980576" cy="3980576"/>
              </a:xfrm>
            </p:grpSpPr>
            <p:sp>
              <p:nvSpPr>
                <p:cNvPr id="115" name="PA-弧形 13"/>
                <p:cNvSpPr/>
                <p:nvPr>
                  <p:custDataLst>
                    <p:tags r:id="rId52"/>
                  </p:custDataLst>
                </p:nvPr>
              </p:nvSpPr>
              <p:spPr>
                <a:xfrm rot="10800000">
                  <a:off x="4209837" y="127130"/>
                  <a:ext cx="3980576" cy="3980576"/>
                </a:xfrm>
                <a:prstGeom prst="arc">
                  <a:avLst>
                    <a:gd name="adj1" fmla="val 7722652"/>
                    <a:gd name="adj2" fmla="val 8678271"/>
                  </a:avLst>
                </a:prstGeom>
                <a:ln w="63500" cap="rnd">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16" name="PA-弧形 28"/>
                <p:cNvSpPr/>
                <p:nvPr>
                  <p:custDataLst>
                    <p:tags r:id="rId53"/>
                  </p:custDataLst>
                </p:nvPr>
              </p:nvSpPr>
              <p:spPr>
                <a:xfrm rot="10800000">
                  <a:off x="4409862" y="328613"/>
                  <a:ext cx="3580526" cy="3580526"/>
                </a:xfrm>
                <a:prstGeom prst="arc">
                  <a:avLst>
                    <a:gd name="adj1" fmla="val 7490211"/>
                    <a:gd name="adj2" fmla="val 8860645"/>
                  </a:avLst>
                </a:prstGeom>
                <a:ln w="63500" cap="rnd">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grpSp>
      </p:grpSp>
    </p:spTree>
  </p:cSld>
  <p:clrMapOvr>
    <a:masterClrMapping/>
  </p:clrMapOvr>
  <p:transition spd="slow" advTm="3000">
    <p:push/>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形状 30"/>
          <p:cNvSpPr/>
          <p:nvPr/>
        </p:nvSpPr>
        <p:spPr>
          <a:xfrm>
            <a:off x="89535" y="121920"/>
            <a:ext cx="4678680" cy="784860"/>
          </a:xfrm>
          <a:custGeom>
            <a:avLst/>
            <a:gdLst>
              <a:gd name="connsiteX0" fmla="*/ 124918 w 1413447"/>
              <a:gd name="connsiteY0" fmla="*/ 0 h 535213"/>
              <a:gd name="connsiteX1" fmla="*/ 1413447 w 1413447"/>
              <a:gd name="connsiteY1" fmla="*/ 0 h 535213"/>
              <a:gd name="connsiteX2" fmla="*/ 1293066 w 1413447"/>
              <a:gd name="connsiteY2" fmla="*/ 515770 h 535213"/>
              <a:gd name="connsiteX3" fmla="*/ 1296954 w 1413447"/>
              <a:gd name="connsiteY3" fmla="*/ 499111 h 535213"/>
              <a:gd name="connsiteX4" fmla="*/ 1284655 w 1413447"/>
              <a:gd name="connsiteY4" fmla="*/ 517355 h 535213"/>
              <a:gd name="connsiteX5" fmla="*/ 1263549 w 1413447"/>
              <a:gd name="connsiteY5" fmla="*/ 531584 h 535213"/>
              <a:gd name="connsiteX6" fmla="*/ 1245575 w 1413447"/>
              <a:gd name="connsiteY6" fmla="*/ 535213 h 535213"/>
              <a:gd name="connsiteX7" fmla="*/ 74294 w 1413447"/>
              <a:gd name="connsiteY7" fmla="*/ 535213 h 535213"/>
              <a:gd name="connsiteX8" fmla="*/ 56319 w 1413447"/>
              <a:gd name="connsiteY8" fmla="*/ 531584 h 535213"/>
              <a:gd name="connsiteX9" fmla="*/ 15766 w 1413447"/>
              <a:gd name="connsiteY9" fmla="*/ 470404 h 535213"/>
              <a:gd name="connsiteX10" fmla="*/ 19864 w 1413447"/>
              <a:gd name="connsiteY10" fmla="*/ 450109 h 535213"/>
              <a:gd name="connsiteX11" fmla="*/ 0 w 1413447"/>
              <a:gd name="connsiteY11" fmla="*/ 535213 h 53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3447" h="535213">
                <a:moveTo>
                  <a:pt x="124918" y="0"/>
                </a:moveTo>
                <a:lnTo>
                  <a:pt x="1413447" y="0"/>
                </a:lnTo>
                <a:lnTo>
                  <a:pt x="1293066" y="515770"/>
                </a:lnTo>
                <a:lnTo>
                  <a:pt x="1296954" y="499111"/>
                </a:lnTo>
                <a:lnTo>
                  <a:pt x="1284655" y="517355"/>
                </a:lnTo>
                <a:cubicBezTo>
                  <a:pt x="1278647" y="523362"/>
                  <a:pt x="1271493" y="528224"/>
                  <a:pt x="1263549" y="531584"/>
                </a:cubicBezTo>
                <a:lnTo>
                  <a:pt x="1245575" y="535213"/>
                </a:lnTo>
                <a:lnTo>
                  <a:pt x="74294" y="535213"/>
                </a:lnTo>
                <a:lnTo>
                  <a:pt x="56319" y="531584"/>
                </a:lnTo>
                <a:cubicBezTo>
                  <a:pt x="32488" y="521505"/>
                  <a:pt x="15766" y="497907"/>
                  <a:pt x="15766" y="470404"/>
                </a:cubicBezTo>
                <a:lnTo>
                  <a:pt x="19864" y="450109"/>
                </a:lnTo>
                <a:lnTo>
                  <a:pt x="0" y="535213"/>
                </a:lnTo>
                <a:close/>
              </a:path>
            </a:pathLst>
          </a:custGeom>
          <a:solidFill>
            <a:srgbClr val="267CA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nSpc>
                <a:spcPct val="120000"/>
              </a:lnSpc>
            </a:pPr>
            <a:r>
              <a:rPr lang="en-US" altLang="zh-CN" sz="4000"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t> </a:t>
            </a:r>
            <a:r>
              <a:rPr lang="en-US" altLang="zh-CN" sz="1600"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t>半导体</a:t>
            </a:r>
            <a:r>
              <a:rPr lang="zh-CN" altLang="en-US" sz="1600"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t>产业分类图</a:t>
            </a:r>
            <a:endParaRPr lang="zh-CN" altLang="en-US" sz="1600"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pic>
        <p:nvPicPr>
          <p:cNvPr id="2" name="图片 1"/>
          <p:cNvPicPr>
            <a:picLocks noChangeAspect="1"/>
          </p:cNvPicPr>
          <p:nvPr/>
        </p:nvPicPr>
        <p:blipFill>
          <a:blip r:embed="rId1"/>
          <a:stretch>
            <a:fillRect/>
          </a:stretch>
        </p:blipFill>
        <p:spPr>
          <a:xfrm>
            <a:off x="10523220" y="48895"/>
            <a:ext cx="1668780" cy="1485900"/>
          </a:xfrm>
          <a:prstGeom prst="rect">
            <a:avLst/>
          </a:prstGeom>
        </p:spPr>
      </p:pic>
      <p:pic>
        <p:nvPicPr>
          <p:cNvPr id="3" name="图片 2"/>
          <p:cNvPicPr>
            <a:picLocks noChangeAspect="1"/>
          </p:cNvPicPr>
          <p:nvPr/>
        </p:nvPicPr>
        <p:blipFill>
          <a:blip r:embed="rId2"/>
          <a:stretch>
            <a:fillRect/>
          </a:stretch>
        </p:blipFill>
        <p:spPr>
          <a:xfrm>
            <a:off x="0" y="1105535"/>
            <a:ext cx="10788650" cy="5452110"/>
          </a:xfrm>
          <a:prstGeom prst="rect">
            <a:avLst/>
          </a:prstGeom>
        </p:spPr>
      </p:pic>
    </p:spTree>
  </p:cSld>
  <p:clrMapOvr>
    <a:masterClrMapping/>
  </p:clrMapOvr>
  <p:transition spd="slow" advTm="3000">
    <p:push/>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nvSpPr>
        <p:spPr>
          <a:xfrm>
            <a:off x="65405" y="609600"/>
            <a:ext cx="12126595" cy="5607050"/>
          </a:xfrm>
          <a:prstGeom prst="rect">
            <a:avLst/>
          </a:prstGeom>
          <a:noFill/>
        </p:spPr>
        <p:txBody>
          <a:bodyPr wrap="square" rtlCol="0">
            <a:spAutoFit/>
          </a:bodyPr>
          <a:lstStyle/>
          <a:p>
            <a:pPr>
              <a:lnSpc>
                <a:spcPct val="130000"/>
              </a:lnSpc>
            </a:pPr>
            <a:r>
              <a:rPr sz="1200" spc="130" dirty="0">
                <a:solidFill>
                  <a:schemeClr val="tx1"/>
                </a:solidFill>
                <a:latin typeface="Arial" panose="020B0604020202020204" pitchFamily="34" charset="0"/>
                <a:ea typeface="思源黑体 CN Bold"/>
                <a:sym typeface="华文细黑" panose="02010600040101010101" charset="-122"/>
              </a:rPr>
              <a:t>芯片，又称微电路（microcircuit）、微芯片（microchip）、集成电路（英语：integrated circuit, IC）</a:t>
            </a:r>
            <a:r>
              <a:rPr lang="zh-CN" sz="1200" spc="130" dirty="0">
                <a:solidFill>
                  <a:schemeClr val="tx1"/>
                </a:solidFill>
                <a:latin typeface="Arial" panose="020B0604020202020204" pitchFamily="34" charset="0"/>
                <a:ea typeface="思源黑体 CN Bold"/>
                <a:sym typeface="华文细黑" panose="02010600040101010101" charset="-122"/>
              </a:rPr>
              <a:t>，</a:t>
            </a:r>
            <a:r>
              <a:rPr sz="1200" spc="130" dirty="0">
                <a:solidFill>
                  <a:schemeClr val="tx1"/>
                </a:solidFill>
                <a:latin typeface="Arial" panose="020B0604020202020204" pitchFamily="34" charset="0"/>
                <a:ea typeface="思源黑体 CN Bold"/>
                <a:sym typeface="华文细黑" panose="02010600040101010101" charset="-122"/>
              </a:rPr>
              <a:t>是指内含集成电路的硅片，体积很小，常常是计算机或其他电子设备的一部分</a:t>
            </a:r>
            <a:r>
              <a:rPr lang="zh-CN" sz="1200" spc="130" dirty="0">
                <a:solidFill>
                  <a:schemeClr val="tx1"/>
                </a:solidFill>
                <a:latin typeface="Arial" panose="020B0604020202020204" pitchFamily="34" charset="0"/>
                <a:ea typeface="思源黑体 CN Bold"/>
                <a:sym typeface="华文细黑" panose="02010600040101010101" charset="-122"/>
              </a:rPr>
              <a:t>，</a:t>
            </a:r>
            <a:r>
              <a:rPr sz="1200" spc="130" dirty="0">
                <a:solidFill>
                  <a:schemeClr val="tx1"/>
                </a:solidFill>
                <a:latin typeface="Arial" panose="020B0604020202020204" pitchFamily="34" charset="0"/>
                <a:ea typeface="思源黑体 CN Bold"/>
                <a:sym typeface="华文细黑" panose="02010600040101010101" charset="-122"/>
              </a:rPr>
              <a:t>芯片一般是指集成电路的载体，也是集成电路经过 设计、制造、封装、测试后的结果，通常是一个可以立即使用的独立的整体。 </a:t>
            </a:r>
            <a:endParaRPr sz="1200" spc="130" dirty="0">
              <a:solidFill>
                <a:schemeClr val="tx1"/>
              </a:solidFill>
              <a:latin typeface="Arial" panose="020B0604020202020204" pitchFamily="34" charset="0"/>
              <a:ea typeface="思源黑体 CN Bold"/>
              <a:sym typeface="华文细黑" panose="02010600040101010101" charset="-122"/>
            </a:endParaRPr>
          </a:p>
          <a:p>
            <a:pPr>
              <a:lnSpc>
                <a:spcPct val="130000"/>
              </a:lnSpc>
            </a:pPr>
            <a:endParaRPr sz="1200" spc="130" dirty="0">
              <a:solidFill>
                <a:schemeClr val="tx1"/>
              </a:solidFill>
              <a:latin typeface="Arial" panose="020B0604020202020204" pitchFamily="34" charset="0"/>
              <a:ea typeface="思源黑体 CN Bold"/>
              <a:sym typeface="华文细黑" panose="02010600040101010101" charset="-122"/>
            </a:endParaRPr>
          </a:p>
          <a:p>
            <a:pPr>
              <a:lnSpc>
                <a:spcPct val="130000"/>
              </a:lnSpc>
            </a:pPr>
            <a:r>
              <a:rPr sz="1200" spc="130" dirty="0">
                <a:solidFill>
                  <a:schemeClr val="tx1"/>
                </a:solidFill>
                <a:latin typeface="Arial" panose="020B0604020202020204" pitchFamily="34" charset="0"/>
                <a:ea typeface="思源黑体 CN Bold"/>
                <a:sym typeface="华文细黑" panose="02010600040101010101" charset="-122"/>
              </a:rPr>
              <a:t>“芯片”和“集成电路”这两个词经常混着使用，比如在大家平常讨论话题中，集成电路设计和芯片设计说的是一个意思，芯片行业、集成电路行业、IC 行业往往也是一个意思</a:t>
            </a:r>
            <a:r>
              <a:rPr lang="zh-CN" sz="1200" spc="130" dirty="0">
                <a:solidFill>
                  <a:schemeClr val="tx1"/>
                </a:solidFill>
                <a:latin typeface="Arial" panose="020B0604020202020204" pitchFamily="34" charset="0"/>
                <a:ea typeface="思源黑体 CN Bold"/>
                <a:sym typeface="华文细黑" panose="02010600040101010101" charset="-122"/>
              </a:rPr>
              <a:t>，</a:t>
            </a:r>
            <a:r>
              <a:rPr sz="1200" spc="130" dirty="0">
                <a:solidFill>
                  <a:schemeClr val="tx1"/>
                </a:solidFill>
                <a:latin typeface="Arial" panose="020B0604020202020204" pitchFamily="34" charset="0"/>
                <a:ea typeface="思源黑体 CN Bold"/>
                <a:sym typeface="华文细黑" panose="02010600040101010101" charset="-122"/>
              </a:rPr>
              <a:t> </a:t>
            </a:r>
            <a:endParaRPr sz="1200" spc="130" dirty="0">
              <a:solidFill>
                <a:schemeClr val="tx1"/>
              </a:solidFill>
              <a:latin typeface="Arial" panose="020B0604020202020204" pitchFamily="34" charset="0"/>
              <a:ea typeface="思源黑体 CN Bold"/>
              <a:sym typeface="华文细黑" panose="02010600040101010101" charset="-122"/>
            </a:endParaRPr>
          </a:p>
          <a:p>
            <a:pPr>
              <a:lnSpc>
                <a:spcPct val="130000"/>
              </a:lnSpc>
            </a:pPr>
            <a:r>
              <a:rPr sz="1200" spc="130" dirty="0">
                <a:solidFill>
                  <a:schemeClr val="tx1"/>
                </a:solidFill>
                <a:latin typeface="Arial" panose="020B0604020202020204" pitchFamily="34" charset="0"/>
                <a:ea typeface="思源黑体 CN Bold"/>
                <a:sym typeface="华文细黑" panose="02010600040101010101" charset="-122"/>
              </a:rPr>
              <a:t>芯片是肉眼看不见的，所以相对来讲大家觉得比较神秘，比较难理解，其实可以理解为一台 电脑的微小版本，各种功能都有，比如存储功能，计算功能，图像识别功能，指纹识别功能</a:t>
            </a:r>
            <a:r>
              <a:rPr lang="zh-CN" sz="1200" spc="130" dirty="0">
                <a:solidFill>
                  <a:schemeClr val="tx1"/>
                </a:solidFill>
                <a:latin typeface="Arial" panose="020B0604020202020204" pitchFamily="34" charset="0"/>
                <a:ea typeface="思源黑体 CN Bold"/>
                <a:sym typeface="华文细黑" panose="02010600040101010101" charset="-122"/>
              </a:rPr>
              <a:t>等、</a:t>
            </a:r>
            <a:r>
              <a:rPr sz="1200" spc="130" dirty="0">
                <a:solidFill>
                  <a:schemeClr val="tx1"/>
                </a:solidFill>
                <a:latin typeface="Arial" panose="020B0604020202020204" pitchFamily="34" charset="0"/>
                <a:ea typeface="思源黑体 CN Bold"/>
                <a:sym typeface="华文细黑" panose="02010600040101010101" charset="-122"/>
              </a:rPr>
              <a:t>被放置在硅片上的集成电路，是有专门的产业链的，这条产业链包括设计、制造、封装三个 环节，技术含量逐步降低。 </a:t>
            </a:r>
            <a:endParaRPr sz="1200" spc="130" dirty="0">
              <a:solidFill>
                <a:schemeClr val="tx1"/>
              </a:solidFill>
              <a:latin typeface="Arial" panose="020B0604020202020204" pitchFamily="34" charset="0"/>
              <a:ea typeface="思源黑体 CN Bold"/>
              <a:sym typeface="华文细黑" panose="02010600040101010101" charset="-122"/>
            </a:endParaRPr>
          </a:p>
          <a:p>
            <a:pPr>
              <a:lnSpc>
                <a:spcPct val="130000"/>
              </a:lnSpc>
            </a:pPr>
            <a:endParaRPr lang="zh-CN" sz="1200" spc="130" dirty="0">
              <a:solidFill>
                <a:schemeClr val="tx1"/>
              </a:solidFill>
              <a:highlight>
                <a:srgbClr val="FFFF00"/>
              </a:highlight>
              <a:latin typeface="Arial" panose="020B0604020202020204" pitchFamily="34" charset="0"/>
              <a:ea typeface="思源黑体 CN Bold"/>
              <a:sym typeface="华文细黑" panose="02010600040101010101" charset="-122"/>
            </a:endParaRPr>
          </a:p>
          <a:p>
            <a:pPr>
              <a:lnSpc>
                <a:spcPct val="130000"/>
              </a:lnSpc>
            </a:pPr>
            <a:r>
              <a:rPr lang="zh-CN" sz="1200" spc="130" dirty="0">
                <a:solidFill>
                  <a:schemeClr val="tx1"/>
                </a:solidFill>
                <a:highlight>
                  <a:srgbClr val="FFFF00"/>
                </a:highlight>
                <a:latin typeface="Arial" panose="020B0604020202020204" pitchFamily="34" charset="0"/>
                <a:ea typeface="思源黑体 CN Bold"/>
                <a:sym typeface="华文细黑" panose="02010600040101010101" charset="-122"/>
              </a:rPr>
              <a:t>芯片</a:t>
            </a:r>
            <a:r>
              <a:rPr sz="1200" spc="130" dirty="0">
                <a:solidFill>
                  <a:schemeClr val="tx1"/>
                </a:solidFill>
                <a:highlight>
                  <a:srgbClr val="FFFF00"/>
                </a:highlight>
                <a:latin typeface="Arial" panose="020B0604020202020204" pitchFamily="34" charset="0"/>
                <a:ea typeface="思源黑体 CN Bold"/>
                <a:sym typeface="华文细黑" panose="02010600040101010101" charset="-122"/>
              </a:rPr>
              <a:t>设计就是</a:t>
            </a:r>
            <a:r>
              <a:rPr sz="1200" spc="130" dirty="0">
                <a:solidFill>
                  <a:schemeClr val="tx1"/>
                </a:solidFill>
                <a:latin typeface="Arial" panose="020B0604020202020204" pitchFamily="34" charset="0"/>
                <a:ea typeface="思源黑体 CN Bold"/>
                <a:sym typeface="华文细黑" panose="02010600040101010101" charset="-122"/>
              </a:rPr>
              <a:t>：芯片设计就相当于是 IC 设计中的建筑师，主要是出设计图，这个建筑师的角色 相当重要</a:t>
            </a:r>
            <a:endParaRPr sz="1200" spc="130" dirty="0">
              <a:solidFill>
                <a:schemeClr val="tx1"/>
              </a:solidFill>
              <a:latin typeface="Arial" panose="020B0604020202020204" pitchFamily="34" charset="0"/>
              <a:ea typeface="思源黑体 CN Bold"/>
              <a:sym typeface="华文细黑" panose="02010600040101010101" charset="-122"/>
            </a:endParaRPr>
          </a:p>
          <a:p>
            <a:pPr>
              <a:lnSpc>
                <a:spcPct val="130000"/>
              </a:lnSpc>
            </a:pPr>
            <a:r>
              <a:rPr lang="zh-CN" sz="1200" spc="130" dirty="0">
                <a:solidFill>
                  <a:schemeClr val="tx1"/>
                </a:solidFill>
                <a:highlight>
                  <a:srgbClr val="FFFF00"/>
                </a:highlight>
                <a:latin typeface="Arial" panose="020B0604020202020204" pitchFamily="34" charset="0"/>
                <a:ea typeface="思源黑体 CN Bold"/>
                <a:sym typeface="华文细黑" panose="02010600040101010101" charset="-122"/>
              </a:rPr>
              <a:t>芯片</a:t>
            </a:r>
            <a:r>
              <a:rPr sz="1200" spc="130" dirty="0">
                <a:solidFill>
                  <a:schemeClr val="tx1"/>
                </a:solidFill>
                <a:highlight>
                  <a:srgbClr val="FFFF00"/>
                </a:highlight>
                <a:latin typeface="Arial" panose="020B0604020202020204" pitchFamily="34" charset="0"/>
                <a:ea typeface="思源黑体 CN Bold"/>
                <a:sym typeface="华文细黑" panose="02010600040101010101" charset="-122"/>
              </a:rPr>
              <a:t>制造就是：</a:t>
            </a:r>
            <a:r>
              <a:rPr sz="1200" spc="130" dirty="0">
                <a:solidFill>
                  <a:schemeClr val="tx1"/>
                </a:solidFill>
                <a:latin typeface="Arial" panose="020B0604020202020204" pitchFamily="34" charset="0"/>
                <a:ea typeface="思源黑体 CN Bold"/>
                <a:sym typeface="华文细黑" panose="02010600040101010101" charset="-122"/>
              </a:rPr>
              <a:t>芯片制造的过程就如同用乐高盖房子一样，先有晶圆作为地基，再层层往上叠的 芯片制造流程后，就可产出必要的 IC 芯片 </a:t>
            </a:r>
            <a:endParaRPr sz="1200" spc="130" dirty="0">
              <a:solidFill>
                <a:schemeClr val="tx1"/>
              </a:solidFill>
              <a:latin typeface="Arial" panose="020B0604020202020204" pitchFamily="34" charset="0"/>
              <a:ea typeface="思源黑体 CN Bold"/>
              <a:sym typeface="华文细黑" panose="02010600040101010101" charset="-122"/>
            </a:endParaRPr>
          </a:p>
          <a:p>
            <a:pPr>
              <a:lnSpc>
                <a:spcPct val="130000"/>
              </a:lnSpc>
            </a:pPr>
            <a:r>
              <a:rPr lang="zh-CN" sz="1200" spc="130" dirty="0">
                <a:solidFill>
                  <a:schemeClr val="tx1"/>
                </a:solidFill>
                <a:highlight>
                  <a:srgbClr val="FFFF00"/>
                </a:highlight>
                <a:latin typeface="Arial" panose="020B0604020202020204" pitchFamily="34" charset="0"/>
                <a:ea typeface="思源黑体 CN Bold"/>
                <a:sym typeface="华文细黑" panose="02010600040101010101" charset="-122"/>
              </a:rPr>
              <a:t>芯片</a:t>
            </a:r>
            <a:r>
              <a:rPr sz="1200" spc="130" dirty="0">
                <a:solidFill>
                  <a:schemeClr val="tx1"/>
                </a:solidFill>
                <a:highlight>
                  <a:srgbClr val="FFFF00"/>
                </a:highlight>
                <a:latin typeface="Arial" panose="020B0604020202020204" pitchFamily="34" charset="0"/>
                <a:ea typeface="思源黑体 CN Bold"/>
                <a:sym typeface="华文细黑" panose="02010600040101010101" charset="-122"/>
              </a:rPr>
              <a:t>封装就是</a:t>
            </a:r>
            <a:r>
              <a:rPr sz="1200" spc="130" dirty="0">
                <a:solidFill>
                  <a:schemeClr val="tx1"/>
                </a:solidFill>
                <a:latin typeface="Arial" panose="020B0604020202020204" pitchFamily="34" charset="0"/>
                <a:ea typeface="思源黑体 CN Bold"/>
                <a:sym typeface="华文细黑" panose="02010600040101010101" charset="-122"/>
              </a:rPr>
              <a:t>：经过漫长的流程，从设计到制造，终于获得一颗 IC 芯片了</a:t>
            </a:r>
            <a:r>
              <a:rPr lang="zh-CN" sz="1200" spc="130" dirty="0">
                <a:solidFill>
                  <a:schemeClr val="tx1"/>
                </a:solidFill>
                <a:latin typeface="Arial" panose="020B0604020202020204" pitchFamily="34" charset="0"/>
                <a:ea typeface="思源黑体 CN Bold"/>
                <a:sym typeface="华文细黑" panose="02010600040101010101" charset="-122"/>
              </a:rPr>
              <a:t>，</a:t>
            </a:r>
            <a:r>
              <a:rPr sz="1200" spc="130" dirty="0">
                <a:solidFill>
                  <a:schemeClr val="tx1"/>
                </a:solidFill>
                <a:latin typeface="Arial" panose="020B0604020202020204" pitchFamily="34" charset="0"/>
                <a:ea typeface="思源黑体 CN Bold"/>
                <a:sym typeface="华文细黑" panose="02010600040101010101" charset="-122"/>
              </a:rPr>
              <a:t>然而一颗芯片相当小且薄，如果不在外施加保护，会被轻易的刮伤损坏</a:t>
            </a:r>
            <a:r>
              <a:rPr lang="zh-CN" sz="1200" spc="130" dirty="0">
                <a:solidFill>
                  <a:schemeClr val="tx1"/>
                </a:solidFill>
                <a:latin typeface="Arial" panose="020B0604020202020204" pitchFamily="34" charset="0"/>
                <a:ea typeface="思源黑体 CN Bold"/>
                <a:sym typeface="华文细黑" panose="02010600040101010101" charset="-122"/>
              </a:rPr>
              <a:t>，</a:t>
            </a:r>
            <a:r>
              <a:rPr sz="1200" spc="130" dirty="0">
                <a:solidFill>
                  <a:schemeClr val="tx1"/>
                </a:solidFill>
                <a:latin typeface="Arial" panose="020B0604020202020204" pitchFamily="34" charset="0"/>
                <a:ea typeface="思源黑体 CN Bold"/>
                <a:sym typeface="华文细黑" panose="02010600040101010101" charset="-122"/>
              </a:rPr>
              <a:t>此外因为芯片的尺寸微小，如果不 用一个较大尺寸的外壳，将不易以人工安置在电路板上</a:t>
            </a:r>
            <a:r>
              <a:rPr lang="zh-CN" sz="1200" spc="130" dirty="0">
                <a:solidFill>
                  <a:schemeClr val="tx1"/>
                </a:solidFill>
                <a:latin typeface="Arial" panose="020B0604020202020204" pitchFamily="34" charset="0"/>
                <a:ea typeface="思源黑体 CN Bold"/>
                <a:sym typeface="华文细黑" panose="02010600040101010101" charset="-122"/>
              </a:rPr>
              <a:t>，</a:t>
            </a:r>
            <a:r>
              <a:rPr sz="1200" spc="130" dirty="0">
                <a:solidFill>
                  <a:schemeClr val="tx1"/>
                </a:solidFill>
                <a:latin typeface="Arial" panose="020B0604020202020204" pitchFamily="34" charset="0"/>
                <a:ea typeface="思源黑体 CN Bold"/>
                <a:sym typeface="华文细黑" panose="02010600040101010101" charset="-122"/>
              </a:rPr>
              <a:t>这就需要对芯片进行封装</a:t>
            </a:r>
            <a:r>
              <a:rPr lang="zh-CN" sz="1200" spc="130" dirty="0">
                <a:solidFill>
                  <a:schemeClr val="tx1"/>
                </a:solidFill>
                <a:latin typeface="Arial" panose="020B0604020202020204" pitchFamily="34" charset="0"/>
                <a:ea typeface="思源黑体 CN Bold"/>
                <a:sym typeface="华文细黑" panose="02010600040101010101" charset="-122"/>
              </a:rPr>
              <a:t>，</a:t>
            </a:r>
            <a:r>
              <a:rPr sz="1200" spc="130" dirty="0">
                <a:solidFill>
                  <a:schemeClr val="tx1"/>
                </a:solidFill>
                <a:latin typeface="Arial" panose="020B0604020202020204" pitchFamily="34" charset="0"/>
                <a:ea typeface="思源黑体 CN Bold"/>
                <a:sym typeface="华文细黑" panose="02010600040101010101" charset="-122"/>
              </a:rPr>
              <a:t>其中设计环节处于整个产业链条的上游，技术含量最高。 </a:t>
            </a:r>
            <a:endParaRPr sz="1200" spc="130" dirty="0">
              <a:solidFill>
                <a:schemeClr val="tx1"/>
              </a:solidFill>
              <a:latin typeface="Arial" panose="020B0604020202020204" pitchFamily="34" charset="0"/>
              <a:ea typeface="思源黑体 CN Bold"/>
              <a:sym typeface="华文细黑" panose="02010600040101010101" charset="-122"/>
            </a:endParaRPr>
          </a:p>
          <a:p>
            <a:pPr>
              <a:lnSpc>
                <a:spcPct val="130000"/>
              </a:lnSpc>
            </a:pPr>
            <a:r>
              <a:rPr sz="1200" spc="130" dirty="0">
                <a:solidFill>
                  <a:schemeClr val="tx1"/>
                </a:solidFill>
                <a:highlight>
                  <a:srgbClr val="FFFF00"/>
                </a:highlight>
                <a:latin typeface="Arial" panose="020B0604020202020204" pitchFamily="34" charset="0"/>
                <a:ea typeface="思源黑体 CN Bold"/>
                <a:sym typeface="华文细黑" panose="02010600040101010101" charset="-122"/>
              </a:rPr>
              <a:t>芯片制造方向公司有</a:t>
            </a:r>
            <a:r>
              <a:rPr sz="1200" spc="130" dirty="0">
                <a:solidFill>
                  <a:schemeClr val="tx1"/>
                </a:solidFill>
                <a:latin typeface="Arial" panose="020B0604020202020204" pitchFamily="34" charset="0"/>
                <a:ea typeface="思源黑体 CN Bold"/>
                <a:sym typeface="华文细黑" panose="02010600040101010101" charset="-122"/>
              </a:rPr>
              <a:t>：SMIC 中芯国际、华力微电子、华虹宏力、无锡海力士等 </a:t>
            </a:r>
            <a:endParaRPr sz="1200" spc="130" dirty="0">
              <a:solidFill>
                <a:schemeClr val="tx1"/>
              </a:solidFill>
              <a:latin typeface="Arial" panose="020B0604020202020204" pitchFamily="34" charset="0"/>
              <a:ea typeface="思源黑体 CN Bold"/>
              <a:sym typeface="华文细黑" panose="02010600040101010101" charset="-122"/>
            </a:endParaRPr>
          </a:p>
          <a:p>
            <a:pPr>
              <a:lnSpc>
                <a:spcPct val="130000"/>
              </a:lnSpc>
            </a:pPr>
            <a:r>
              <a:rPr sz="1200" spc="130" dirty="0">
                <a:solidFill>
                  <a:schemeClr val="tx1"/>
                </a:solidFill>
                <a:highlight>
                  <a:srgbClr val="FFFF00"/>
                </a:highlight>
                <a:latin typeface="Arial" panose="020B0604020202020204" pitchFamily="34" charset="0"/>
                <a:ea typeface="思源黑体 CN Bold"/>
                <a:sym typeface="华文细黑" panose="02010600040101010101" charset="-122"/>
              </a:rPr>
              <a:t>芯片设计方向公司有：</a:t>
            </a:r>
            <a:r>
              <a:rPr sz="1200" spc="130" dirty="0">
                <a:solidFill>
                  <a:schemeClr val="tx1"/>
                </a:solidFill>
                <a:latin typeface="Arial" panose="020B0604020202020204" pitchFamily="34" charset="0"/>
                <a:ea typeface="思源黑体 CN Bold"/>
                <a:sym typeface="华文细黑" panose="02010600040101010101" charset="-122"/>
              </a:rPr>
              <a:t>华为海思、紫光展锐、豪威、汇顶、平头哥、摩尔线程、地平线、新思、泽库等</a:t>
            </a:r>
            <a:endParaRPr sz="1200" spc="130" dirty="0">
              <a:solidFill>
                <a:schemeClr val="tx1"/>
              </a:solidFill>
              <a:latin typeface="Arial" panose="020B0604020202020204" pitchFamily="34" charset="0"/>
              <a:ea typeface="思源黑体 CN Bold"/>
              <a:sym typeface="华文细黑" panose="02010600040101010101" charset="-122"/>
            </a:endParaRPr>
          </a:p>
          <a:p>
            <a:pPr>
              <a:lnSpc>
                <a:spcPct val="130000"/>
              </a:lnSpc>
            </a:pPr>
            <a:r>
              <a:rPr sz="1200" spc="130" dirty="0">
                <a:solidFill>
                  <a:schemeClr val="tx1"/>
                </a:solidFill>
                <a:highlight>
                  <a:srgbClr val="FFFF00"/>
                </a:highlight>
                <a:latin typeface="Arial" panose="020B0604020202020204" pitchFamily="34" charset="0"/>
                <a:ea typeface="思源黑体 CN Bold"/>
                <a:sym typeface="华文细黑" panose="02010600040101010101" charset="-122"/>
              </a:rPr>
              <a:t>芯片封测方向公司有：</a:t>
            </a:r>
            <a:r>
              <a:rPr sz="1200" spc="130" dirty="0">
                <a:solidFill>
                  <a:schemeClr val="tx1"/>
                </a:solidFill>
                <a:latin typeface="Arial" panose="020B0604020202020204" pitchFamily="34" charset="0"/>
                <a:ea typeface="思源黑体 CN Bold"/>
                <a:sym typeface="华文细黑" panose="02010600040101010101" charset="-122"/>
              </a:rPr>
              <a:t>江苏长电科技、力成科技、南茂科技、颀邦科技、天水华天科技、通 富电子等等，一共有几十家，不在这里一一讲了</a:t>
            </a:r>
            <a:endParaRPr sz="1200" spc="130" dirty="0">
              <a:solidFill>
                <a:schemeClr val="tx1"/>
              </a:solidFill>
              <a:latin typeface="Arial" panose="020B0604020202020204" pitchFamily="34" charset="0"/>
              <a:ea typeface="思源黑体 CN Bold"/>
              <a:sym typeface="华文细黑" panose="02010600040101010101" charset="-122"/>
            </a:endParaRPr>
          </a:p>
          <a:p>
            <a:pPr>
              <a:lnSpc>
                <a:spcPct val="130000"/>
              </a:lnSpc>
            </a:pPr>
            <a:endParaRPr sz="1200" spc="130" dirty="0">
              <a:solidFill>
                <a:schemeClr val="tx1"/>
              </a:solidFill>
              <a:latin typeface="Arial" panose="020B0604020202020204" pitchFamily="34" charset="0"/>
              <a:ea typeface="思源黑体 CN Bold"/>
              <a:sym typeface="华文细黑" panose="02010600040101010101" charset="-122"/>
            </a:endParaRPr>
          </a:p>
          <a:p>
            <a:pPr>
              <a:lnSpc>
                <a:spcPct val="130000"/>
              </a:lnSpc>
            </a:pPr>
            <a:r>
              <a:rPr sz="1200" spc="130" dirty="0">
                <a:solidFill>
                  <a:schemeClr val="tx1"/>
                </a:solidFill>
                <a:latin typeface="Arial" panose="020B0604020202020204" pitchFamily="34" charset="0"/>
                <a:ea typeface="思源黑体 CN Bold"/>
                <a:sym typeface="华文细黑" panose="02010600040101010101" charset="-122"/>
              </a:rPr>
              <a:t>芯片制造和封装测试环节 属于制造业，会涉及到材料和设备，所以集成电路产业链又包括原材料、设备、设计、制造和封测 这 5 大部分，每一部分又包括很多细分领域</a:t>
            </a:r>
            <a:endParaRPr lang="zh-CN" sz="1200" spc="130" dirty="0">
              <a:solidFill>
                <a:schemeClr val="tx1"/>
              </a:solidFill>
              <a:latin typeface="Arial" panose="020B0604020202020204" pitchFamily="34" charset="0"/>
              <a:ea typeface="思源黑体 CN Bold"/>
              <a:sym typeface="华文细黑" panose="02010600040101010101" charset="-122"/>
            </a:endParaRPr>
          </a:p>
          <a:p>
            <a:pPr>
              <a:lnSpc>
                <a:spcPct val="130000"/>
              </a:lnSpc>
            </a:pPr>
            <a:endParaRPr sz="1200" spc="130" dirty="0">
              <a:solidFill>
                <a:schemeClr val="tx1"/>
              </a:solidFill>
              <a:latin typeface="Arial" panose="020B0604020202020204" pitchFamily="34" charset="0"/>
              <a:ea typeface="思源黑体 CN Bold"/>
              <a:sym typeface="华文细黑" panose="02010600040101010101" charset="-122"/>
            </a:endParaRPr>
          </a:p>
          <a:p>
            <a:pPr>
              <a:lnSpc>
                <a:spcPct val="130000"/>
              </a:lnSpc>
            </a:pPr>
            <a:r>
              <a:rPr sz="1200" spc="130" dirty="0">
                <a:solidFill>
                  <a:schemeClr val="tx1"/>
                </a:solidFill>
                <a:latin typeface="Arial" panose="020B0604020202020204" pitchFamily="34" charset="0"/>
                <a:ea typeface="思源黑体 CN Bold"/>
                <a:sym typeface="华文细黑" panose="02010600040101010101" charset="-122"/>
              </a:rPr>
              <a:t>在芯片行业中，就会包括这么几类公司：芯片设计公司，半导体相关设备制造公司，半导体制造公司，半导体封装测试公司，光罩制作公司等</a:t>
            </a:r>
            <a:r>
              <a:rPr lang="zh-CN" sz="1200" spc="130" dirty="0">
                <a:solidFill>
                  <a:schemeClr val="tx1"/>
                </a:solidFill>
                <a:latin typeface="Arial" panose="020B0604020202020204" pitchFamily="34" charset="0"/>
                <a:ea typeface="思源黑体 CN Bold"/>
                <a:sym typeface="华文细黑" panose="02010600040101010101" charset="-122"/>
              </a:rPr>
              <a:t>，</a:t>
            </a:r>
            <a:r>
              <a:rPr sz="1200" spc="130" dirty="0">
                <a:solidFill>
                  <a:schemeClr val="tx1"/>
                </a:solidFill>
                <a:latin typeface="Arial" panose="020B0604020202020204" pitchFamily="34" charset="0"/>
                <a:ea typeface="思源黑体 CN Bold"/>
                <a:sym typeface="华文细黑" panose="02010600040101010101" charset="-122"/>
              </a:rPr>
              <a:t>因此，当我们的猎头小伙伴做芯片行业开发客户时，你要清楚，你做的是哪一个类别的客户</a:t>
            </a:r>
            <a:r>
              <a:rPr lang="zh-CN" sz="1200" spc="130" dirty="0">
                <a:solidFill>
                  <a:schemeClr val="tx1"/>
                </a:solidFill>
                <a:latin typeface="Arial" panose="020B0604020202020204" pitchFamily="34" charset="0"/>
                <a:ea typeface="思源黑体 CN Bold"/>
                <a:sym typeface="华文细黑" panose="02010600040101010101" charset="-122"/>
              </a:rPr>
              <a:t>。</a:t>
            </a:r>
            <a:endParaRPr sz="1200" spc="130" dirty="0">
              <a:solidFill>
                <a:schemeClr val="tx1"/>
              </a:solidFill>
              <a:latin typeface="Arial" panose="020B0604020202020204" pitchFamily="34" charset="0"/>
              <a:ea typeface="思源黑体 CN Bold"/>
              <a:sym typeface="华文细黑" panose="02010600040101010101" charset="-122"/>
            </a:endParaRPr>
          </a:p>
          <a:p>
            <a:pPr>
              <a:lnSpc>
                <a:spcPct val="130000"/>
              </a:lnSpc>
            </a:pPr>
            <a:endParaRPr sz="1200" spc="130" dirty="0">
              <a:solidFill>
                <a:schemeClr val="tx1"/>
              </a:solidFill>
              <a:latin typeface="Arial" panose="020B0604020202020204" pitchFamily="34" charset="0"/>
              <a:ea typeface="思源黑体 CN Bold"/>
              <a:sym typeface="华文细黑" panose="02010600040101010101" charset="-122"/>
            </a:endParaRPr>
          </a:p>
        </p:txBody>
      </p:sp>
      <p:sp>
        <p:nvSpPr>
          <p:cNvPr id="3" name="任意多边形: 形状 30"/>
          <p:cNvSpPr/>
          <p:nvPr/>
        </p:nvSpPr>
        <p:spPr>
          <a:xfrm>
            <a:off x="65405" y="125095"/>
            <a:ext cx="3200400" cy="410210"/>
          </a:xfrm>
          <a:custGeom>
            <a:avLst/>
            <a:gdLst>
              <a:gd name="connsiteX0" fmla="*/ 124918 w 1413447"/>
              <a:gd name="connsiteY0" fmla="*/ 0 h 535213"/>
              <a:gd name="connsiteX1" fmla="*/ 1413447 w 1413447"/>
              <a:gd name="connsiteY1" fmla="*/ 0 h 535213"/>
              <a:gd name="connsiteX2" fmla="*/ 1293066 w 1413447"/>
              <a:gd name="connsiteY2" fmla="*/ 515770 h 535213"/>
              <a:gd name="connsiteX3" fmla="*/ 1296954 w 1413447"/>
              <a:gd name="connsiteY3" fmla="*/ 499111 h 535213"/>
              <a:gd name="connsiteX4" fmla="*/ 1284655 w 1413447"/>
              <a:gd name="connsiteY4" fmla="*/ 517355 h 535213"/>
              <a:gd name="connsiteX5" fmla="*/ 1263549 w 1413447"/>
              <a:gd name="connsiteY5" fmla="*/ 531584 h 535213"/>
              <a:gd name="connsiteX6" fmla="*/ 1245575 w 1413447"/>
              <a:gd name="connsiteY6" fmla="*/ 535213 h 535213"/>
              <a:gd name="connsiteX7" fmla="*/ 74294 w 1413447"/>
              <a:gd name="connsiteY7" fmla="*/ 535213 h 535213"/>
              <a:gd name="connsiteX8" fmla="*/ 56319 w 1413447"/>
              <a:gd name="connsiteY8" fmla="*/ 531584 h 535213"/>
              <a:gd name="connsiteX9" fmla="*/ 15766 w 1413447"/>
              <a:gd name="connsiteY9" fmla="*/ 470404 h 535213"/>
              <a:gd name="connsiteX10" fmla="*/ 19864 w 1413447"/>
              <a:gd name="connsiteY10" fmla="*/ 450109 h 535213"/>
              <a:gd name="connsiteX11" fmla="*/ 0 w 1413447"/>
              <a:gd name="connsiteY11" fmla="*/ 535213 h 53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3447" h="535213">
                <a:moveTo>
                  <a:pt x="124918" y="0"/>
                </a:moveTo>
                <a:lnTo>
                  <a:pt x="1413447" y="0"/>
                </a:lnTo>
                <a:lnTo>
                  <a:pt x="1293066" y="515770"/>
                </a:lnTo>
                <a:lnTo>
                  <a:pt x="1296954" y="499111"/>
                </a:lnTo>
                <a:lnTo>
                  <a:pt x="1284655" y="517355"/>
                </a:lnTo>
                <a:cubicBezTo>
                  <a:pt x="1278647" y="523362"/>
                  <a:pt x="1271493" y="528224"/>
                  <a:pt x="1263549" y="531584"/>
                </a:cubicBezTo>
                <a:lnTo>
                  <a:pt x="1245575" y="535213"/>
                </a:lnTo>
                <a:lnTo>
                  <a:pt x="74294" y="535213"/>
                </a:lnTo>
                <a:lnTo>
                  <a:pt x="56319" y="531584"/>
                </a:lnTo>
                <a:cubicBezTo>
                  <a:pt x="32488" y="521505"/>
                  <a:pt x="15766" y="497907"/>
                  <a:pt x="15766" y="470404"/>
                </a:cubicBezTo>
                <a:lnTo>
                  <a:pt x="19864" y="450109"/>
                </a:lnTo>
                <a:lnTo>
                  <a:pt x="0" y="535213"/>
                </a:lnTo>
                <a:close/>
              </a:path>
            </a:pathLst>
          </a:custGeom>
          <a:solidFill>
            <a:srgbClr val="267CA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nSpc>
                <a:spcPct val="130000"/>
              </a:lnSpc>
            </a:pPr>
            <a:r>
              <a:rPr lang="en-US" spc="130" dirty="0">
                <a:solidFill>
                  <a:schemeClr val="tx1"/>
                </a:solidFill>
                <a:latin typeface="Arial" panose="020B0604020202020204" pitchFamily="34" charset="0"/>
                <a:ea typeface="汉仪旗黑-55简" panose="00020600040101010101" charset="-122"/>
                <a:sym typeface="华文细黑" panose="02010600040101010101" charset="-122"/>
              </a:rPr>
              <a:t>   01</a:t>
            </a:r>
            <a:r>
              <a:rPr lang="zh-CN" altLang="en-US" spc="130" dirty="0">
                <a:solidFill>
                  <a:schemeClr val="tx1"/>
                </a:solidFill>
                <a:latin typeface="Arial" panose="020B0604020202020204" pitchFamily="34" charset="0"/>
                <a:ea typeface="汉仪旗黑-55简" panose="00020600040101010101" charset="-122"/>
                <a:sym typeface="华文细黑" panose="02010600040101010101" charset="-122"/>
              </a:rPr>
              <a:t>、什么是芯片</a:t>
            </a:r>
            <a:endParaRPr lang="zh-CN" altLang="en-US" spc="130" dirty="0">
              <a:solidFill>
                <a:schemeClr val="tx1"/>
              </a:solidFill>
              <a:latin typeface="Arial" panose="020B0604020202020204" pitchFamily="34" charset="0"/>
              <a:ea typeface="汉仪旗黑-55简" panose="00020600040101010101" charset="-122"/>
              <a:sym typeface="华文细黑" panose="02010600040101010101" charset="-122"/>
            </a:endParaRPr>
          </a:p>
        </p:txBody>
      </p:sp>
    </p:spTree>
  </p:cSld>
  <p:clrMapOvr>
    <a:masterClrMapping/>
  </p:clrMapOvr>
  <p:transition spd="slow" advTm="3000">
    <p:push/>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形状 30"/>
          <p:cNvSpPr/>
          <p:nvPr/>
        </p:nvSpPr>
        <p:spPr>
          <a:xfrm>
            <a:off x="85725" y="363220"/>
            <a:ext cx="3200400" cy="410210"/>
          </a:xfrm>
          <a:custGeom>
            <a:avLst/>
            <a:gdLst>
              <a:gd name="connsiteX0" fmla="*/ 124918 w 1413447"/>
              <a:gd name="connsiteY0" fmla="*/ 0 h 535213"/>
              <a:gd name="connsiteX1" fmla="*/ 1413447 w 1413447"/>
              <a:gd name="connsiteY1" fmla="*/ 0 h 535213"/>
              <a:gd name="connsiteX2" fmla="*/ 1293066 w 1413447"/>
              <a:gd name="connsiteY2" fmla="*/ 515770 h 535213"/>
              <a:gd name="connsiteX3" fmla="*/ 1296954 w 1413447"/>
              <a:gd name="connsiteY3" fmla="*/ 499111 h 535213"/>
              <a:gd name="connsiteX4" fmla="*/ 1284655 w 1413447"/>
              <a:gd name="connsiteY4" fmla="*/ 517355 h 535213"/>
              <a:gd name="connsiteX5" fmla="*/ 1263549 w 1413447"/>
              <a:gd name="connsiteY5" fmla="*/ 531584 h 535213"/>
              <a:gd name="connsiteX6" fmla="*/ 1245575 w 1413447"/>
              <a:gd name="connsiteY6" fmla="*/ 535213 h 535213"/>
              <a:gd name="connsiteX7" fmla="*/ 74294 w 1413447"/>
              <a:gd name="connsiteY7" fmla="*/ 535213 h 535213"/>
              <a:gd name="connsiteX8" fmla="*/ 56319 w 1413447"/>
              <a:gd name="connsiteY8" fmla="*/ 531584 h 535213"/>
              <a:gd name="connsiteX9" fmla="*/ 15766 w 1413447"/>
              <a:gd name="connsiteY9" fmla="*/ 470404 h 535213"/>
              <a:gd name="connsiteX10" fmla="*/ 19864 w 1413447"/>
              <a:gd name="connsiteY10" fmla="*/ 450109 h 535213"/>
              <a:gd name="connsiteX11" fmla="*/ 0 w 1413447"/>
              <a:gd name="connsiteY11" fmla="*/ 535213 h 53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3447" h="535213">
                <a:moveTo>
                  <a:pt x="124918" y="0"/>
                </a:moveTo>
                <a:lnTo>
                  <a:pt x="1413447" y="0"/>
                </a:lnTo>
                <a:lnTo>
                  <a:pt x="1293066" y="515770"/>
                </a:lnTo>
                <a:lnTo>
                  <a:pt x="1296954" y="499111"/>
                </a:lnTo>
                <a:lnTo>
                  <a:pt x="1284655" y="517355"/>
                </a:lnTo>
                <a:cubicBezTo>
                  <a:pt x="1278647" y="523362"/>
                  <a:pt x="1271493" y="528224"/>
                  <a:pt x="1263549" y="531584"/>
                </a:cubicBezTo>
                <a:lnTo>
                  <a:pt x="1245575" y="535213"/>
                </a:lnTo>
                <a:lnTo>
                  <a:pt x="74294" y="535213"/>
                </a:lnTo>
                <a:lnTo>
                  <a:pt x="56319" y="531584"/>
                </a:lnTo>
                <a:cubicBezTo>
                  <a:pt x="32488" y="521505"/>
                  <a:pt x="15766" y="497907"/>
                  <a:pt x="15766" y="470404"/>
                </a:cubicBezTo>
                <a:lnTo>
                  <a:pt x="19864" y="450109"/>
                </a:lnTo>
                <a:lnTo>
                  <a:pt x="0" y="535213"/>
                </a:lnTo>
                <a:close/>
              </a:path>
            </a:pathLst>
          </a:custGeom>
          <a:solidFill>
            <a:srgbClr val="267CA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nSpc>
                <a:spcPct val="130000"/>
              </a:lnSpc>
            </a:pPr>
            <a:r>
              <a:rPr lang="en-US" spc="130" dirty="0">
                <a:solidFill>
                  <a:schemeClr val="tx1"/>
                </a:solidFill>
                <a:latin typeface="Arial" panose="020B0604020202020204" pitchFamily="34" charset="0"/>
                <a:ea typeface="汉仪旗黑-55简" panose="00020600040101010101" charset="-122"/>
                <a:sym typeface="华文细黑" panose="02010600040101010101" charset="-122"/>
              </a:rPr>
              <a:t>   02</a:t>
            </a:r>
            <a:r>
              <a:rPr lang="zh-CN" altLang="en-US" spc="130" dirty="0">
                <a:solidFill>
                  <a:schemeClr val="tx1"/>
                </a:solidFill>
                <a:latin typeface="Arial" panose="020B0604020202020204" pitchFamily="34" charset="0"/>
                <a:ea typeface="汉仪旗黑-55简" panose="00020600040101010101" charset="-122"/>
                <a:sym typeface="华文细黑" panose="02010600040101010101" charset="-122"/>
              </a:rPr>
              <a:t>、芯片设计</a:t>
            </a:r>
            <a:endParaRPr lang="zh-CN" altLang="en-US">
              <a:latin typeface="Arial" panose="020B0604020202020204" pitchFamily="34" charset="0"/>
              <a:ea typeface="汉仪旗黑-55简" panose="00020600040101010101" charset="-122"/>
              <a:sym typeface="华文细黑" panose="02010600040101010101" charset="-122"/>
            </a:endParaRPr>
          </a:p>
        </p:txBody>
      </p:sp>
      <p:sp>
        <p:nvSpPr>
          <p:cNvPr id="36" name="文本框 35"/>
          <p:cNvSpPr txBox="1"/>
          <p:nvPr/>
        </p:nvSpPr>
        <p:spPr>
          <a:xfrm>
            <a:off x="32385" y="884555"/>
            <a:ext cx="12126595" cy="650240"/>
          </a:xfrm>
          <a:prstGeom prst="rect">
            <a:avLst/>
          </a:prstGeom>
          <a:noFill/>
        </p:spPr>
        <p:txBody>
          <a:bodyPr wrap="square" rtlCol="0">
            <a:spAutoFit/>
          </a:bodyPr>
          <a:lstStyle/>
          <a:p>
            <a:pPr>
              <a:lnSpc>
                <a:spcPct val="130000"/>
              </a:lnSpc>
            </a:pPr>
            <a:r>
              <a:rPr lang="en-US" altLang="zh-CN" sz="1400" spc="130" dirty="0">
                <a:solidFill>
                  <a:schemeClr val="tx1"/>
                </a:solidFill>
                <a:latin typeface="Arial" panose="020B0604020202020204" pitchFamily="34" charset="0"/>
                <a:ea typeface="思源黑体 CN Bold"/>
                <a:sym typeface="华文细黑" panose="02010600040101010101" charset="-122"/>
              </a:rPr>
              <a:t> </a:t>
            </a:r>
            <a:r>
              <a:rPr lang="zh-CN" altLang="en-US" sz="1400" spc="130" dirty="0">
                <a:solidFill>
                  <a:schemeClr val="tx1"/>
                </a:solidFill>
                <a:latin typeface="Arial" panose="020B0604020202020204" pitchFamily="34" charset="0"/>
                <a:ea typeface="思源黑体 CN Bold"/>
                <a:sym typeface="华文细黑" panose="02010600040101010101" charset="-122"/>
              </a:rPr>
              <a:t>芯片设计是整个行业的最上游，利润最高、垄断性最强、知识厚度很高，职位佣金最高，是大部分芯片猎头的首选！</a:t>
            </a:r>
            <a:endParaRPr lang="zh-CN" altLang="en-US" sz="1400" spc="130" dirty="0">
              <a:solidFill>
                <a:schemeClr val="tx1"/>
              </a:solidFill>
              <a:latin typeface="Arial" panose="020B0604020202020204" pitchFamily="34" charset="0"/>
              <a:ea typeface="思源黑体 CN Bold"/>
              <a:sym typeface="华文细黑" panose="02010600040101010101" charset="-122"/>
            </a:endParaRPr>
          </a:p>
          <a:p>
            <a:pPr>
              <a:lnSpc>
                <a:spcPct val="130000"/>
              </a:lnSpc>
            </a:pPr>
            <a:endParaRPr sz="1400" spc="130" dirty="0">
              <a:solidFill>
                <a:schemeClr val="tx1"/>
              </a:solidFill>
              <a:latin typeface="Arial" panose="020B0604020202020204" pitchFamily="34" charset="0"/>
              <a:ea typeface="思源黑体 CN Bold"/>
              <a:sym typeface="华文细黑" panose="02010600040101010101" charset="-122"/>
            </a:endParaRPr>
          </a:p>
        </p:txBody>
      </p:sp>
      <p:pic>
        <p:nvPicPr>
          <p:cNvPr id="2" name="图片 1"/>
          <p:cNvPicPr>
            <a:picLocks noChangeAspect="1"/>
          </p:cNvPicPr>
          <p:nvPr>
            <p:custDataLst>
              <p:tags r:id="rId1"/>
            </p:custDataLst>
          </p:nvPr>
        </p:nvPicPr>
        <p:blipFill>
          <a:blip r:embed="rId2"/>
          <a:stretch>
            <a:fillRect/>
          </a:stretch>
        </p:blipFill>
        <p:spPr>
          <a:xfrm>
            <a:off x="10523220" y="48895"/>
            <a:ext cx="1668780" cy="1485900"/>
          </a:xfrm>
          <a:prstGeom prst="rect">
            <a:avLst/>
          </a:prstGeom>
        </p:spPr>
      </p:pic>
      <p:sp>
        <p:nvSpPr>
          <p:cNvPr id="30" name="文本框 29"/>
          <p:cNvSpPr txBox="1"/>
          <p:nvPr>
            <p:custDataLst>
              <p:tags r:id="rId3"/>
            </p:custDataLst>
          </p:nvPr>
        </p:nvSpPr>
        <p:spPr bwMode="auto">
          <a:xfrm>
            <a:off x="125730" y="1247775"/>
            <a:ext cx="11900535" cy="5168265"/>
          </a:xfrm>
          <a:prstGeom prst="rect">
            <a:avLst/>
          </a:prstGeom>
          <a:noFill/>
        </p:spPr>
        <p:txBody>
          <a:bodyPr wrap="square" lIns="90000" tIns="0" rIns="90000" bIns="46800">
            <a:noAutofit/>
          </a:bodyPr>
          <a:p>
            <a:pPr>
              <a:lnSpc>
                <a:spcPct val="120000"/>
              </a:lnSpc>
            </a:pPr>
            <a:r>
              <a:rPr lang="zh-CN" altLang="en-US" sz="1400" spc="130" dirty="0">
                <a:latin typeface="Arial" panose="020B0604020202020204" pitchFamily="34" charset="0"/>
                <a:ea typeface="思源黑体 CN Bold"/>
                <a:sym typeface="Arial" panose="020B0604020202020204" pitchFamily="34" charset="0"/>
              </a:rPr>
              <a:t>芯片设计的主要细分类型有哪些呢？有下面 4 种分类方法</a:t>
            </a:r>
            <a:endParaRPr lang="zh-CN" altLang="en-US" sz="1400" spc="130" dirty="0">
              <a:latin typeface="Arial" panose="020B0604020202020204" pitchFamily="34" charset="0"/>
              <a:ea typeface="思源黑体 CN Bold"/>
              <a:sym typeface="Arial" panose="020B0604020202020204" pitchFamily="34" charset="0"/>
            </a:endParaRPr>
          </a:p>
          <a:p>
            <a:pPr>
              <a:lnSpc>
                <a:spcPct val="120000"/>
              </a:lnSpc>
            </a:pPr>
            <a:r>
              <a:rPr lang="zh-CN" altLang="en-US" sz="1400" spc="130" dirty="0">
                <a:highlight>
                  <a:srgbClr val="FFFF00"/>
                </a:highlight>
                <a:latin typeface="Arial" panose="020B0604020202020204" pitchFamily="34" charset="0"/>
                <a:ea typeface="思源黑体 CN Bold"/>
                <a:sym typeface="Arial" panose="020B0604020202020204" pitchFamily="34" charset="0"/>
              </a:rPr>
              <a:t>第一种按电路规模分</a:t>
            </a:r>
            <a:r>
              <a:rPr lang="zh-CN" altLang="en-US" sz="1400" spc="130" dirty="0">
                <a:latin typeface="Arial" panose="020B0604020202020204" pitchFamily="34" charset="0"/>
                <a:ea typeface="思源黑体 CN Bold"/>
                <a:sym typeface="Arial" panose="020B0604020202020204" pitchFamily="34" charset="0"/>
              </a:rPr>
              <a:t>：啥叫电路规模呢？主要是指集成度规模，比如小规模集成电路（100 个元器件以下）、中规模集成电路（不超过 1000 个元器件）和大规模集成电路（1000 个元器件以上）。现已出现了超大规模集成电路，其集成度更高，可包含十万个元器件以上。具体缩写有： SSI、MSI、LSI、VLSI、ULSI</a:t>
            </a:r>
            <a:endParaRPr lang="zh-CN" altLang="en-US" sz="1400" spc="130" dirty="0">
              <a:latin typeface="Arial" panose="020B0604020202020204" pitchFamily="34" charset="0"/>
              <a:ea typeface="思源黑体 CN Bold"/>
              <a:sym typeface="Arial" panose="020B0604020202020204" pitchFamily="34" charset="0"/>
            </a:endParaRPr>
          </a:p>
          <a:p>
            <a:pPr>
              <a:lnSpc>
                <a:spcPct val="120000"/>
              </a:lnSpc>
            </a:pPr>
            <a:r>
              <a:rPr lang="zh-CN" altLang="en-US" sz="1400" spc="130" dirty="0">
                <a:highlight>
                  <a:srgbClr val="FFFF00"/>
                </a:highlight>
                <a:latin typeface="Arial" panose="020B0604020202020204" pitchFamily="34" charset="0"/>
                <a:ea typeface="思源黑体 CN Bold"/>
                <a:sym typeface="Arial" panose="020B0604020202020204" pitchFamily="34" charset="0"/>
              </a:rPr>
              <a:t>第二种按电路用途分，</a:t>
            </a:r>
            <a:r>
              <a:rPr lang="zh-CN" altLang="en-US" sz="1400" spc="130" dirty="0">
                <a:latin typeface="Arial" panose="020B0604020202020204" pitchFamily="34" charset="0"/>
                <a:ea typeface="思源黑体 CN Bold"/>
                <a:sym typeface="Arial" panose="020B0604020202020204" pitchFamily="34" charset="0"/>
              </a:rPr>
              <a:t>主要是指芯片应用的领域，具体分为：通用 IC 和专用 IC</a:t>
            </a:r>
            <a:endParaRPr lang="zh-CN" altLang="en-US" sz="1400" spc="130" dirty="0">
              <a:latin typeface="Arial" panose="020B0604020202020204" pitchFamily="34" charset="0"/>
              <a:ea typeface="思源黑体 CN Bold"/>
              <a:sym typeface="Arial" panose="020B0604020202020204" pitchFamily="34" charset="0"/>
            </a:endParaRPr>
          </a:p>
          <a:p>
            <a:pPr>
              <a:lnSpc>
                <a:spcPct val="120000"/>
              </a:lnSpc>
            </a:pPr>
            <a:r>
              <a:rPr lang="zh-CN" altLang="en-US" sz="1400" spc="130" dirty="0">
                <a:latin typeface="Arial" panose="020B0604020202020204" pitchFamily="34" charset="0"/>
                <a:ea typeface="思源黑体 CN Bold"/>
                <a:sym typeface="Arial" panose="020B0604020202020204" pitchFamily="34" charset="0"/>
              </a:rPr>
              <a:t>通用 IC：是指那些用户多、使用领域广泛、标准型的电路，如存储器（DRAM）、微处理器（MPU）及微控制器（MCU）等，反映了数字 IC 的现状和水平。</a:t>
            </a:r>
            <a:endParaRPr lang="zh-CN" altLang="en-US" sz="1400" spc="130" dirty="0">
              <a:latin typeface="Arial" panose="020B0604020202020204" pitchFamily="34" charset="0"/>
              <a:ea typeface="思源黑体 CN Bold"/>
              <a:sym typeface="Arial" panose="020B0604020202020204" pitchFamily="34" charset="0"/>
            </a:endParaRPr>
          </a:p>
          <a:p>
            <a:pPr>
              <a:lnSpc>
                <a:spcPct val="120000"/>
              </a:lnSpc>
            </a:pPr>
            <a:r>
              <a:rPr lang="zh-CN" altLang="en-US" sz="1400" spc="130" dirty="0">
                <a:latin typeface="Arial" panose="020B0604020202020204" pitchFamily="34" charset="0"/>
                <a:ea typeface="思源黑体 CN Bold"/>
                <a:sym typeface="Arial" panose="020B0604020202020204" pitchFamily="34" charset="0"/>
              </a:rPr>
              <a:t>专用 IC（ASIC）：是指为特定的用户、某种专门或特别用途而设计的电路，如专用的电源芯片、数模转换芯片、LCD driver、图形芯片等。  </a:t>
            </a:r>
            <a:endParaRPr lang="zh-CN" altLang="en-US" sz="1400" spc="130" dirty="0">
              <a:latin typeface="Arial" panose="020B0604020202020204" pitchFamily="34" charset="0"/>
              <a:ea typeface="思源黑体 CN Bold"/>
              <a:sym typeface="Arial" panose="020B0604020202020204" pitchFamily="34" charset="0"/>
            </a:endParaRPr>
          </a:p>
          <a:p>
            <a:pPr>
              <a:lnSpc>
                <a:spcPct val="120000"/>
              </a:lnSpc>
            </a:pPr>
            <a:r>
              <a:rPr lang="zh-CN" altLang="en-US" sz="1400" spc="130" dirty="0">
                <a:highlight>
                  <a:srgbClr val="FFFF00"/>
                </a:highlight>
                <a:latin typeface="Arial" panose="020B0604020202020204" pitchFamily="34" charset="0"/>
                <a:ea typeface="思源黑体 CN Bold"/>
                <a:sym typeface="Arial" panose="020B0604020202020204" pitchFamily="34" charset="0"/>
              </a:rPr>
              <a:t>第三种按电路性能分</a:t>
            </a:r>
            <a:r>
              <a:rPr lang="zh-CN" altLang="en-US" sz="1400" spc="130" dirty="0">
                <a:latin typeface="Arial" panose="020B0604020202020204" pitchFamily="34" charset="0"/>
                <a:ea typeface="思源黑体 CN Bold"/>
                <a:sym typeface="Arial" panose="020B0604020202020204" pitchFamily="34" charset="0"/>
              </a:rPr>
              <a:t>：啥叫电路性能呢？电路分为进行数字信号处理的数字电路和进行模拟信号处理的模拟电路，这两个性能是不同的，数字信号以二进制 0 与 1 两个状态表示，模拟信号是用电压、电流或者频率的大小来表示的，所以按照电路性能分为：数字 ASIC 和模拟 ASIC </a:t>
            </a:r>
            <a:endParaRPr lang="zh-CN" altLang="en-US" sz="1400" spc="130" dirty="0">
              <a:latin typeface="Arial" panose="020B0604020202020204" pitchFamily="34" charset="0"/>
              <a:ea typeface="思源黑体 CN Bold"/>
              <a:sym typeface="Arial" panose="020B0604020202020204" pitchFamily="34" charset="0"/>
            </a:endParaRPr>
          </a:p>
          <a:p>
            <a:pPr>
              <a:lnSpc>
                <a:spcPct val="120000"/>
              </a:lnSpc>
            </a:pPr>
            <a:r>
              <a:rPr lang="zh-CN" altLang="en-US" sz="1400" spc="130" dirty="0">
                <a:latin typeface="Arial" panose="020B0604020202020204" pitchFamily="34" charset="0"/>
                <a:ea typeface="思源黑体 CN Bold"/>
                <a:sym typeface="Arial" panose="020B0604020202020204" pitchFamily="34" charset="0"/>
              </a:rPr>
              <a:t>第四种按制造方法分：</a:t>
            </a:r>
            <a:endParaRPr lang="zh-CN" altLang="en-US" sz="1400" spc="130" dirty="0">
              <a:latin typeface="Arial" panose="020B0604020202020204" pitchFamily="34" charset="0"/>
              <a:ea typeface="思源黑体 CN Bold"/>
              <a:sym typeface="Arial" panose="020B0604020202020204" pitchFamily="34" charset="0"/>
            </a:endParaRPr>
          </a:p>
          <a:p>
            <a:pPr>
              <a:lnSpc>
                <a:spcPct val="120000"/>
              </a:lnSpc>
            </a:pPr>
            <a:r>
              <a:rPr lang="zh-CN" altLang="en-US" sz="1400" spc="130" dirty="0">
                <a:highlight>
                  <a:srgbClr val="FFFF00"/>
                </a:highlight>
                <a:latin typeface="Arial" panose="020B0604020202020204" pitchFamily="34" charset="0"/>
                <a:ea typeface="思源黑体 CN Bold"/>
                <a:sym typeface="Arial" panose="020B0604020202020204" pitchFamily="34" charset="0"/>
              </a:rPr>
              <a:t> 全定制集成电路 </a:t>
            </a:r>
            <a:r>
              <a:rPr lang="zh-CN" altLang="en-US" sz="1400" spc="130" dirty="0">
                <a:latin typeface="Arial" panose="020B0604020202020204" pitchFamily="34" charset="0"/>
                <a:ea typeface="思源黑体 CN Bold"/>
                <a:sym typeface="Arial" panose="020B0604020202020204" pitchFamily="34" charset="0"/>
              </a:rPr>
              <a:t>：全定制集成电路按规定的功能、性能要求，对电路的结构布局、布线均进行专门的最优化设计，以达到芯片的最佳利用。这样制作的集成电路称为全定制电路。</a:t>
            </a:r>
            <a:endParaRPr lang="zh-CN" altLang="en-US" sz="1400" spc="130" dirty="0">
              <a:latin typeface="Arial" panose="020B0604020202020204" pitchFamily="34" charset="0"/>
              <a:ea typeface="思源黑体 CN Bold"/>
              <a:sym typeface="Arial" panose="020B0604020202020204" pitchFamily="34" charset="0"/>
            </a:endParaRPr>
          </a:p>
          <a:p>
            <a:pPr>
              <a:lnSpc>
                <a:spcPct val="120000"/>
              </a:lnSpc>
            </a:pPr>
            <a:r>
              <a:rPr lang="zh-CN" altLang="en-US" sz="1400" spc="130" dirty="0">
                <a:highlight>
                  <a:srgbClr val="FFFF00"/>
                </a:highlight>
                <a:latin typeface="Arial" panose="020B0604020202020204" pitchFamily="34" charset="0"/>
                <a:ea typeface="思源黑体 CN Bold"/>
                <a:sym typeface="Arial" panose="020B0604020202020204" pitchFamily="34" charset="0"/>
              </a:rPr>
              <a:t>半定制集成电路</a:t>
            </a:r>
            <a:r>
              <a:rPr lang="zh-CN" altLang="en-US" sz="1400" spc="130" dirty="0">
                <a:latin typeface="Arial" panose="020B0604020202020204" pitchFamily="34" charset="0"/>
                <a:ea typeface="思源黑体 CN Bold"/>
                <a:sym typeface="Arial" panose="020B0604020202020204" pitchFamily="34" charset="0"/>
              </a:rPr>
              <a:t>：</a:t>
            </a:r>
            <a:r>
              <a:rPr lang="zh-CN" altLang="en-US" sz="1400" spc="130" dirty="0">
                <a:latin typeface="Arial" panose="020B0604020202020204" pitchFamily="34" charset="0"/>
                <a:ea typeface="思源黑体 CN Bold"/>
                <a:sym typeface="Arial" panose="020B0604020202020204" pitchFamily="34" charset="0"/>
              </a:rPr>
              <a:t>半定制集成电路由厂家提供一定规格的功能块，如门阵列、标准单元、可编程逻辑器件等，按用户要求利用专门设计权的软件进行必要的连接，从而设计出所需要的专用集成电路，称为半定制电路</a:t>
            </a:r>
            <a:endParaRPr lang="zh-CN" altLang="en-US" sz="1400" spc="130" dirty="0">
              <a:latin typeface="Arial" panose="020B0604020202020204" pitchFamily="34" charset="0"/>
              <a:ea typeface="思源黑体 CN Bold"/>
              <a:sym typeface="Arial" panose="020B0604020202020204" pitchFamily="34" charset="0"/>
            </a:endParaRPr>
          </a:p>
          <a:p>
            <a:pPr>
              <a:lnSpc>
                <a:spcPct val="120000"/>
              </a:lnSpc>
            </a:pPr>
            <a:r>
              <a:rPr lang="zh-CN" altLang="en-US" sz="1400" spc="130" dirty="0">
                <a:highlight>
                  <a:srgbClr val="FFFF00"/>
                </a:highlight>
                <a:latin typeface="Arial" panose="020B0604020202020204" pitchFamily="34" charset="0"/>
                <a:ea typeface="思源黑体 CN Bold"/>
                <a:sym typeface="Arial" panose="020B0604020202020204" pitchFamily="34" charset="0"/>
              </a:rPr>
              <a:t>可编程集成电路：</a:t>
            </a:r>
            <a:r>
              <a:rPr lang="zh-CN" altLang="en-US" sz="1400" spc="130" dirty="0">
                <a:latin typeface="Arial" panose="020B0604020202020204" pitchFamily="34" charset="0"/>
                <a:ea typeface="思源黑体 CN Bold"/>
                <a:sym typeface="Arial" panose="020B0604020202020204" pitchFamily="34" charset="0"/>
              </a:rPr>
              <a:t>可编程的集成电路是此集成电路内部有可供用户自行编程的 ROM 区。它可以是 EEPROM(紫外线可擦除的可编程，或者其它形式的可编程存贮器。用户可以在这个区域内编写简短的程序（用机器语言），它多用在单片机，FPGA....。</a:t>
            </a:r>
            <a:endParaRPr lang="zh-CN" altLang="en-US" sz="1400" spc="130" dirty="0">
              <a:latin typeface="Arial" panose="020B0604020202020204" pitchFamily="34" charset="0"/>
              <a:ea typeface="思源黑体 CN Bold"/>
              <a:sym typeface="Arial" panose="020B0604020202020204" pitchFamily="34" charset="0"/>
            </a:endParaRPr>
          </a:p>
          <a:p>
            <a:pPr>
              <a:lnSpc>
                <a:spcPct val="120000"/>
              </a:lnSpc>
            </a:pPr>
            <a:r>
              <a:rPr lang="zh-CN" altLang="en-US" sz="1400" spc="130" dirty="0">
                <a:latin typeface="Arial" panose="020B0604020202020204" pitchFamily="34" charset="0"/>
                <a:ea typeface="思源黑体 CN Bold"/>
                <a:sym typeface="Arial" panose="020B0604020202020204" pitchFamily="34" charset="0"/>
              </a:rPr>
              <a:t>给应用带来很大的方便</a:t>
            </a:r>
            <a:endParaRPr lang="zh-CN" altLang="en-US" sz="1400" spc="130" dirty="0">
              <a:latin typeface="Arial" panose="020B0604020202020204" pitchFamily="34" charset="0"/>
              <a:ea typeface="思源黑体 CN Bold"/>
              <a:sym typeface="Arial" panose="020B0604020202020204" pitchFamily="34" charset="0"/>
            </a:endParaRPr>
          </a:p>
        </p:txBody>
      </p:sp>
    </p:spTree>
  </p:cSld>
  <p:clrMapOvr>
    <a:masterClrMapping/>
  </p:clrMapOvr>
  <p:transition spd="slow" advTm="3000">
    <p:push/>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nvSpPr>
        <p:spPr>
          <a:xfrm>
            <a:off x="64770" y="1109980"/>
            <a:ext cx="12126595" cy="810260"/>
          </a:xfrm>
          <a:prstGeom prst="rect">
            <a:avLst/>
          </a:prstGeom>
          <a:noFill/>
        </p:spPr>
        <p:txBody>
          <a:bodyPr wrap="square" rtlCol="0">
            <a:spAutoFit/>
          </a:bodyPr>
          <a:lstStyle/>
          <a:p>
            <a:pPr>
              <a:lnSpc>
                <a:spcPct val="130000"/>
              </a:lnSpc>
            </a:pPr>
            <a:endParaRPr lang="zh-CN" altLang="en-US" sz="1200" spc="130" dirty="0">
              <a:solidFill>
                <a:schemeClr val="tx1"/>
              </a:solidFill>
              <a:latin typeface="华文细黑" panose="02010600040101010101" charset="-122"/>
              <a:ea typeface="思源黑体 CN Bold"/>
              <a:sym typeface="华文细黑" panose="02010600040101010101" charset="-122"/>
            </a:endParaRPr>
          </a:p>
          <a:p>
            <a:pPr>
              <a:lnSpc>
                <a:spcPct val="130000"/>
              </a:lnSpc>
            </a:pPr>
            <a:endParaRPr lang="zh-CN" altLang="en-US" sz="1200" spc="130" dirty="0">
              <a:solidFill>
                <a:schemeClr val="tx1"/>
              </a:solidFill>
              <a:latin typeface="华文细黑" panose="02010600040101010101" charset="-122"/>
              <a:ea typeface="思源黑体 CN Bold"/>
              <a:sym typeface="华文细黑" panose="02010600040101010101" charset="-122"/>
            </a:endParaRPr>
          </a:p>
          <a:p>
            <a:pPr>
              <a:lnSpc>
                <a:spcPct val="130000"/>
              </a:lnSpc>
            </a:pPr>
            <a:endParaRPr sz="1200" spc="130" dirty="0">
              <a:solidFill>
                <a:schemeClr val="tx1"/>
              </a:solidFill>
              <a:latin typeface="华文细黑" panose="02010600040101010101" charset="-122"/>
              <a:ea typeface="思源黑体 CN Bold"/>
              <a:sym typeface="华文细黑" panose="02010600040101010101" charset="-122"/>
            </a:endParaRPr>
          </a:p>
        </p:txBody>
      </p:sp>
      <p:pic>
        <p:nvPicPr>
          <p:cNvPr id="2" name="图片 1"/>
          <p:cNvPicPr>
            <a:picLocks noChangeAspect="1"/>
          </p:cNvPicPr>
          <p:nvPr>
            <p:custDataLst>
              <p:tags r:id="rId1"/>
            </p:custDataLst>
          </p:nvPr>
        </p:nvPicPr>
        <p:blipFill>
          <a:blip r:embed="rId2"/>
          <a:stretch>
            <a:fillRect/>
          </a:stretch>
        </p:blipFill>
        <p:spPr>
          <a:xfrm>
            <a:off x="10523220" y="48895"/>
            <a:ext cx="1668780" cy="1485900"/>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0" y="48895"/>
            <a:ext cx="12026265" cy="6122035"/>
          </a:xfrm>
          <a:prstGeom prst="rect">
            <a:avLst/>
          </a:prstGeom>
        </p:spPr>
      </p:pic>
      <p:sp>
        <p:nvSpPr>
          <p:cNvPr id="5" name="文本框 4"/>
          <p:cNvSpPr txBox="1"/>
          <p:nvPr>
            <p:custDataLst>
              <p:tags r:id="rId5"/>
            </p:custDataLst>
          </p:nvPr>
        </p:nvSpPr>
        <p:spPr bwMode="auto">
          <a:xfrm>
            <a:off x="140970" y="122555"/>
            <a:ext cx="8049260" cy="473075"/>
          </a:xfrm>
          <a:prstGeom prst="rect">
            <a:avLst/>
          </a:prstGeom>
          <a:noFill/>
        </p:spPr>
        <p:txBody>
          <a:bodyPr wrap="square" lIns="90000" tIns="46800" rIns="90000" bIns="0" anchor="b" anchorCtr="0">
            <a:noAutofit/>
          </a:bodyPr>
          <a:p>
            <a:pPr>
              <a:lnSpc>
                <a:spcPct val="130000"/>
              </a:lnSpc>
            </a:pPr>
            <a:r>
              <a:rPr lang="zh-CN" altLang="en-US" sz="3100" b="1" u="sng" spc="300">
                <a:solidFill>
                  <a:schemeClr val="accent1"/>
                </a:solidFill>
                <a:latin typeface="Arial" panose="020B0604020202020204" pitchFamily="34" charset="0"/>
                <a:ea typeface="汉仪旗黑-55简" panose="00020600040101010101" charset="-122"/>
                <a:cs typeface="微软雅黑" panose="020B0503020204020204" charset="-122"/>
                <a:sym typeface="Arial" panose="020B0604020202020204" pitchFamily="34" charset="0"/>
              </a:rPr>
              <a:t>芯片设计分类</a:t>
            </a:r>
            <a:r>
              <a:rPr lang="en-US" altLang="zh-CN" sz="3100" b="1" u="sng" spc="300">
                <a:solidFill>
                  <a:schemeClr val="accent1"/>
                </a:solidFill>
                <a:latin typeface="Arial" panose="020B0604020202020204" pitchFamily="34" charset="0"/>
                <a:ea typeface="汉仪旗黑-55简" panose="00020600040101010101" charset="-122"/>
                <a:cs typeface="微软雅黑" panose="020B0503020204020204" charset="-122"/>
                <a:sym typeface="Arial" panose="020B0604020202020204" pitchFamily="34" charset="0"/>
              </a:rPr>
              <a:t>  </a:t>
            </a:r>
            <a:endParaRPr lang="en-US" altLang="zh-CN" sz="3100" b="1" u="sng" spc="300">
              <a:solidFill>
                <a:schemeClr val="accent1"/>
              </a:solidFill>
              <a:latin typeface="Arial" panose="020B0604020202020204" pitchFamily="34" charset="0"/>
              <a:ea typeface="汉仪旗黑-55简" panose="00020600040101010101" charset="-122"/>
              <a:cs typeface="微软雅黑" panose="020B0503020204020204" charset="-122"/>
              <a:sym typeface="Arial" panose="020B0604020202020204" pitchFamily="34" charset="0"/>
            </a:endParaRPr>
          </a:p>
        </p:txBody>
      </p:sp>
    </p:spTree>
  </p:cSld>
  <p:clrMapOvr>
    <a:masterClrMapping/>
  </p:clrMapOvr>
  <p:transition spd="slow" advTm="3000">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nvSpPr>
        <p:spPr>
          <a:xfrm>
            <a:off x="64770" y="1109980"/>
            <a:ext cx="12126595" cy="810260"/>
          </a:xfrm>
          <a:prstGeom prst="rect">
            <a:avLst/>
          </a:prstGeom>
          <a:noFill/>
        </p:spPr>
        <p:txBody>
          <a:bodyPr wrap="square" rtlCol="0">
            <a:spAutoFit/>
          </a:bodyPr>
          <a:lstStyle/>
          <a:p>
            <a:pPr>
              <a:lnSpc>
                <a:spcPct val="130000"/>
              </a:lnSpc>
            </a:pPr>
            <a:endParaRPr lang="zh-CN" altLang="en-US" sz="1200" spc="130" dirty="0">
              <a:solidFill>
                <a:schemeClr val="tx1"/>
              </a:solidFill>
              <a:latin typeface="华文细黑" panose="02010600040101010101" charset="-122"/>
              <a:ea typeface="思源黑体 CN Bold"/>
              <a:sym typeface="华文细黑" panose="02010600040101010101" charset="-122"/>
            </a:endParaRPr>
          </a:p>
          <a:p>
            <a:pPr>
              <a:lnSpc>
                <a:spcPct val="130000"/>
              </a:lnSpc>
            </a:pPr>
            <a:endParaRPr lang="zh-CN" altLang="en-US" sz="1200" spc="130" dirty="0">
              <a:solidFill>
                <a:schemeClr val="tx1"/>
              </a:solidFill>
              <a:latin typeface="华文细黑" panose="02010600040101010101" charset="-122"/>
              <a:ea typeface="思源黑体 CN Bold"/>
              <a:sym typeface="华文细黑" panose="02010600040101010101" charset="-122"/>
            </a:endParaRPr>
          </a:p>
          <a:p>
            <a:pPr>
              <a:lnSpc>
                <a:spcPct val="130000"/>
              </a:lnSpc>
            </a:pPr>
            <a:endParaRPr sz="1200" spc="130" dirty="0">
              <a:solidFill>
                <a:schemeClr val="tx1"/>
              </a:solidFill>
              <a:latin typeface="华文细黑" panose="02010600040101010101" charset="-122"/>
              <a:ea typeface="思源黑体 CN Bold"/>
              <a:sym typeface="华文细黑" panose="02010600040101010101" charset="-122"/>
            </a:endParaRPr>
          </a:p>
        </p:txBody>
      </p:sp>
      <p:pic>
        <p:nvPicPr>
          <p:cNvPr id="2" name="图片 1"/>
          <p:cNvPicPr>
            <a:picLocks noChangeAspect="1"/>
          </p:cNvPicPr>
          <p:nvPr>
            <p:custDataLst>
              <p:tags r:id="rId1"/>
            </p:custDataLst>
          </p:nvPr>
        </p:nvPicPr>
        <p:blipFill>
          <a:blip r:embed="rId2"/>
          <a:stretch>
            <a:fillRect/>
          </a:stretch>
        </p:blipFill>
        <p:spPr>
          <a:xfrm>
            <a:off x="10523220" y="48895"/>
            <a:ext cx="1668780" cy="1485900"/>
          </a:xfrm>
          <a:prstGeom prst="rect">
            <a:avLst/>
          </a:prstGeom>
        </p:spPr>
      </p:pic>
      <p:sp>
        <p:nvSpPr>
          <p:cNvPr id="5" name="文本框 4"/>
          <p:cNvSpPr txBox="1"/>
          <p:nvPr>
            <p:custDataLst>
              <p:tags r:id="rId3"/>
            </p:custDataLst>
          </p:nvPr>
        </p:nvSpPr>
        <p:spPr bwMode="auto">
          <a:xfrm>
            <a:off x="140970" y="122555"/>
            <a:ext cx="8049260" cy="473075"/>
          </a:xfrm>
          <a:prstGeom prst="rect">
            <a:avLst/>
          </a:prstGeom>
          <a:noFill/>
        </p:spPr>
        <p:txBody>
          <a:bodyPr wrap="square" lIns="90000" tIns="46800" rIns="90000" bIns="0" anchor="b" anchorCtr="0">
            <a:noAutofit/>
          </a:bodyPr>
          <a:p>
            <a:pPr>
              <a:lnSpc>
                <a:spcPct val="130000"/>
              </a:lnSpc>
            </a:pPr>
            <a:r>
              <a:rPr lang="zh-CN" altLang="en-US" sz="3100" b="1" u="sng" spc="300">
                <a:solidFill>
                  <a:schemeClr val="accent1"/>
                </a:solidFill>
                <a:latin typeface="Arial" panose="020B0604020202020204" pitchFamily="34" charset="0"/>
                <a:ea typeface="汉仪旗黑-55简" panose="00020600040101010101" charset="-122"/>
                <a:cs typeface="微软雅黑" panose="020B0503020204020204" charset="-122"/>
                <a:sym typeface="Arial" panose="020B0604020202020204" pitchFamily="34" charset="0"/>
              </a:rPr>
              <a:t>芯片设计岗位</a:t>
            </a:r>
            <a:r>
              <a:rPr lang="en-US" altLang="zh-CN" sz="3100" b="1" u="sng" spc="300">
                <a:solidFill>
                  <a:schemeClr val="accent1"/>
                </a:solidFill>
                <a:latin typeface="Arial" panose="020B0604020202020204" pitchFamily="34" charset="0"/>
                <a:ea typeface="汉仪旗黑-55简" panose="00020600040101010101" charset="-122"/>
                <a:cs typeface="微软雅黑" panose="020B0503020204020204" charset="-122"/>
                <a:sym typeface="Arial" panose="020B0604020202020204" pitchFamily="34" charset="0"/>
              </a:rPr>
              <a:t>  </a:t>
            </a:r>
            <a:endParaRPr lang="en-US" altLang="zh-CN" sz="3100" b="1" u="sng" spc="300">
              <a:solidFill>
                <a:schemeClr val="accent1"/>
              </a:solidFill>
              <a:latin typeface="Arial" panose="020B0604020202020204" pitchFamily="34" charset="0"/>
              <a:ea typeface="汉仪旗黑-55简" panose="00020600040101010101" charset="-122"/>
              <a:cs typeface="微软雅黑" panose="020B0503020204020204" charset="-122"/>
              <a:sym typeface="Arial" panose="020B0604020202020204" pitchFamily="34" charset="0"/>
            </a:endParaRPr>
          </a:p>
        </p:txBody>
      </p:sp>
      <p:pic>
        <p:nvPicPr>
          <p:cNvPr id="3" name="图片 2"/>
          <p:cNvPicPr>
            <a:picLocks noChangeAspect="1"/>
          </p:cNvPicPr>
          <p:nvPr/>
        </p:nvPicPr>
        <p:blipFill>
          <a:blip r:embed="rId4"/>
          <a:stretch>
            <a:fillRect/>
          </a:stretch>
        </p:blipFill>
        <p:spPr>
          <a:xfrm>
            <a:off x="64770" y="762635"/>
            <a:ext cx="10903585" cy="6024245"/>
          </a:xfrm>
          <a:prstGeom prst="rect">
            <a:avLst/>
          </a:prstGeom>
        </p:spPr>
      </p:pic>
    </p:spTree>
  </p:cSld>
  <p:clrMapOvr>
    <a:masterClrMapping/>
  </p:clrMapOvr>
  <p:transition spd="slow" advTm="3000">
    <p:pu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nvSpPr>
        <p:spPr>
          <a:xfrm>
            <a:off x="64770" y="1109980"/>
            <a:ext cx="12126595" cy="810260"/>
          </a:xfrm>
          <a:prstGeom prst="rect">
            <a:avLst/>
          </a:prstGeom>
          <a:noFill/>
        </p:spPr>
        <p:txBody>
          <a:bodyPr wrap="square" rtlCol="0">
            <a:spAutoFit/>
          </a:bodyPr>
          <a:lstStyle/>
          <a:p>
            <a:pPr>
              <a:lnSpc>
                <a:spcPct val="130000"/>
              </a:lnSpc>
            </a:pPr>
            <a:endParaRPr lang="zh-CN" altLang="en-US" sz="1200" spc="130" dirty="0">
              <a:solidFill>
                <a:schemeClr val="tx1"/>
              </a:solidFill>
              <a:latin typeface="华文细黑" panose="02010600040101010101" charset="-122"/>
              <a:ea typeface="思源黑体 CN Bold"/>
              <a:sym typeface="华文细黑" panose="02010600040101010101" charset="-122"/>
            </a:endParaRPr>
          </a:p>
          <a:p>
            <a:pPr>
              <a:lnSpc>
                <a:spcPct val="130000"/>
              </a:lnSpc>
            </a:pPr>
            <a:endParaRPr lang="zh-CN" altLang="en-US" sz="1200" spc="130" dirty="0">
              <a:solidFill>
                <a:schemeClr val="tx1"/>
              </a:solidFill>
              <a:latin typeface="华文细黑" panose="02010600040101010101" charset="-122"/>
              <a:ea typeface="思源黑体 CN Bold"/>
              <a:sym typeface="华文细黑" panose="02010600040101010101" charset="-122"/>
            </a:endParaRPr>
          </a:p>
          <a:p>
            <a:pPr>
              <a:lnSpc>
                <a:spcPct val="130000"/>
              </a:lnSpc>
            </a:pPr>
            <a:endParaRPr sz="1200" spc="130" dirty="0">
              <a:solidFill>
                <a:schemeClr val="tx1"/>
              </a:solidFill>
              <a:latin typeface="华文细黑" panose="02010600040101010101" charset="-122"/>
              <a:ea typeface="思源黑体 CN Bold"/>
              <a:sym typeface="华文细黑" panose="02010600040101010101" charset="-122"/>
            </a:endParaRPr>
          </a:p>
        </p:txBody>
      </p:sp>
      <p:pic>
        <p:nvPicPr>
          <p:cNvPr id="2" name="图片 1"/>
          <p:cNvPicPr>
            <a:picLocks noChangeAspect="1"/>
          </p:cNvPicPr>
          <p:nvPr>
            <p:custDataLst>
              <p:tags r:id="rId1"/>
            </p:custDataLst>
          </p:nvPr>
        </p:nvPicPr>
        <p:blipFill>
          <a:blip r:embed="rId2"/>
          <a:stretch>
            <a:fillRect/>
          </a:stretch>
        </p:blipFill>
        <p:spPr>
          <a:xfrm>
            <a:off x="10523220" y="48895"/>
            <a:ext cx="1668780" cy="1485900"/>
          </a:xfrm>
          <a:prstGeom prst="rect">
            <a:avLst/>
          </a:prstGeom>
        </p:spPr>
      </p:pic>
      <p:sp>
        <p:nvSpPr>
          <p:cNvPr id="5" name="文本框 4"/>
          <p:cNvSpPr txBox="1"/>
          <p:nvPr>
            <p:custDataLst>
              <p:tags r:id="rId3"/>
            </p:custDataLst>
          </p:nvPr>
        </p:nvSpPr>
        <p:spPr bwMode="auto">
          <a:xfrm>
            <a:off x="140970" y="122555"/>
            <a:ext cx="8049260" cy="473075"/>
          </a:xfrm>
          <a:prstGeom prst="rect">
            <a:avLst/>
          </a:prstGeom>
          <a:noFill/>
        </p:spPr>
        <p:txBody>
          <a:bodyPr wrap="square" lIns="90000" tIns="46800" rIns="90000" bIns="0" anchor="b" anchorCtr="0">
            <a:noAutofit/>
          </a:bodyPr>
          <a:p>
            <a:pPr>
              <a:lnSpc>
                <a:spcPct val="130000"/>
              </a:lnSpc>
            </a:pPr>
            <a:r>
              <a:rPr lang="zh-CN" altLang="en-US" sz="3100" b="1" u="sng" spc="300">
                <a:solidFill>
                  <a:schemeClr val="accent1"/>
                </a:solidFill>
                <a:latin typeface="Arial" panose="020B0604020202020204" pitchFamily="34" charset="0"/>
                <a:ea typeface="汉仪旗黑-55简" panose="00020600040101010101" charset="-122"/>
                <a:cs typeface="微软雅黑" panose="020B0503020204020204" charset="-122"/>
                <a:sym typeface="Arial" panose="020B0604020202020204" pitchFamily="34" charset="0"/>
              </a:rPr>
              <a:t>芯片设计流程</a:t>
            </a:r>
            <a:r>
              <a:rPr lang="en-US" altLang="zh-CN" sz="3100" b="1" u="sng" spc="300">
                <a:solidFill>
                  <a:schemeClr val="accent1"/>
                </a:solidFill>
                <a:latin typeface="Arial" panose="020B0604020202020204" pitchFamily="34" charset="0"/>
                <a:ea typeface="汉仪旗黑-55简" panose="00020600040101010101" charset="-122"/>
                <a:cs typeface="微软雅黑" panose="020B0503020204020204" charset="-122"/>
                <a:sym typeface="Arial" panose="020B0604020202020204" pitchFamily="34" charset="0"/>
              </a:rPr>
              <a:t>  </a:t>
            </a:r>
            <a:endParaRPr lang="en-US" altLang="zh-CN" sz="3100" b="1" u="sng" spc="300">
              <a:solidFill>
                <a:schemeClr val="accent1"/>
              </a:solidFill>
              <a:latin typeface="Arial" panose="020B0604020202020204" pitchFamily="34" charset="0"/>
              <a:ea typeface="汉仪旗黑-55简" panose="00020600040101010101" charset="-122"/>
              <a:cs typeface="微软雅黑" panose="020B0503020204020204" charset="-122"/>
              <a:sym typeface="Arial" panose="020B0604020202020204" pitchFamily="34" charset="0"/>
            </a:endParaRPr>
          </a:p>
        </p:txBody>
      </p:sp>
      <p:pic>
        <p:nvPicPr>
          <p:cNvPr id="4" name="图片 3"/>
          <p:cNvPicPr>
            <a:picLocks noChangeAspect="1"/>
          </p:cNvPicPr>
          <p:nvPr/>
        </p:nvPicPr>
        <p:blipFill>
          <a:blip r:embed="rId4"/>
          <a:stretch>
            <a:fillRect/>
          </a:stretch>
        </p:blipFill>
        <p:spPr>
          <a:xfrm>
            <a:off x="250825" y="996315"/>
            <a:ext cx="10622280" cy="5307965"/>
          </a:xfrm>
          <a:prstGeom prst="rect">
            <a:avLst/>
          </a:prstGeom>
        </p:spPr>
      </p:pic>
    </p:spTree>
  </p:cSld>
  <p:clrMapOvr>
    <a:masterClrMapping/>
  </p:clrMapOvr>
  <p:transition spd="slow" advTm="3000">
    <p:pu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形状 30"/>
          <p:cNvSpPr/>
          <p:nvPr/>
        </p:nvSpPr>
        <p:spPr>
          <a:xfrm>
            <a:off x="0" y="334645"/>
            <a:ext cx="4182745" cy="410210"/>
          </a:xfrm>
          <a:custGeom>
            <a:avLst/>
            <a:gdLst>
              <a:gd name="connsiteX0" fmla="*/ 124918 w 1413447"/>
              <a:gd name="connsiteY0" fmla="*/ 0 h 535213"/>
              <a:gd name="connsiteX1" fmla="*/ 1413447 w 1413447"/>
              <a:gd name="connsiteY1" fmla="*/ 0 h 535213"/>
              <a:gd name="connsiteX2" fmla="*/ 1293066 w 1413447"/>
              <a:gd name="connsiteY2" fmla="*/ 515770 h 535213"/>
              <a:gd name="connsiteX3" fmla="*/ 1296954 w 1413447"/>
              <a:gd name="connsiteY3" fmla="*/ 499111 h 535213"/>
              <a:gd name="connsiteX4" fmla="*/ 1284655 w 1413447"/>
              <a:gd name="connsiteY4" fmla="*/ 517355 h 535213"/>
              <a:gd name="connsiteX5" fmla="*/ 1263549 w 1413447"/>
              <a:gd name="connsiteY5" fmla="*/ 531584 h 535213"/>
              <a:gd name="connsiteX6" fmla="*/ 1245575 w 1413447"/>
              <a:gd name="connsiteY6" fmla="*/ 535213 h 535213"/>
              <a:gd name="connsiteX7" fmla="*/ 74294 w 1413447"/>
              <a:gd name="connsiteY7" fmla="*/ 535213 h 535213"/>
              <a:gd name="connsiteX8" fmla="*/ 56319 w 1413447"/>
              <a:gd name="connsiteY8" fmla="*/ 531584 h 535213"/>
              <a:gd name="connsiteX9" fmla="*/ 15766 w 1413447"/>
              <a:gd name="connsiteY9" fmla="*/ 470404 h 535213"/>
              <a:gd name="connsiteX10" fmla="*/ 19864 w 1413447"/>
              <a:gd name="connsiteY10" fmla="*/ 450109 h 535213"/>
              <a:gd name="connsiteX11" fmla="*/ 0 w 1413447"/>
              <a:gd name="connsiteY11" fmla="*/ 535213 h 53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3447" h="535213">
                <a:moveTo>
                  <a:pt x="124918" y="0"/>
                </a:moveTo>
                <a:lnTo>
                  <a:pt x="1413447" y="0"/>
                </a:lnTo>
                <a:lnTo>
                  <a:pt x="1293066" y="515770"/>
                </a:lnTo>
                <a:lnTo>
                  <a:pt x="1296954" y="499111"/>
                </a:lnTo>
                <a:lnTo>
                  <a:pt x="1284655" y="517355"/>
                </a:lnTo>
                <a:cubicBezTo>
                  <a:pt x="1278647" y="523362"/>
                  <a:pt x="1271493" y="528224"/>
                  <a:pt x="1263549" y="531584"/>
                </a:cubicBezTo>
                <a:lnTo>
                  <a:pt x="1245575" y="535213"/>
                </a:lnTo>
                <a:lnTo>
                  <a:pt x="74294" y="535213"/>
                </a:lnTo>
                <a:lnTo>
                  <a:pt x="56319" y="531584"/>
                </a:lnTo>
                <a:cubicBezTo>
                  <a:pt x="32488" y="521505"/>
                  <a:pt x="15766" y="497907"/>
                  <a:pt x="15766" y="470404"/>
                </a:cubicBezTo>
                <a:lnTo>
                  <a:pt x="19864" y="450109"/>
                </a:lnTo>
                <a:lnTo>
                  <a:pt x="0" y="535213"/>
                </a:lnTo>
                <a:close/>
              </a:path>
            </a:pathLst>
          </a:custGeom>
          <a:solidFill>
            <a:srgbClr val="267CA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nSpc>
                <a:spcPct val="130000"/>
              </a:lnSpc>
            </a:pPr>
            <a:r>
              <a:rPr lang="en-US" spc="130" dirty="0">
                <a:solidFill>
                  <a:schemeClr val="tx1"/>
                </a:solidFill>
                <a:latin typeface="Arial" panose="020B0604020202020204" pitchFamily="34" charset="0"/>
                <a:ea typeface="汉仪旗黑-55简" panose="00020600040101010101" charset="-122"/>
                <a:sym typeface="华文细黑" panose="02010600040101010101" charset="-122"/>
              </a:rPr>
              <a:t>    </a:t>
            </a:r>
            <a:r>
              <a:rPr lang="zh-CN" altLang="en-US" spc="130" dirty="0">
                <a:solidFill>
                  <a:schemeClr val="tx1"/>
                </a:solidFill>
                <a:latin typeface="Arial" panose="020B0604020202020204" pitchFamily="34" charset="0"/>
                <a:ea typeface="汉仪旗黑-55简" panose="00020600040101010101" charset="-122"/>
                <a:sym typeface="华文细黑" panose="02010600040101010101" charset="-122"/>
              </a:rPr>
              <a:t>全球芯片设计十强</a:t>
            </a:r>
            <a:endParaRPr lang="zh-CN" altLang="en-US" spc="130" dirty="0">
              <a:solidFill>
                <a:schemeClr val="tx1"/>
              </a:solidFill>
              <a:latin typeface="Arial" panose="020B0604020202020204" pitchFamily="34" charset="0"/>
              <a:ea typeface="汉仪旗黑-55简" panose="00020600040101010101" charset="-122"/>
              <a:sym typeface="华文细黑" panose="02010600040101010101" charset="-122"/>
            </a:endParaRPr>
          </a:p>
        </p:txBody>
      </p:sp>
      <p:pic>
        <p:nvPicPr>
          <p:cNvPr id="2" name="图片 1"/>
          <p:cNvPicPr>
            <a:picLocks noChangeAspect="1"/>
          </p:cNvPicPr>
          <p:nvPr/>
        </p:nvPicPr>
        <p:blipFill>
          <a:blip r:embed="rId1"/>
          <a:stretch>
            <a:fillRect/>
          </a:stretch>
        </p:blipFill>
        <p:spPr>
          <a:xfrm>
            <a:off x="10523220" y="48895"/>
            <a:ext cx="1668780" cy="1485900"/>
          </a:xfrm>
          <a:prstGeom prst="rect">
            <a:avLst/>
          </a:prstGeom>
        </p:spPr>
      </p:pic>
      <p:pic>
        <p:nvPicPr>
          <p:cNvPr id="3" name="图片 2"/>
          <p:cNvPicPr>
            <a:picLocks noChangeAspect="1"/>
          </p:cNvPicPr>
          <p:nvPr/>
        </p:nvPicPr>
        <p:blipFill>
          <a:blip r:embed="rId2"/>
          <a:stretch>
            <a:fillRect/>
          </a:stretch>
        </p:blipFill>
        <p:spPr>
          <a:xfrm>
            <a:off x="78105" y="909320"/>
            <a:ext cx="9609455" cy="4572635"/>
          </a:xfrm>
          <a:prstGeom prst="rect">
            <a:avLst/>
          </a:prstGeom>
        </p:spPr>
      </p:pic>
    </p:spTree>
  </p:cSld>
  <p:clrMapOvr>
    <a:masterClrMapping/>
  </p:clrMapOvr>
  <p:transition spd="slow" advTm="3000">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形状 30"/>
          <p:cNvSpPr/>
          <p:nvPr/>
        </p:nvSpPr>
        <p:spPr>
          <a:xfrm>
            <a:off x="0" y="191770"/>
            <a:ext cx="4504690" cy="334010"/>
          </a:xfrm>
          <a:custGeom>
            <a:avLst/>
            <a:gdLst>
              <a:gd name="connsiteX0" fmla="*/ 124918 w 1413447"/>
              <a:gd name="connsiteY0" fmla="*/ 0 h 535213"/>
              <a:gd name="connsiteX1" fmla="*/ 1413447 w 1413447"/>
              <a:gd name="connsiteY1" fmla="*/ 0 h 535213"/>
              <a:gd name="connsiteX2" fmla="*/ 1293066 w 1413447"/>
              <a:gd name="connsiteY2" fmla="*/ 515770 h 535213"/>
              <a:gd name="connsiteX3" fmla="*/ 1296954 w 1413447"/>
              <a:gd name="connsiteY3" fmla="*/ 499111 h 535213"/>
              <a:gd name="connsiteX4" fmla="*/ 1284655 w 1413447"/>
              <a:gd name="connsiteY4" fmla="*/ 517355 h 535213"/>
              <a:gd name="connsiteX5" fmla="*/ 1263549 w 1413447"/>
              <a:gd name="connsiteY5" fmla="*/ 531584 h 535213"/>
              <a:gd name="connsiteX6" fmla="*/ 1245575 w 1413447"/>
              <a:gd name="connsiteY6" fmla="*/ 535213 h 535213"/>
              <a:gd name="connsiteX7" fmla="*/ 74294 w 1413447"/>
              <a:gd name="connsiteY7" fmla="*/ 535213 h 535213"/>
              <a:gd name="connsiteX8" fmla="*/ 56319 w 1413447"/>
              <a:gd name="connsiteY8" fmla="*/ 531584 h 535213"/>
              <a:gd name="connsiteX9" fmla="*/ 15766 w 1413447"/>
              <a:gd name="connsiteY9" fmla="*/ 470404 h 535213"/>
              <a:gd name="connsiteX10" fmla="*/ 19864 w 1413447"/>
              <a:gd name="connsiteY10" fmla="*/ 450109 h 535213"/>
              <a:gd name="connsiteX11" fmla="*/ 0 w 1413447"/>
              <a:gd name="connsiteY11" fmla="*/ 535213 h 53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3447" h="535213">
                <a:moveTo>
                  <a:pt x="124918" y="0"/>
                </a:moveTo>
                <a:lnTo>
                  <a:pt x="1413447" y="0"/>
                </a:lnTo>
                <a:lnTo>
                  <a:pt x="1293066" y="515770"/>
                </a:lnTo>
                <a:lnTo>
                  <a:pt x="1296954" y="499111"/>
                </a:lnTo>
                <a:lnTo>
                  <a:pt x="1284655" y="517355"/>
                </a:lnTo>
                <a:cubicBezTo>
                  <a:pt x="1278647" y="523362"/>
                  <a:pt x="1271493" y="528224"/>
                  <a:pt x="1263549" y="531584"/>
                </a:cubicBezTo>
                <a:lnTo>
                  <a:pt x="1245575" y="535213"/>
                </a:lnTo>
                <a:lnTo>
                  <a:pt x="74294" y="535213"/>
                </a:lnTo>
                <a:lnTo>
                  <a:pt x="56319" y="531584"/>
                </a:lnTo>
                <a:cubicBezTo>
                  <a:pt x="32488" y="521505"/>
                  <a:pt x="15766" y="497907"/>
                  <a:pt x="15766" y="470404"/>
                </a:cubicBezTo>
                <a:lnTo>
                  <a:pt x="19864" y="450109"/>
                </a:lnTo>
                <a:lnTo>
                  <a:pt x="0" y="535213"/>
                </a:lnTo>
                <a:close/>
              </a:path>
            </a:pathLst>
          </a:custGeom>
          <a:solidFill>
            <a:srgbClr val="267CA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nSpc>
                <a:spcPct val="130000"/>
              </a:lnSpc>
            </a:pPr>
            <a:r>
              <a:rPr lang="en-US" spc="130" dirty="0">
                <a:solidFill>
                  <a:schemeClr val="tx1"/>
                </a:solidFill>
                <a:latin typeface="Arial" panose="020B0604020202020204" pitchFamily="34" charset="0"/>
                <a:ea typeface="汉仪旗黑-55简" panose="00020600040101010101" charset="-122"/>
                <a:sym typeface="华文细黑" panose="02010600040101010101" charset="-122"/>
              </a:rPr>
              <a:t>         2021</a:t>
            </a:r>
            <a:r>
              <a:rPr lang="zh-CN" altLang="en-US" spc="130" dirty="0">
                <a:solidFill>
                  <a:schemeClr val="tx1"/>
                </a:solidFill>
                <a:latin typeface="Arial" panose="020B0604020202020204" pitchFamily="34" charset="0"/>
                <a:ea typeface="汉仪旗黑-55简" panose="00020600040101010101" charset="-122"/>
                <a:sym typeface="华文细黑" panose="02010600040101010101" charset="-122"/>
              </a:rPr>
              <a:t>年国内十强芯片设计公司</a:t>
            </a:r>
            <a:endParaRPr lang="zh-CN" altLang="en-US" spc="130" dirty="0">
              <a:solidFill>
                <a:schemeClr val="tx1"/>
              </a:solidFill>
              <a:latin typeface="Arial" panose="020B0604020202020204" pitchFamily="34" charset="0"/>
              <a:ea typeface="汉仪旗黑-55简" panose="00020600040101010101" charset="-122"/>
              <a:sym typeface="华文细黑" panose="02010600040101010101" charset="-122"/>
            </a:endParaRPr>
          </a:p>
        </p:txBody>
      </p:sp>
      <p:pic>
        <p:nvPicPr>
          <p:cNvPr id="2" name="图片 1"/>
          <p:cNvPicPr>
            <a:picLocks noChangeAspect="1"/>
          </p:cNvPicPr>
          <p:nvPr/>
        </p:nvPicPr>
        <p:blipFill>
          <a:blip r:embed="rId1"/>
          <a:stretch>
            <a:fillRect/>
          </a:stretch>
        </p:blipFill>
        <p:spPr>
          <a:xfrm>
            <a:off x="10523220" y="48895"/>
            <a:ext cx="1668780" cy="1485900"/>
          </a:xfrm>
          <a:prstGeom prst="rect">
            <a:avLst/>
          </a:prstGeom>
        </p:spPr>
      </p:pic>
      <p:pic>
        <p:nvPicPr>
          <p:cNvPr id="5" name="图片 4"/>
          <p:cNvPicPr>
            <a:picLocks noChangeAspect="1"/>
          </p:cNvPicPr>
          <p:nvPr/>
        </p:nvPicPr>
        <p:blipFill>
          <a:blip r:embed="rId2"/>
          <a:stretch>
            <a:fillRect/>
          </a:stretch>
        </p:blipFill>
        <p:spPr>
          <a:xfrm>
            <a:off x="0" y="629920"/>
            <a:ext cx="9170035" cy="5250815"/>
          </a:xfrm>
          <a:prstGeom prst="rect">
            <a:avLst/>
          </a:prstGeom>
        </p:spPr>
      </p:pic>
    </p:spTree>
  </p:cSld>
  <p:clrMapOvr>
    <a:masterClrMapping/>
  </p:clrMapOvr>
  <p:transition spd="slow" advTm="3000">
    <p:push/>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形状 30"/>
          <p:cNvSpPr/>
          <p:nvPr/>
        </p:nvSpPr>
        <p:spPr>
          <a:xfrm>
            <a:off x="85725" y="267970"/>
            <a:ext cx="6523990" cy="562610"/>
          </a:xfrm>
          <a:custGeom>
            <a:avLst/>
            <a:gdLst>
              <a:gd name="connsiteX0" fmla="*/ 124918 w 1413447"/>
              <a:gd name="connsiteY0" fmla="*/ 0 h 535213"/>
              <a:gd name="connsiteX1" fmla="*/ 1413447 w 1413447"/>
              <a:gd name="connsiteY1" fmla="*/ 0 h 535213"/>
              <a:gd name="connsiteX2" fmla="*/ 1293066 w 1413447"/>
              <a:gd name="connsiteY2" fmla="*/ 515770 h 535213"/>
              <a:gd name="connsiteX3" fmla="*/ 1296954 w 1413447"/>
              <a:gd name="connsiteY3" fmla="*/ 499111 h 535213"/>
              <a:gd name="connsiteX4" fmla="*/ 1284655 w 1413447"/>
              <a:gd name="connsiteY4" fmla="*/ 517355 h 535213"/>
              <a:gd name="connsiteX5" fmla="*/ 1263549 w 1413447"/>
              <a:gd name="connsiteY5" fmla="*/ 531584 h 535213"/>
              <a:gd name="connsiteX6" fmla="*/ 1245575 w 1413447"/>
              <a:gd name="connsiteY6" fmla="*/ 535213 h 535213"/>
              <a:gd name="connsiteX7" fmla="*/ 74294 w 1413447"/>
              <a:gd name="connsiteY7" fmla="*/ 535213 h 535213"/>
              <a:gd name="connsiteX8" fmla="*/ 56319 w 1413447"/>
              <a:gd name="connsiteY8" fmla="*/ 531584 h 535213"/>
              <a:gd name="connsiteX9" fmla="*/ 15766 w 1413447"/>
              <a:gd name="connsiteY9" fmla="*/ 470404 h 535213"/>
              <a:gd name="connsiteX10" fmla="*/ 19864 w 1413447"/>
              <a:gd name="connsiteY10" fmla="*/ 450109 h 535213"/>
              <a:gd name="connsiteX11" fmla="*/ 0 w 1413447"/>
              <a:gd name="connsiteY11" fmla="*/ 535213 h 53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3447" h="535213">
                <a:moveTo>
                  <a:pt x="124918" y="0"/>
                </a:moveTo>
                <a:lnTo>
                  <a:pt x="1413447" y="0"/>
                </a:lnTo>
                <a:lnTo>
                  <a:pt x="1293066" y="515770"/>
                </a:lnTo>
                <a:lnTo>
                  <a:pt x="1296954" y="499111"/>
                </a:lnTo>
                <a:lnTo>
                  <a:pt x="1284655" y="517355"/>
                </a:lnTo>
                <a:cubicBezTo>
                  <a:pt x="1278647" y="523362"/>
                  <a:pt x="1271493" y="528224"/>
                  <a:pt x="1263549" y="531584"/>
                </a:cubicBezTo>
                <a:lnTo>
                  <a:pt x="1245575" y="535213"/>
                </a:lnTo>
                <a:lnTo>
                  <a:pt x="74294" y="535213"/>
                </a:lnTo>
                <a:lnTo>
                  <a:pt x="56319" y="531584"/>
                </a:lnTo>
                <a:cubicBezTo>
                  <a:pt x="32488" y="521505"/>
                  <a:pt x="15766" y="497907"/>
                  <a:pt x="15766" y="470404"/>
                </a:cubicBezTo>
                <a:lnTo>
                  <a:pt x="19864" y="450109"/>
                </a:lnTo>
                <a:lnTo>
                  <a:pt x="0" y="535213"/>
                </a:lnTo>
                <a:close/>
              </a:path>
            </a:pathLst>
          </a:custGeom>
          <a:solidFill>
            <a:srgbClr val="267CA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nSpc>
                <a:spcPct val="130000"/>
              </a:lnSpc>
            </a:pPr>
            <a:r>
              <a:rPr lang="en-US" spc="130" dirty="0">
                <a:solidFill>
                  <a:schemeClr val="tx1"/>
                </a:solidFill>
                <a:latin typeface="Arial" panose="020B0604020202020204" pitchFamily="34" charset="0"/>
                <a:ea typeface="思源黑体 CN Bold"/>
                <a:sym typeface="华文细黑" panose="02010600040101010101" charset="-122"/>
              </a:rPr>
              <a:t>    </a:t>
            </a:r>
            <a:endParaRPr lang="en-US" spc="130" dirty="0">
              <a:solidFill>
                <a:schemeClr val="tx1"/>
              </a:solidFill>
              <a:latin typeface="Arial" panose="020B0604020202020204" pitchFamily="34" charset="0"/>
              <a:ea typeface="思源黑体 CN Bold"/>
              <a:sym typeface="华文细黑" panose="02010600040101010101" charset="-122"/>
            </a:endParaRPr>
          </a:p>
          <a:p>
            <a:pPr>
              <a:lnSpc>
                <a:spcPct val="130000"/>
              </a:lnSpc>
            </a:pPr>
            <a:r>
              <a:rPr lang="en-US" altLang="zh-CN"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t> </a:t>
            </a:r>
            <a:r>
              <a:rPr lang="en-US" altLang="zh-CN" sz="3600"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t>  </a:t>
            </a:r>
            <a:r>
              <a:rPr lang="zh-CN" altLang="en-US" sz="3600"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t>二、芯片半导体应用分类</a:t>
            </a:r>
            <a:r>
              <a:rPr lang="zh-CN" altLang="en-US"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t> </a:t>
            </a:r>
            <a:endParaRPr lang="zh-CN" altLang="en-US"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a:p>
            <a:pPr>
              <a:lnSpc>
                <a:spcPct val="130000"/>
              </a:lnSpc>
            </a:pPr>
            <a:endParaRPr lang="zh-CN" altLang="en-US">
              <a:latin typeface="Arial" panose="020B0604020202020204" pitchFamily="34" charset="0"/>
              <a:ea typeface="思源黑体 CN Bold"/>
              <a:sym typeface="华文细黑" panose="02010600040101010101" charset="-122"/>
            </a:endParaRPr>
          </a:p>
        </p:txBody>
      </p:sp>
      <p:pic>
        <p:nvPicPr>
          <p:cNvPr id="2" name="图片 1"/>
          <p:cNvPicPr>
            <a:picLocks noChangeAspect="1"/>
          </p:cNvPicPr>
          <p:nvPr/>
        </p:nvPicPr>
        <p:blipFill>
          <a:blip r:embed="rId1"/>
          <a:stretch>
            <a:fillRect/>
          </a:stretch>
        </p:blipFill>
        <p:spPr>
          <a:xfrm>
            <a:off x="10523220" y="48895"/>
            <a:ext cx="1668780" cy="1485900"/>
          </a:xfrm>
          <a:prstGeom prst="rect">
            <a:avLst/>
          </a:prstGeom>
        </p:spPr>
      </p:pic>
      <p:sp>
        <p:nvSpPr>
          <p:cNvPr id="30" name="文本框 29"/>
          <p:cNvSpPr txBox="1"/>
          <p:nvPr>
            <p:custDataLst>
              <p:tags r:id="rId2"/>
            </p:custDataLst>
          </p:nvPr>
        </p:nvSpPr>
        <p:spPr bwMode="auto">
          <a:xfrm>
            <a:off x="171450" y="1223645"/>
            <a:ext cx="10061575" cy="5168265"/>
          </a:xfrm>
          <a:prstGeom prst="rect">
            <a:avLst/>
          </a:prstGeom>
          <a:noFill/>
        </p:spPr>
        <p:txBody>
          <a:bodyPr wrap="square" lIns="90000" tIns="0" rIns="90000" bIns="46800">
            <a:noAutofit/>
          </a:bodyPr>
          <a:p>
            <a:pPr>
              <a:lnSpc>
                <a:spcPct val="120000"/>
              </a:lnSpc>
            </a:pPr>
            <a:r>
              <a:rPr lang="en-US" altLang="zh-CN" sz="4000"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t>01</a:t>
            </a:r>
            <a:r>
              <a:rPr lang="zh-CN" altLang="en-US" sz="4000"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t>、手机芯片</a:t>
            </a:r>
            <a:endParaRPr lang="zh-CN" altLang="en-US" sz="4000"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a:p>
            <a:pPr>
              <a:lnSpc>
                <a:spcPct val="120000"/>
              </a:lnSpc>
            </a:pPr>
            <a:r>
              <a:rPr lang="en-US" altLang="zh-CN" sz="4000"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t>02</a:t>
            </a:r>
            <a:r>
              <a:rPr lang="zh-CN" altLang="en-US" sz="4000"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t>、汽车芯片 </a:t>
            </a:r>
            <a:endParaRPr lang="zh-CN" altLang="en-US" sz="4000"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a:p>
            <a:pPr>
              <a:lnSpc>
                <a:spcPct val="120000"/>
              </a:lnSpc>
            </a:pPr>
            <a:r>
              <a:rPr lang="en-US" altLang="zh-CN" sz="4000"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t>03</a:t>
            </a:r>
            <a:r>
              <a:rPr lang="zh-CN" altLang="en-US" sz="4000"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t>、</a:t>
            </a:r>
            <a:r>
              <a:rPr lang="en-US" altLang="zh-CN" sz="4000"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t>AI</a:t>
            </a:r>
            <a:r>
              <a:rPr lang="zh-CN" altLang="en-US" sz="4000"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t>芯片</a:t>
            </a:r>
            <a:endParaRPr lang="zh-CN" altLang="en-US" sz="4000"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spTree>
  </p:cSld>
  <p:clrMapOvr>
    <a:masterClrMapping/>
  </p:clrMapOvr>
  <p:transition spd="slow" advTm="3000">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形状 30"/>
          <p:cNvSpPr/>
          <p:nvPr/>
        </p:nvSpPr>
        <p:spPr>
          <a:xfrm>
            <a:off x="85725" y="267970"/>
            <a:ext cx="4486275" cy="562610"/>
          </a:xfrm>
          <a:custGeom>
            <a:avLst/>
            <a:gdLst>
              <a:gd name="connsiteX0" fmla="*/ 124918 w 1413447"/>
              <a:gd name="connsiteY0" fmla="*/ 0 h 535213"/>
              <a:gd name="connsiteX1" fmla="*/ 1413447 w 1413447"/>
              <a:gd name="connsiteY1" fmla="*/ 0 h 535213"/>
              <a:gd name="connsiteX2" fmla="*/ 1293066 w 1413447"/>
              <a:gd name="connsiteY2" fmla="*/ 515770 h 535213"/>
              <a:gd name="connsiteX3" fmla="*/ 1296954 w 1413447"/>
              <a:gd name="connsiteY3" fmla="*/ 499111 h 535213"/>
              <a:gd name="connsiteX4" fmla="*/ 1284655 w 1413447"/>
              <a:gd name="connsiteY4" fmla="*/ 517355 h 535213"/>
              <a:gd name="connsiteX5" fmla="*/ 1263549 w 1413447"/>
              <a:gd name="connsiteY5" fmla="*/ 531584 h 535213"/>
              <a:gd name="connsiteX6" fmla="*/ 1245575 w 1413447"/>
              <a:gd name="connsiteY6" fmla="*/ 535213 h 535213"/>
              <a:gd name="connsiteX7" fmla="*/ 74294 w 1413447"/>
              <a:gd name="connsiteY7" fmla="*/ 535213 h 535213"/>
              <a:gd name="connsiteX8" fmla="*/ 56319 w 1413447"/>
              <a:gd name="connsiteY8" fmla="*/ 531584 h 535213"/>
              <a:gd name="connsiteX9" fmla="*/ 15766 w 1413447"/>
              <a:gd name="connsiteY9" fmla="*/ 470404 h 535213"/>
              <a:gd name="connsiteX10" fmla="*/ 19864 w 1413447"/>
              <a:gd name="connsiteY10" fmla="*/ 450109 h 535213"/>
              <a:gd name="connsiteX11" fmla="*/ 0 w 1413447"/>
              <a:gd name="connsiteY11" fmla="*/ 535213 h 53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3447" h="535213">
                <a:moveTo>
                  <a:pt x="124918" y="0"/>
                </a:moveTo>
                <a:lnTo>
                  <a:pt x="1413447" y="0"/>
                </a:lnTo>
                <a:lnTo>
                  <a:pt x="1293066" y="515770"/>
                </a:lnTo>
                <a:lnTo>
                  <a:pt x="1296954" y="499111"/>
                </a:lnTo>
                <a:lnTo>
                  <a:pt x="1284655" y="517355"/>
                </a:lnTo>
                <a:cubicBezTo>
                  <a:pt x="1278647" y="523362"/>
                  <a:pt x="1271493" y="528224"/>
                  <a:pt x="1263549" y="531584"/>
                </a:cubicBezTo>
                <a:lnTo>
                  <a:pt x="1245575" y="535213"/>
                </a:lnTo>
                <a:lnTo>
                  <a:pt x="74294" y="535213"/>
                </a:lnTo>
                <a:lnTo>
                  <a:pt x="56319" y="531584"/>
                </a:lnTo>
                <a:cubicBezTo>
                  <a:pt x="32488" y="521505"/>
                  <a:pt x="15766" y="497907"/>
                  <a:pt x="15766" y="470404"/>
                </a:cubicBezTo>
                <a:lnTo>
                  <a:pt x="19864" y="450109"/>
                </a:lnTo>
                <a:lnTo>
                  <a:pt x="0" y="535213"/>
                </a:lnTo>
                <a:close/>
              </a:path>
            </a:pathLst>
          </a:custGeom>
          <a:solidFill>
            <a:srgbClr val="267CA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nSpc>
                <a:spcPct val="130000"/>
              </a:lnSpc>
            </a:pPr>
            <a:r>
              <a:rPr lang="en-US" spc="130" dirty="0">
                <a:solidFill>
                  <a:schemeClr val="tx1"/>
                </a:solidFill>
                <a:latin typeface="Arial" panose="020B0604020202020204" pitchFamily="34" charset="0"/>
                <a:ea typeface="汉仪旗黑-55简" panose="00020600040101010101" charset="-122"/>
                <a:sym typeface="华文细黑" panose="02010600040101010101" charset="-122"/>
              </a:rPr>
              <a:t>     </a:t>
            </a:r>
            <a:r>
              <a:rPr lang="en-US" sz="2800" spc="130" dirty="0">
                <a:solidFill>
                  <a:schemeClr val="tx1"/>
                </a:solidFill>
                <a:latin typeface="Arial" panose="020B0604020202020204" pitchFamily="34" charset="0"/>
                <a:ea typeface="汉仪旗黑-55简" panose="00020600040101010101" charset="-122"/>
                <a:sym typeface="华文细黑" panose="02010600040101010101" charset="-122"/>
              </a:rPr>
              <a:t> 01</a:t>
            </a:r>
            <a:r>
              <a:rPr lang="zh-CN" altLang="en-US" sz="2800" spc="130" dirty="0">
                <a:solidFill>
                  <a:schemeClr val="tx1"/>
                </a:solidFill>
                <a:latin typeface="Arial" panose="020B0604020202020204" pitchFamily="34" charset="0"/>
                <a:ea typeface="汉仪旗黑-55简" panose="00020600040101010101" charset="-122"/>
                <a:sym typeface="华文细黑" panose="02010600040101010101" charset="-122"/>
              </a:rPr>
              <a:t>、</a:t>
            </a:r>
            <a:r>
              <a:rPr lang="en-US" sz="2800" spc="130" dirty="0">
                <a:solidFill>
                  <a:schemeClr val="tx1"/>
                </a:solidFill>
                <a:latin typeface="Arial" panose="020B0604020202020204" pitchFamily="34" charset="0"/>
                <a:ea typeface="汉仪旗黑-55简" panose="00020600040101010101" charset="-122"/>
                <a:sym typeface="华文细黑" panose="02010600040101010101" charset="-122"/>
              </a:rPr>
              <a:t>手机</a:t>
            </a:r>
            <a:r>
              <a:rPr lang="zh-CN" altLang="en-US" sz="2800" spc="130" dirty="0">
                <a:solidFill>
                  <a:schemeClr val="tx1"/>
                </a:solidFill>
                <a:latin typeface="Arial" panose="020B0604020202020204" pitchFamily="34" charset="0"/>
                <a:ea typeface="汉仪旗黑-55简" panose="00020600040101010101" charset="-122"/>
                <a:sym typeface="华文细黑" panose="02010600040101010101" charset="-122"/>
              </a:rPr>
              <a:t>芯片</a:t>
            </a:r>
            <a:endParaRPr lang="zh-CN" altLang="en-US" sz="2800" spc="130" dirty="0">
              <a:solidFill>
                <a:schemeClr val="tx1"/>
              </a:solidFill>
              <a:latin typeface="Arial" panose="020B0604020202020204" pitchFamily="34" charset="0"/>
              <a:ea typeface="汉仪旗黑-55简" panose="00020600040101010101" charset="-122"/>
              <a:sym typeface="华文细黑" panose="02010600040101010101" charset="-122"/>
            </a:endParaRPr>
          </a:p>
        </p:txBody>
      </p:sp>
      <p:pic>
        <p:nvPicPr>
          <p:cNvPr id="2" name="图片 1"/>
          <p:cNvPicPr>
            <a:picLocks noChangeAspect="1"/>
          </p:cNvPicPr>
          <p:nvPr/>
        </p:nvPicPr>
        <p:blipFill>
          <a:blip r:embed="rId1"/>
          <a:stretch>
            <a:fillRect/>
          </a:stretch>
        </p:blipFill>
        <p:spPr>
          <a:xfrm>
            <a:off x="10523220" y="48895"/>
            <a:ext cx="1668780" cy="1485900"/>
          </a:xfrm>
          <a:prstGeom prst="rect">
            <a:avLst/>
          </a:prstGeom>
        </p:spPr>
      </p:pic>
      <p:pic>
        <p:nvPicPr>
          <p:cNvPr id="5" name="图片 4"/>
          <p:cNvPicPr>
            <a:picLocks noChangeAspect="1"/>
          </p:cNvPicPr>
          <p:nvPr/>
        </p:nvPicPr>
        <p:blipFill>
          <a:blip r:embed="rId2"/>
          <a:stretch>
            <a:fillRect/>
          </a:stretch>
        </p:blipFill>
        <p:spPr>
          <a:xfrm>
            <a:off x="85725" y="1590040"/>
            <a:ext cx="9509760" cy="4064635"/>
          </a:xfrm>
          <a:prstGeom prst="rect">
            <a:avLst/>
          </a:prstGeom>
        </p:spPr>
      </p:pic>
      <p:sp>
        <p:nvSpPr>
          <p:cNvPr id="6" name="文本框 5"/>
          <p:cNvSpPr txBox="1"/>
          <p:nvPr/>
        </p:nvSpPr>
        <p:spPr>
          <a:xfrm>
            <a:off x="85725" y="887730"/>
            <a:ext cx="10203815" cy="645160"/>
          </a:xfrm>
          <a:prstGeom prst="rect">
            <a:avLst/>
          </a:prstGeom>
          <a:noFill/>
        </p:spPr>
        <p:txBody>
          <a:bodyPr wrap="square" rtlCol="0" anchor="t">
            <a:spAutoFit/>
          </a:bodyPr>
          <a:p>
            <a:r>
              <a:rPr lang="zh-CN" altLang="en-US">
                <a:latin typeface="Arial" panose="020B0604020202020204" pitchFamily="34" charset="0"/>
              </a:rPr>
              <a:t>手机芯片通常是指应用于手机通讯功能的芯片，包括基带、处理器、协处理器、RF、触摸屏控制器芯片、无线IC和电源管理IC等</a:t>
            </a:r>
            <a:endParaRPr lang="zh-CN" altLang="en-US">
              <a:latin typeface="Arial" panose="020B0604020202020204" pitchFamily="34" charset="0"/>
            </a:endParaRPr>
          </a:p>
        </p:txBody>
      </p:sp>
    </p:spTree>
  </p:cSld>
  <p:clrMapOvr>
    <a:masterClrMapping/>
  </p:clrMapOvr>
  <p:transition spd="slow" advTm="3000">
    <p:push/>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形状 30"/>
          <p:cNvSpPr/>
          <p:nvPr/>
        </p:nvSpPr>
        <p:spPr>
          <a:xfrm>
            <a:off x="85725" y="267970"/>
            <a:ext cx="6523990" cy="562610"/>
          </a:xfrm>
          <a:custGeom>
            <a:avLst/>
            <a:gdLst>
              <a:gd name="connsiteX0" fmla="*/ 124918 w 1413447"/>
              <a:gd name="connsiteY0" fmla="*/ 0 h 535213"/>
              <a:gd name="connsiteX1" fmla="*/ 1413447 w 1413447"/>
              <a:gd name="connsiteY1" fmla="*/ 0 h 535213"/>
              <a:gd name="connsiteX2" fmla="*/ 1293066 w 1413447"/>
              <a:gd name="connsiteY2" fmla="*/ 515770 h 535213"/>
              <a:gd name="connsiteX3" fmla="*/ 1296954 w 1413447"/>
              <a:gd name="connsiteY3" fmla="*/ 499111 h 535213"/>
              <a:gd name="connsiteX4" fmla="*/ 1284655 w 1413447"/>
              <a:gd name="connsiteY4" fmla="*/ 517355 h 535213"/>
              <a:gd name="connsiteX5" fmla="*/ 1263549 w 1413447"/>
              <a:gd name="connsiteY5" fmla="*/ 531584 h 535213"/>
              <a:gd name="connsiteX6" fmla="*/ 1245575 w 1413447"/>
              <a:gd name="connsiteY6" fmla="*/ 535213 h 535213"/>
              <a:gd name="connsiteX7" fmla="*/ 74294 w 1413447"/>
              <a:gd name="connsiteY7" fmla="*/ 535213 h 535213"/>
              <a:gd name="connsiteX8" fmla="*/ 56319 w 1413447"/>
              <a:gd name="connsiteY8" fmla="*/ 531584 h 535213"/>
              <a:gd name="connsiteX9" fmla="*/ 15766 w 1413447"/>
              <a:gd name="connsiteY9" fmla="*/ 470404 h 535213"/>
              <a:gd name="connsiteX10" fmla="*/ 19864 w 1413447"/>
              <a:gd name="connsiteY10" fmla="*/ 450109 h 535213"/>
              <a:gd name="connsiteX11" fmla="*/ 0 w 1413447"/>
              <a:gd name="connsiteY11" fmla="*/ 535213 h 53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3447" h="535213">
                <a:moveTo>
                  <a:pt x="124918" y="0"/>
                </a:moveTo>
                <a:lnTo>
                  <a:pt x="1413447" y="0"/>
                </a:lnTo>
                <a:lnTo>
                  <a:pt x="1293066" y="515770"/>
                </a:lnTo>
                <a:lnTo>
                  <a:pt x="1296954" y="499111"/>
                </a:lnTo>
                <a:lnTo>
                  <a:pt x="1284655" y="517355"/>
                </a:lnTo>
                <a:cubicBezTo>
                  <a:pt x="1278647" y="523362"/>
                  <a:pt x="1271493" y="528224"/>
                  <a:pt x="1263549" y="531584"/>
                </a:cubicBezTo>
                <a:lnTo>
                  <a:pt x="1245575" y="535213"/>
                </a:lnTo>
                <a:lnTo>
                  <a:pt x="74294" y="535213"/>
                </a:lnTo>
                <a:lnTo>
                  <a:pt x="56319" y="531584"/>
                </a:lnTo>
                <a:cubicBezTo>
                  <a:pt x="32488" y="521505"/>
                  <a:pt x="15766" y="497907"/>
                  <a:pt x="15766" y="470404"/>
                </a:cubicBezTo>
                <a:lnTo>
                  <a:pt x="19864" y="450109"/>
                </a:lnTo>
                <a:lnTo>
                  <a:pt x="0" y="535213"/>
                </a:lnTo>
                <a:close/>
              </a:path>
            </a:pathLst>
          </a:custGeom>
          <a:solidFill>
            <a:srgbClr val="267CA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nSpc>
                <a:spcPct val="130000"/>
              </a:lnSpc>
            </a:pPr>
            <a:r>
              <a:rPr lang="en-US" spc="130" dirty="0">
                <a:solidFill>
                  <a:schemeClr val="tx1"/>
                </a:solidFill>
                <a:latin typeface="Arial" panose="020B0604020202020204" pitchFamily="34" charset="0"/>
                <a:ea typeface="汉仪旗黑-55简" panose="00020600040101010101" charset="-122"/>
                <a:sym typeface="华文细黑" panose="02010600040101010101" charset="-122"/>
              </a:rPr>
              <a:t>     </a:t>
            </a:r>
            <a:r>
              <a:rPr lang="en-US" sz="2800" spc="130" dirty="0">
                <a:solidFill>
                  <a:schemeClr val="tx1"/>
                </a:solidFill>
                <a:latin typeface="Arial" panose="020B0604020202020204" pitchFamily="34" charset="0"/>
                <a:ea typeface="汉仪旗黑-55简" panose="00020600040101010101" charset="-122"/>
                <a:sym typeface="华文细黑" panose="02010600040101010101" charset="-122"/>
              </a:rPr>
              <a:t> 手机的中芯片的组成</a:t>
            </a:r>
            <a:endParaRPr lang="zh-CN" altLang="en-US" sz="2800">
              <a:latin typeface="Arial" panose="020B0604020202020204" pitchFamily="34" charset="0"/>
              <a:ea typeface="汉仪旗黑-55简" panose="00020600040101010101" charset="-122"/>
              <a:sym typeface="华文细黑" panose="02010600040101010101" charset="-122"/>
            </a:endParaRPr>
          </a:p>
        </p:txBody>
      </p:sp>
      <p:pic>
        <p:nvPicPr>
          <p:cNvPr id="2" name="图片 1"/>
          <p:cNvPicPr>
            <a:picLocks noChangeAspect="1"/>
          </p:cNvPicPr>
          <p:nvPr/>
        </p:nvPicPr>
        <p:blipFill>
          <a:blip r:embed="rId1"/>
          <a:stretch>
            <a:fillRect/>
          </a:stretch>
        </p:blipFill>
        <p:spPr>
          <a:xfrm>
            <a:off x="10523220" y="48895"/>
            <a:ext cx="1668780" cy="1485900"/>
          </a:xfrm>
          <a:prstGeom prst="rect">
            <a:avLst/>
          </a:prstGeom>
        </p:spPr>
      </p:pic>
      <p:sp>
        <p:nvSpPr>
          <p:cNvPr id="30" name="文本框 29"/>
          <p:cNvSpPr txBox="1"/>
          <p:nvPr>
            <p:custDataLst>
              <p:tags r:id="rId2"/>
            </p:custDataLst>
          </p:nvPr>
        </p:nvSpPr>
        <p:spPr bwMode="auto">
          <a:xfrm>
            <a:off x="171450" y="1634627"/>
            <a:ext cx="9261475" cy="4757283"/>
          </a:xfrm>
          <a:prstGeom prst="rect">
            <a:avLst/>
          </a:prstGeom>
          <a:noFill/>
        </p:spPr>
        <p:txBody>
          <a:bodyPr wrap="square" lIns="90000" tIns="0" rIns="90000" bIns="46800">
            <a:noAutofit/>
          </a:bodyPr>
          <a:p>
            <a:pPr>
              <a:lnSpc>
                <a:spcPct val="120000"/>
              </a:lnSpc>
            </a:pPr>
            <a:r>
              <a:rPr lang="zh-CN" altLang="en-US" sz="4000"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t>单击此处添加文本具体内容，简明扼要的阐述您的观点。</a:t>
            </a:r>
            <a:endParaRPr lang="zh-CN" altLang="en-US" sz="4000"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pic>
        <p:nvPicPr>
          <p:cNvPr id="3" name="图片 2"/>
          <p:cNvPicPr>
            <a:picLocks noChangeAspect="1"/>
          </p:cNvPicPr>
          <p:nvPr/>
        </p:nvPicPr>
        <p:blipFill>
          <a:blip r:embed="rId3"/>
          <a:stretch>
            <a:fillRect/>
          </a:stretch>
        </p:blipFill>
        <p:spPr>
          <a:xfrm>
            <a:off x="85725" y="1276985"/>
            <a:ext cx="10696575" cy="4017645"/>
          </a:xfrm>
          <a:prstGeom prst="rect">
            <a:avLst/>
          </a:prstGeom>
        </p:spPr>
      </p:pic>
    </p:spTree>
  </p:cSld>
  <p:clrMapOvr>
    <a:masterClrMapping/>
  </p:clrMapOvr>
  <p:transition spd="slow" advTm="3000">
    <p:push/>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形状 30"/>
          <p:cNvSpPr/>
          <p:nvPr/>
        </p:nvSpPr>
        <p:spPr>
          <a:xfrm>
            <a:off x="85725" y="267970"/>
            <a:ext cx="2781935" cy="562610"/>
          </a:xfrm>
          <a:custGeom>
            <a:avLst/>
            <a:gdLst>
              <a:gd name="connsiteX0" fmla="*/ 124918 w 1413447"/>
              <a:gd name="connsiteY0" fmla="*/ 0 h 535213"/>
              <a:gd name="connsiteX1" fmla="*/ 1413447 w 1413447"/>
              <a:gd name="connsiteY1" fmla="*/ 0 h 535213"/>
              <a:gd name="connsiteX2" fmla="*/ 1293066 w 1413447"/>
              <a:gd name="connsiteY2" fmla="*/ 515770 h 535213"/>
              <a:gd name="connsiteX3" fmla="*/ 1296954 w 1413447"/>
              <a:gd name="connsiteY3" fmla="*/ 499111 h 535213"/>
              <a:gd name="connsiteX4" fmla="*/ 1284655 w 1413447"/>
              <a:gd name="connsiteY4" fmla="*/ 517355 h 535213"/>
              <a:gd name="connsiteX5" fmla="*/ 1263549 w 1413447"/>
              <a:gd name="connsiteY5" fmla="*/ 531584 h 535213"/>
              <a:gd name="connsiteX6" fmla="*/ 1245575 w 1413447"/>
              <a:gd name="connsiteY6" fmla="*/ 535213 h 535213"/>
              <a:gd name="connsiteX7" fmla="*/ 74294 w 1413447"/>
              <a:gd name="connsiteY7" fmla="*/ 535213 h 535213"/>
              <a:gd name="connsiteX8" fmla="*/ 56319 w 1413447"/>
              <a:gd name="connsiteY8" fmla="*/ 531584 h 535213"/>
              <a:gd name="connsiteX9" fmla="*/ 15766 w 1413447"/>
              <a:gd name="connsiteY9" fmla="*/ 470404 h 535213"/>
              <a:gd name="connsiteX10" fmla="*/ 19864 w 1413447"/>
              <a:gd name="connsiteY10" fmla="*/ 450109 h 535213"/>
              <a:gd name="connsiteX11" fmla="*/ 0 w 1413447"/>
              <a:gd name="connsiteY11" fmla="*/ 535213 h 53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3447" h="535213">
                <a:moveTo>
                  <a:pt x="124918" y="0"/>
                </a:moveTo>
                <a:lnTo>
                  <a:pt x="1413447" y="0"/>
                </a:lnTo>
                <a:lnTo>
                  <a:pt x="1293066" y="515770"/>
                </a:lnTo>
                <a:lnTo>
                  <a:pt x="1296954" y="499111"/>
                </a:lnTo>
                <a:lnTo>
                  <a:pt x="1284655" y="517355"/>
                </a:lnTo>
                <a:cubicBezTo>
                  <a:pt x="1278647" y="523362"/>
                  <a:pt x="1271493" y="528224"/>
                  <a:pt x="1263549" y="531584"/>
                </a:cubicBezTo>
                <a:lnTo>
                  <a:pt x="1245575" y="535213"/>
                </a:lnTo>
                <a:lnTo>
                  <a:pt x="74294" y="535213"/>
                </a:lnTo>
                <a:lnTo>
                  <a:pt x="56319" y="531584"/>
                </a:lnTo>
                <a:cubicBezTo>
                  <a:pt x="32488" y="521505"/>
                  <a:pt x="15766" y="497907"/>
                  <a:pt x="15766" y="470404"/>
                </a:cubicBezTo>
                <a:lnTo>
                  <a:pt x="19864" y="450109"/>
                </a:lnTo>
                <a:lnTo>
                  <a:pt x="0" y="535213"/>
                </a:lnTo>
                <a:close/>
              </a:path>
            </a:pathLst>
          </a:custGeom>
          <a:solidFill>
            <a:srgbClr val="267CA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nSpc>
                <a:spcPct val="130000"/>
              </a:lnSpc>
            </a:pPr>
            <a:r>
              <a:rPr lang="en-US" spc="130" dirty="0">
                <a:solidFill>
                  <a:schemeClr val="tx1"/>
                </a:solidFill>
                <a:latin typeface="Arial" panose="020B0604020202020204" pitchFamily="34" charset="0"/>
                <a:ea typeface="汉仪旗黑-55简" panose="00020600040101010101" charset="-122"/>
                <a:sym typeface="华文细黑" panose="02010600040101010101" charset="-122"/>
              </a:rPr>
              <a:t>     02</a:t>
            </a:r>
            <a:r>
              <a:rPr lang="zh-CN" altLang="en-US" spc="130" dirty="0">
                <a:solidFill>
                  <a:schemeClr val="tx1"/>
                </a:solidFill>
                <a:latin typeface="Arial" panose="020B0604020202020204" pitchFamily="34" charset="0"/>
                <a:ea typeface="汉仪旗黑-55简" panose="00020600040101010101" charset="-122"/>
                <a:sym typeface="华文细黑" panose="02010600040101010101" charset="-122"/>
              </a:rPr>
              <a:t>、汽车芯片</a:t>
            </a:r>
            <a:endParaRPr lang="zh-CN" altLang="en-US" sz="2800" spc="130" dirty="0">
              <a:solidFill>
                <a:schemeClr val="tx1"/>
              </a:solidFill>
              <a:latin typeface="Arial" panose="020B0604020202020204" pitchFamily="34" charset="0"/>
              <a:ea typeface="汉仪旗黑-55简" panose="00020600040101010101" charset="-122"/>
              <a:sym typeface="华文细黑" panose="02010600040101010101" charset="-122"/>
            </a:endParaRPr>
          </a:p>
        </p:txBody>
      </p:sp>
      <p:pic>
        <p:nvPicPr>
          <p:cNvPr id="2" name="图片 1"/>
          <p:cNvPicPr>
            <a:picLocks noChangeAspect="1"/>
          </p:cNvPicPr>
          <p:nvPr/>
        </p:nvPicPr>
        <p:blipFill>
          <a:blip r:embed="rId1"/>
          <a:stretch>
            <a:fillRect/>
          </a:stretch>
        </p:blipFill>
        <p:spPr>
          <a:xfrm>
            <a:off x="10523220" y="48895"/>
            <a:ext cx="1668780" cy="1485900"/>
          </a:xfrm>
          <a:prstGeom prst="rect">
            <a:avLst/>
          </a:prstGeom>
        </p:spPr>
      </p:pic>
      <p:sp>
        <p:nvSpPr>
          <p:cNvPr id="6" name="文本框 5"/>
          <p:cNvSpPr txBox="1"/>
          <p:nvPr/>
        </p:nvSpPr>
        <p:spPr>
          <a:xfrm>
            <a:off x="320675" y="984250"/>
            <a:ext cx="10025380" cy="922020"/>
          </a:xfrm>
          <a:prstGeom prst="rect">
            <a:avLst/>
          </a:prstGeom>
          <a:noFill/>
        </p:spPr>
        <p:txBody>
          <a:bodyPr wrap="square" rtlCol="0" anchor="t">
            <a:spAutoFit/>
          </a:bodyPr>
          <a:p>
            <a:r>
              <a:rPr lang="zh-CN" altLang="en-US">
                <a:latin typeface="Arial" panose="020B0604020202020204" pitchFamily="34" charset="0"/>
              </a:rPr>
              <a:t>汽车芯片是指用于车体汽车电子控制装置和车载汽车电子控制装置的半导体产品。汽车芯片大致可以分为：主控芯片、MCU功能芯片、功率芯片、存储芯片、通信芯片及其他芯片(传感芯片为主)六大类。</a:t>
            </a:r>
            <a:endParaRPr lang="zh-CN" altLang="en-US">
              <a:latin typeface="Arial" panose="020B0604020202020204" pitchFamily="34" charset="0"/>
            </a:endParaRPr>
          </a:p>
        </p:txBody>
      </p:sp>
      <p:pic>
        <p:nvPicPr>
          <p:cNvPr id="8" name="图片 7"/>
          <p:cNvPicPr>
            <a:picLocks noChangeAspect="1"/>
          </p:cNvPicPr>
          <p:nvPr/>
        </p:nvPicPr>
        <p:blipFill>
          <a:blip r:embed="rId2"/>
          <a:stretch>
            <a:fillRect/>
          </a:stretch>
        </p:blipFill>
        <p:spPr>
          <a:xfrm>
            <a:off x="495935" y="1967865"/>
            <a:ext cx="9556115" cy="3709035"/>
          </a:xfrm>
          <a:prstGeom prst="rect">
            <a:avLst/>
          </a:prstGeom>
        </p:spPr>
      </p:pic>
    </p:spTree>
  </p:cSld>
  <p:clrMapOvr>
    <a:masterClrMapping/>
  </p:clrMapOvr>
  <p:transition spd="slow" advTm="3000">
    <p:push/>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形状 30"/>
          <p:cNvSpPr/>
          <p:nvPr/>
        </p:nvSpPr>
        <p:spPr>
          <a:xfrm>
            <a:off x="53340" y="94615"/>
            <a:ext cx="6523990" cy="562610"/>
          </a:xfrm>
          <a:custGeom>
            <a:avLst/>
            <a:gdLst>
              <a:gd name="connsiteX0" fmla="*/ 124918 w 1413447"/>
              <a:gd name="connsiteY0" fmla="*/ 0 h 535213"/>
              <a:gd name="connsiteX1" fmla="*/ 1413447 w 1413447"/>
              <a:gd name="connsiteY1" fmla="*/ 0 h 535213"/>
              <a:gd name="connsiteX2" fmla="*/ 1293066 w 1413447"/>
              <a:gd name="connsiteY2" fmla="*/ 515770 h 535213"/>
              <a:gd name="connsiteX3" fmla="*/ 1296954 w 1413447"/>
              <a:gd name="connsiteY3" fmla="*/ 499111 h 535213"/>
              <a:gd name="connsiteX4" fmla="*/ 1284655 w 1413447"/>
              <a:gd name="connsiteY4" fmla="*/ 517355 h 535213"/>
              <a:gd name="connsiteX5" fmla="*/ 1263549 w 1413447"/>
              <a:gd name="connsiteY5" fmla="*/ 531584 h 535213"/>
              <a:gd name="connsiteX6" fmla="*/ 1245575 w 1413447"/>
              <a:gd name="connsiteY6" fmla="*/ 535213 h 535213"/>
              <a:gd name="connsiteX7" fmla="*/ 74294 w 1413447"/>
              <a:gd name="connsiteY7" fmla="*/ 535213 h 535213"/>
              <a:gd name="connsiteX8" fmla="*/ 56319 w 1413447"/>
              <a:gd name="connsiteY8" fmla="*/ 531584 h 535213"/>
              <a:gd name="connsiteX9" fmla="*/ 15766 w 1413447"/>
              <a:gd name="connsiteY9" fmla="*/ 470404 h 535213"/>
              <a:gd name="connsiteX10" fmla="*/ 19864 w 1413447"/>
              <a:gd name="connsiteY10" fmla="*/ 450109 h 535213"/>
              <a:gd name="connsiteX11" fmla="*/ 0 w 1413447"/>
              <a:gd name="connsiteY11" fmla="*/ 535213 h 53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3447" h="535213">
                <a:moveTo>
                  <a:pt x="124918" y="0"/>
                </a:moveTo>
                <a:lnTo>
                  <a:pt x="1413447" y="0"/>
                </a:lnTo>
                <a:lnTo>
                  <a:pt x="1293066" y="515770"/>
                </a:lnTo>
                <a:lnTo>
                  <a:pt x="1296954" y="499111"/>
                </a:lnTo>
                <a:lnTo>
                  <a:pt x="1284655" y="517355"/>
                </a:lnTo>
                <a:cubicBezTo>
                  <a:pt x="1278647" y="523362"/>
                  <a:pt x="1271493" y="528224"/>
                  <a:pt x="1263549" y="531584"/>
                </a:cubicBezTo>
                <a:lnTo>
                  <a:pt x="1245575" y="535213"/>
                </a:lnTo>
                <a:lnTo>
                  <a:pt x="74294" y="535213"/>
                </a:lnTo>
                <a:lnTo>
                  <a:pt x="56319" y="531584"/>
                </a:lnTo>
                <a:cubicBezTo>
                  <a:pt x="32488" y="521505"/>
                  <a:pt x="15766" y="497907"/>
                  <a:pt x="15766" y="470404"/>
                </a:cubicBezTo>
                <a:lnTo>
                  <a:pt x="19864" y="450109"/>
                </a:lnTo>
                <a:lnTo>
                  <a:pt x="0" y="535213"/>
                </a:lnTo>
                <a:close/>
              </a:path>
            </a:pathLst>
          </a:custGeom>
          <a:solidFill>
            <a:srgbClr val="267CA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nSpc>
                <a:spcPct val="130000"/>
              </a:lnSpc>
            </a:pPr>
            <a:r>
              <a:rPr lang="en-US" spc="130" dirty="0">
                <a:solidFill>
                  <a:schemeClr val="tx1"/>
                </a:solidFill>
                <a:latin typeface="Arial" panose="020B0604020202020204" pitchFamily="34" charset="0"/>
                <a:ea typeface="汉仪旗黑-55简" panose="00020600040101010101" charset="-122"/>
                <a:sym typeface="华文细黑" panose="02010600040101010101" charset="-122"/>
              </a:rPr>
              <a:t>     </a:t>
            </a:r>
            <a:r>
              <a:rPr lang="en-US" sz="2800" spc="130" dirty="0">
                <a:solidFill>
                  <a:schemeClr val="tx1"/>
                </a:solidFill>
                <a:latin typeface="Arial" panose="020B0604020202020204" pitchFamily="34" charset="0"/>
                <a:ea typeface="汉仪旗黑-55简" panose="00020600040101010101" charset="-122"/>
                <a:sym typeface="华文细黑" panose="02010600040101010101" charset="-122"/>
              </a:rPr>
              <a:t> </a:t>
            </a:r>
            <a:r>
              <a:rPr lang="zh-CN" altLang="en-US" sz="2800" spc="130" dirty="0">
                <a:solidFill>
                  <a:schemeClr val="tx1"/>
                </a:solidFill>
                <a:latin typeface="Arial" panose="020B0604020202020204" pitchFamily="34" charset="0"/>
                <a:ea typeface="汉仪旗黑-55简" panose="00020600040101010101" charset="-122"/>
                <a:sym typeface="华文细黑" panose="02010600040101010101" charset="-122"/>
              </a:rPr>
              <a:t>汽车芯片产业链全景图</a:t>
            </a:r>
            <a:endParaRPr lang="zh-CN" altLang="en-US" sz="2800">
              <a:latin typeface="Arial" panose="020B0604020202020204" pitchFamily="34" charset="0"/>
              <a:ea typeface="汉仪旗黑-55简" panose="00020600040101010101" charset="-122"/>
              <a:sym typeface="华文细黑" panose="02010600040101010101" charset="-122"/>
            </a:endParaRPr>
          </a:p>
        </p:txBody>
      </p:sp>
      <p:pic>
        <p:nvPicPr>
          <p:cNvPr id="2" name="图片 1"/>
          <p:cNvPicPr>
            <a:picLocks noChangeAspect="1"/>
          </p:cNvPicPr>
          <p:nvPr/>
        </p:nvPicPr>
        <p:blipFill>
          <a:blip r:embed="rId1"/>
          <a:stretch>
            <a:fillRect/>
          </a:stretch>
        </p:blipFill>
        <p:spPr>
          <a:xfrm>
            <a:off x="10523220" y="48895"/>
            <a:ext cx="1668780" cy="1485900"/>
          </a:xfrm>
          <a:prstGeom prst="rect">
            <a:avLst/>
          </a:prstGeom>
        </p:spPr>
      </p:pic>
      <p:sp>
        <p:nvSpPr>
          <p:cNvPr id="30" name="文本框 29"/>
          <p:cNvSpPr txBox="1"/>
          <p:nvPr>
            <p:custDataLst>
              <p:tags r:id="rId2"/>
            </p:custDataLst>
          </p:nvPr>
        </p:nvSpPr>
        <p:spPr bwMode="auto">
          <a:xfrm>
            <a:off x="171450" y="1634627"/>
            <a:ext cx="9261475" cy="4757283"/>
          </a:xfrm>
          <a:prstGeom prst="rect">
            <a:avLst/>
          </a:prstGeom>
          <a:noFill/>
        </p:spPr>
        <p:txBody>
          <a:bodyPr wrap="square" lIns="90000" tIns="0" rIns="90000" bIns="46800">
            <a:noAutofit/>
          </a:bodyPr>
          <a:p>
            <a:pPr>
              <a:lnSpc>
                <a:spcPct val="120000"/>
              </a:lnSpc>
            </a:pPr>
            <a:r>
              <a:rPr lang="zh-CN" altLang="en-US" sz="4000"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t>单击此处添加文本具体内容，简明扼要的阐述您的观点。</a:t>
            </a:r>
            <a:endParaRPr lang="zh-CN" altLang="en-US" sz="4000" spc="150">
              <a:solidFill>
                <a:schemeClr val="dk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pic>
        <p:nvPicPr>
          <p:cNvPr id="6" name="图片 5"/>
          <p:cNvPicPr>
            <a:picLocks noChangeAspect="1"/>
          </p:cNvPicPr>
          <p:nvPr/>
        </p:nvPicPr>
        <p:blipFill>
          <a:blip r:embed="rId3"/>
          <a:stretch>
            <a:fillRect/>
          </a:stretch>
        </p:blipFill>
        <p:spPr>
          <a:xfrm>
            <a:off x="253365" y="801370"/>
            <a:ext cx="9981565" cy="5663565"/>
          </a:xfrm>
          <a:prstGeom prst="rect">
            <a:avLst/>
          </a:prstGeom>
        </p:spPr>
      </p:pic>
    </p:spTree>
  </p:cSld>
  <p:clrMapOvr>
    <a:masterClrMapping/>
  </p:clrMapOvr>
  <p:transition spd="slow" advTm="3000">
    <p:push/>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形状 30"/>
          <p:cNvSpPr/>
          <p:nvPr/>
        </p:nvSpPr>
        <p:spPr>
          <a:xfrm>
            <a:off x="85725" y="267970"/>
            <a:ext cx="6523990" cy="562610"/>
          </a:xfrm>
          <a:custGeom>
            <a:avLst/>
            <a:gdLst>
              <a:gd name="connsiteX0" fmla="*/ 124918 w 1413447"/>
              <a:gd name="connsiteY0" fmla="*/ 0 h 535213"/>
              <a:gd name="connsiteX1" fmla="*/ 1413447 w 1413447"/>
              <a:gd name="connsiteY1" fmla="*/ 0 h 535213"/>
              <a:gd name="connsiteX2" fmla="*/ 1293066 w 1413447"/>
              <a:gd name="connsiteY2" fmla="*/ 515770 h 535213"/>
              <a:gd name="connsiteX3" fmla="*/ 1296954 w 1413447"/>
              <a:gd name="connsiteY3" fmla="*/ 499111 h 535213"/>
              <a:gd name="connsiteX4" fmla="*/ 1284655 w 1413447"/>
              <a:gd name="connsiteY4" fmla="*/ 517355 h 535213"/>
              <a:gd name="connsiteX5" fmla="*/ 1263549 w 1413447"/>
              <a:gd name="connsiteY5" fmla="*/ 531584 h 535213"/>
              <a:gd name="connsiteX6" fmla="*/ 1245575 w 1413447"/>
              <a:gd name="connsiteY6" fmla="*/ 535213 h 535213"/>
              <a:gd name="connsiteX7" fmla="*/ 74294 w 1413447"/>
              <a:gd name="connsiteY7" fmla="*/ 535213 h 535213"/>
              <a:gd name="connsiteX8" fmla="*/ 56319 w 1413447"/>
              <a:gd name="connsiteY8" fmla="*/ 531584 h 535213"/>
              <a:gd name="connsiteX9" fmla="*/ 15766 w 1413447"/>
              <a:gd name="connsiteY9" fmla="*/ 470404 h 535213"/>
              <a:gd name="connsiteX10" fmla="*/ 19864 w 1413447"/>
              <a:gd name="connsiteY10" fmla="*/ 450109 h 535213"/>
              <a:gd name="connsiteX11" fmla="*/ 0 w 1413447"/>
              <a:gd name="connsiteY11" fmla="*/ 535213 h 53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3447" h="535213">
                <a:moveTo>
                  <a:pt x="124918" y="0"/>
                </a:moveTo>
                <a:lnTo>
                  <a:pt x="1413447" y="0"/>
                </a:lnTo>
                <a:lnTo>
                  <a:pt x="1293066" y="515770"/>
                </a:lnTo>
                <a:lnTo>
                  <a:pt x="1296954" y="499111"/>
                </a:lnTo>
                <a:lnTo>
                  <a:pt x="1284655" y="517355"/>
                </a:lnTo>
                <a:cubicBezTo>
                  <a:pt x="1278647" y="523362"/>
                  <a:pt x="1271493" y="528224"/>
                  <a:pt x="1263549" y="531584"/>
                </a:cubicBezTo>
                <a:lnTo>
                  <a:pt x="1245575" y="535213"/>
                </a:lnTo>
                <a:lnTo>
                  <a:pt x="74294" y="535213"/>
                </a:lnTo>
                <a:lnTo>
                  <a:pt x="56319" y="531584"/>
                </a:lnTo>
                <a:cubicBezTo>
                  <a:pt x="32488" y="521505"/>
                  <a:pt x="15766" y="497907"/>
                  <a:pt x="15766" y="470404"/>
                </a:cubicBezTo>
                <a:lnTo>
                  <a:pt x="19864" y="450109"/>
                </a:lnTo>
                <a:lnTo>
                  <a:pt x="0" y="535213"/>
                </a:lnTo>
                <a:close/>
              </a:path>
            </a:pathLst>
          </a:custGeom>
          <a:solidFill>
            <a:srgbClr val="267CA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nSpc>
                <a:spcPct val="130000"/>
              </a:lnSpc>
            </a:pPr>
            <a:r>
              <a:rPr lang="en-US" spc="130" dirty="0">
                <a:solidFill>
                  <a:schemeClr val="tx1"/>
                </a:solidFill>
                <a:latin typeface="Arial" panose="020B0604020202020204" pitchFamily="34" charset="0"/>
                <a:ea typeface="汉仪旗黑-55简" panose="00020600040101010101" charset="-122"/>
                <a:sym typeface="华文细黑" panose="02010600040101010101" charset="-122"/>
              </a:rPr>
              <a:t>    03</a:t>
            </a:r>
            <a:r>
              <a:rPr lang="zh-CN" altLang="en-US" spc="130" dirty="0">
                <a:solidFill>
                  <a:schemeClr val="tx1"/>
                </a:solidFill>
                <a:latin typeface="Arial" panose="020B0604020202020204" pitchFamily="34" charset="0"/>
                <a:ea typeface="汉仪旗黑-55简" panose="00020600040101010101" charset="-122"/>
                <a:sym typeface="华文细黑" panose="02010600040101010101" charset="-122"/>
              </a:rPr>
              <a:t>、</a:t>
            </a:r>
            <a:r>
              <a:rPr lang="en-US" spc="130" dirty="0">
                <a:solidFill>
                  <a:schemeClr val="tx1"/>
                </a:solidFill>
                <a:latin typeface="Arial" panose="020B0604020202020204" pitchFamily="34" charset="0"/>
                <a:ea typeface="汉仪旗黑-55简" panose="00020600040101010101" charset="-122"/>
                <a:sym typeface="华文细黑" panose="02010600040101010101" charset="-122"/>
              </a:rPr>
              <a:t>人工智能(AI)芯片</a:t>
            </a:r>
            <a:endParaRPr lang="zh-CN" altLang="en-US" sz="2800" spc="130" dirty="0">
              <a:solidFill>
                <a:schemeClr val="tx1"/>
              </a:solidFill>
              <a:latin typeface="Arial" panose="020B0604020202020204" pitchFamily="34" charset="0"/>
              <a:ea typeface="汉仪旗黑-55简" panose="00020600040101010101" charset="-122"/>
              <a:sym typeface="华文细黑" panose="02010600040101010101" charset="-122"/>
            </a:endParaRPr>
          </a:p>
        </p:txBody>
      </p:sp>
      <p:pic>
        <p:nvPicPr>
          <p:cNvPr id="2" name="图片 1"/>
          <p:cNvPicPr>
            <a:picLocks noChangeAspect="1"/>
          </p:cNvPicPr>
          <p:nvPr/>
        </p:nvPicPr>
        <p:blipFill>
          <a:blip r:embed="rId1"/>
          <a:stretch>
            <a:fillRect/>
          </a:stretch>
        </p:blipFill>
        <p:spPr>
          <a:xfrm>
            <a:off x="10444480" y="0"/>
            <a:ext cx="1668780" cy="1485900"/>
          </a:xfrm>
          <a:prstGeom prst="rect">
            <a:avLst/>
          </a:prstGeom>
        </p:spPr>
      </p:pic>
      <p:sp>
        <p:nvSpPr>
          <p:cNvPr id="3" name="文本框 2"/>
          <p:cNvSpPr txBox="1"/>
          <p:nvPr/>
        </p:nvSpPr>
        <p:spPr>
          <a:xfrm>
            <a:off x="85725" y="1198880"/>
            <a:ext cx="10425430" cy="4307840"/>
          </a:xfrm>
          <a:prstGeom prst="rect">
            <a:avLst/>
          </a:prstGeom>
          <a:noFill/>
        </p:spPr>
        <p:txBody>
          <a:bodyPr wrap="square" rtlCol="0" anchor="t">
            <a:spAutoFit/>
          </a:bodyPr>
          <a:p>
            <a:r>
              <a:rPr lang="zh-CN" altLang="en-US" sz="1600" spc="130" dirty="0">
                <a:latin typeface="Arial" panose="020B0604020202020204" pitchFamily="34" charset="0"/>
                <a:ea typeface="思源黑体 CN Bold"/>
              </a:rPr>
              <a:t>人工智能也是AI ，AI 芯片所应用的领域更多的会和算法有很大的关联，比如说各种识别，语音识别、视频识别、语义识别等。有了专业的 AI 芯片作为识别的处理中心，精度和速度会提升非常多！</a:t>
            </a:r>
            <a:endParaRPr lang="zh-CN" altLang="en-US" sz="1600" spc="130" dirty="0">
              <a:latin typeface="Arial" panose="020B0604020202020204" pitchFamily="34" charset="0"/>
              <a:ea typeface="思源黑体 CN Bold"/>
            </a:endParaRPr>
          </a:p>
          <a:p>
            <a:r>
              <a:rPr lang="zh-CN" altLang="en-US" sz="1600" spc="130" dirty="0">
                <a:latin typeface="Arial" panose="020B0604020202020204" pitchFamily="34" charset="0"/>
                <a:ea typeface="思源黑体 CN Bold"/>
              </a:rPr>
              <a:t>在 5G 的架构下，AI 已是下个世代科技革命和产业变革的重要驱动力量。AI 将能催生出新的技术、产品、产业，及企业营运模式，进而引发经济结构大转变，甚至提升整体经济生产力。</a:t>
            </a:r>
            <a:endParaRPr lang="zh-CN" altLang="en-US" sz="1600" spc="130" dirty="0">
              <a:latin typeface="Arial" panose="020B0604020202020204" pitchFamily="34" charset="0"/>
              <a:ea typeface="思源黑体 CN Bold"/>
            </a:endParaRPr>
          </a:p>
          <a:p>
            <a:endParaRPr lang="zh-CN" altLang="en-US" sz="1600" spc="130" dirty="0">
              <a:latin typeface="Arial" panose="020B0604020202020204" pitchFamily="34" charset="0"/>
              <a:ea typeface="思源黑体 CN Bold"/>
              <a:sym typeface="+mn-ea"/>
            </a:endParaRPr>
          </a:p>
          <a:p>
            <a:r>
              <a:rPr lang="zh-CN" altLang="en-US" sz="1600" spc="130" dirty="0">
                <a:latin typeface="Arial" panose="020B0604020202020204" pitchFamily="34" charset="0"/>
                <a:ea typeface="思源黑体 CN Bold"/>
                <a:sym typeface="+mn-ea"/>
              </a:rPr>
              <a:t>根据IDC数据，到2022年全球AI芯片市场将达352亿美元，复合年增长率大于55%。中国AI芯片市场规模将保持40%~50%的增长速度，2025年将达到1000亿左右；到2024年中国GPU服务器市场规模将达到64亿美元，如果国产GPU 能在2024年取得30%的份额，即可获得22亿美元的市场空间。中国人工智能芯片行业市场成长空间巨大</a:t>
            </a:r>
            <a:r>
              <a:rPr lang="zh-CN" altLang="en-US" sz="1600">
                <a:latin typeface="Arial" panose="020B0604020202020204" pitchFamily="34" charset="0"/>
                <a:sym typeface="+mn-ea"/>
              </a:rPr>
              <a:t>。</a:t>
            </a:r>
            <a:endParaRPr lang="zh-CN" altLang="en-US" sz="1600">
              <a:latin typeface="Arial" panose="020B0604020202020204" pitchFamily="34" charset="0"/>
            </a:endParaRPr>
          </a:p>
          <a:p>
            <a:endParaRPr lang="zh-CN" altLang="en-US" sz="1600" spc="130" dirty="0">
              <a:latin typeface="Arial" panose="020B0604020202020204" pitchFamily="34" charset="0"/>
              <a:ea typeface="思源黑体 CN Bold"/>
            </a:endParaRPr>
          </a:p>
          <a:p>
            <a:endParaRPr lang="zh-CN" altLang="en-US" sz="1600" spc="130" dirty="0">
              <a:latin typeface="Arial" panose="020B0604020202020204" pitchFamily="34" charset="0"/>
              <a:ea typeface="思源黑体 CN Bold"/>
            </a:endParaRPr>
          </a:p>
          <a:p>
            <a:r>
              <a:rPr lang="zh-CN" altLang="en-US" sz="1600" spc="130" dirty="0">
                <a:latin typeface="Arial" panose="020B0604020202020204" pitchFamily="34" charset="0"/>
                <a:ea typeface="思源黑体 CN Bold"/>
              </a:rPr>
              <a:t>中国当下最受瞩目的 AI 半导体厂华为海思、寒武纪、地平线、比特大陆、燧原等各自有专精的领域。</a:t>
            </a:r>
            <a:endParaRPr lang="zh-CN" altLang="en-US" sz="1600" spc="130" dirty="0">
              <a:latin typeface="Arial" panose="020B0604020202020204" pitchFamily="34" charset="0"/>
              <a:ea typeface="思源黑体 CN Bold"/>
            </a:endParaRPr>
          </a:p>
          <a:p>
            <a:endParaRPr lang="zh-CN" altLang="en-US" sz="1600" spc="130" dirty="0">
              <a:latin typeface="Arial" panose="020B0604020202020204" pitchFamily="34" charset="0"/>
              <a:ea typeface="思源黑体 CN Bold"/>
            </a:endParaRPr>
          </a:p>
          <a:p>
            <a:r>
              <a:rPr lang="zh-CN" altLang="en-US" sz="1600" spc="130" dirty="0">
                <a:latin typeface="Arial" panose="020B0604020202020204" pitchFamily="34" charset="0"/>
                <a:ea typeface="思源黑体 CN Bold"/>
              </a:rPr>
              <a:t>另外互联网公司阿里巴巴（平头哥）、腾讯、百度、头条等都在涉及 AI 芯片这个领域。海外的Google、Facebook、Amazon、微软等公司早就进入芯片这个领域。</a:t>
            </a:r>
            <a:endParaRPr lang="zh-CN" altLang="en-US" sz="1600" spc="130" dirty="0">
              <a:latin typeface="Arial" panose="020B0604020202020204" pitchFamily="34" charset="0"/>
              <a:ea typeface="思源黑体 CN Bold"/>
            </a:endParaRPr>
          </a:p>
          <a:p>
            <a:endParaRPr lang="zh-CN" altLang="en-US" sz="1600" spc="130" dirty="0">
              <a:latin typeface="Arial" panose="020B0604020202020204" pitchFamily="34" charset="0"/>
              <a:ea typeface="思源黑体 CN Bold"/>
            </a:endParaRPr>
          </a:p>
          <a:p>
            <a:endParaRPr lang="zh-CN" altLang="en-US">
              <a:latin typeface="Arial" panose="020B0604020202020204" pitchFamily="34" charset="0"/>
            </a:endParaRPr>
          </a:p>
        </p:txBody>
      </p:sp>
    </p:spTree>
  </p:cSld>
  <p:clrMapOvr>
    <a:masterClrMapping/>
  </p:clrMapOvr>
  <p:transition spd="slow" advTm="3000">
    <p:push/>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形状 30"/>
          <p:cNvSpPr/>
          <p:nvPr/>
        </p:nvSpPr>
        <p:spPr>
          <a:xfrm>
            <a:off x="85725" y="267970"/>
            <a:ext cx="6523990" cy="562610"/>
          </a:xfrm>
          <a:custGeom>
            <a:avLst/>
            <a:gdLst>
              <a:gd name="connsiteX0" fmla="*/ 124918 w 1413447"/>
              <a:gd name="connsiteY0" fmla="*/ 0 h 535213"/>
              <a:gd name="connsiteX1" fmla="*/ 1413447 w 1413447"/>
              <a:gd name="connsiteY1" fmla="*/ 0 h 535213"/>
              <a:gd name="connsiteX2" fmla="*/ 1293066 w 1413447"/>
              <a:gd name="connsiteY2" fmla="*/ 515770 h 535213"/>
              <a:gd name="connsiteX3" fmla="*/ 1296954 w 1413447"/>
              <a:gd name="connsiteY3" fmla="*/ 499111 h 535213"/>
              <a:gd name="connsiteX4" fmla="*/ 1284655 w 1413447"/>
              <a:gd name="connsiteY4" fmla="*/ 517355 h 535213"/>
              <a:gd name="connsiteX5" fmla="*/ 1263549 w 1413447"/>
              <a:gd name="connsiteY5" fmla="*/ 531584 h 535213"/>
              <a:gd name="connsiteX6" fmla="*/ 1245575 w 1413447"/>
              <a:gd name="connsiteY6" fmla="*/ 535213 h 535213"/>
              <a:gd name="connsiteX7" fmla="*/ 74294 w 1413447"/>
              <a:gd name="connsiteY7" fmla="*/ 535213 h 535213"/>
              <a:gd name="connsiteX8" fmla="*/ 56319 w 1413447"/>
              <a:gd name="connsiteY8" fmla="*/ 531584 h 535213"/>
              <a:gd name="connsiteX9" fmla="*/ 15766 w 1413447"/>
              <a:gd name="connsiteY9" fmla="*/ 470404 h 535213"/>
              <a:gd name="connsiteX10" fmla="*/ 19864 w 1413447"/>
              <a:gd name="connsiteY10" fmla="*/ 450109 h 535213"/>
              <a:gd name="connsiteX11" fmla="*/ 0 w 1413447"/>
              <a:gd name="connsiteY11" fmla="*/ 535213 h 53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3447" h="535213">
                <a:moveTo>
                  <a:pt x="124918" y="0"/>
                </a:moveTo>
                <a:lnTo>
                  <a:pt x="1413447" y="0"/>
                </a:lnTo>
                <a:lnTo>
                  <a:pt x="1293066" y="515770"/>
                </a:lnTo>
                <a:lnTo>
                  <a:pt x="1296954" y="499111"/>
                </a:lnTo>
                <a:lnTo>
                  <a:pt x="1284655" y="517355"/>
                </a:lnTo>
                <a:cubicBezTo>
                  <a:pt x="1278647" y="523362"/>
                  <a:pt x="1271493" y="528224"/>
                  <a:pt x="1263549" y="531584"/>
                </a:cubicBezTo>
                <a:lnTo>
                  <a:pt x="1245575" y="535213"/>
                </a:lnTo>
                <a:lnTo>
                  <a:pt x="74294" y="535213"/>
                </a:lnTo>
                <a:lnTo>
                  <a:pt x="56319" y="531584"/>
                </a:lnTo>
                <a:cubicBezTo>
                  <a:pt x="32488" y="521505"/>
                  <a:pt x="15766" y="497907"/>
                  <a:pt x="15766" y="470404"/>
                </a:cubicBezTo>
                <a:lnTo>
                  <a:pt x="19864" y="450109"/>
                </a:lnTo>
                <a:lnTo>
                  <a:pt x="0" y="535213"/>
                </a:lnTo>
                <a:close/>
              </a:path>
            </a:pathLst>
          </a:custGeom>
          <a:solidFill>
            <a:srgbClr val="267CA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nSpc>
                <a:spcPct val="130000"/>
              </a:lnSpc>
            </a:pPr>
            <a:r>
              <a:rPr lang="en-US" spc="130" dirty="0">
                <a:solidFill>
                  <a:schemeClr val="tx1"/>
                </a:solidFill>
                <a:latin typeface="Arial" panose="020B0604020202020204" pitchFamily="34" charset="0"/>
                <a:ea typeface="汉仪旗黑-55简" panose="00020600040101010101" charset="-122"/>
                <a:sym typeface="华文细黑" panose="02010600040101010101" charset="-122"/>
              </a:rPr>
              <a:t>     </a:t>
            </a:r>
            <a:r>
              <a:rPr spc="130" dirty="0">
                <a:solidFill>
                  <a:schemeClr val="tx1"/>
                </a:solidFill>
                <a:latin typeface="Arial" panose="020B0604020202020204" pitchFamily="34" charset="0"/>
                <a:ea typeface="汉仪旗黑-55简" panose="00020600040101010101" charset="-122"/>
                <a:sym typeface="华文细黑" panose="02010600040101010101" charset="-122"/>
              </a:rPr>
              <a:t>人工智能</a:t>
            </a:r>
            <a:r>
              <a:rPr lang="zh-CN" spc="130" dirty="0">
                <a:solidFill>
                  <a:schemeClr val="tx1"/>
                </a:solidFill>
                <a:latin typeface="Arial" panose="020B0604020202020204" pitchFamily="34" charset="0"/>
                <a:ea typeface="汉仪旗黑-55简" panose="00020600040101010101" charset="-122"/>
                <a:sym typeface="华文细黑" panose="02010600040101010101" charset="-122"/>
              </a:rPr>
              <a:t>（</a:t>
            </a:r>
            <a:r>
              <a:rPr lang="en-US" altLang="zh-CN" spc="130" dirty="0">
                <a:solidFill>
                  <a:schemeClr val="tx1"/>
                </a:solidFill>
                <a:latin typeface="Arial" panose="020B0604020202020204" pitchFamily="34" charset="0"/>
                <a:ea typeface="汉仪旗黑-55简" panose="00020600040101010101" charset="-122"/>
                <a:sym typeface="华文细黑" panose="02010600040101010101" charset="-122"/>
              </a:rPr>
              <a:t>AI</a:t>
            </a:r>
            <a:r>
              <a:rPr lang="zh-CN" spc="130" dirty="0">
                <a:solidFill>
                  <a:schemeClr val="tx1"/>
                </a:solidFill>
                <a:latin typeface="Arial" panose="020B0604020202020204" pitchFamily="34" charset="0"/>
                <a:ea typeface="汉仪旗黑-55简" panose="00020600040101010101" charset="-122"/>
                <a:sym typeface="华文细黑" panose="02010600040101010101" charset="-122"/>
              </a:rPr>
              <a:t>）</a:t>
            </a:r>
            <a:r>
              <a:rPr spc="130" dirty="0">
                <a:solidFill>
                  <a:schemeClr val="tx1"/>
                </a:solidFill>
                <a:latin typeface="Arial" panose="020B0604020202020204" pitchFamily="34" charset="0"/>
                <a:ea typeface="汉仪旗黑-55简" panose="00020600040101010101" charset="-122"/>
                <a:sym typeface="华文细黑" panose="02010600040101010101" charset="-122"/>
              </a:rPr>
              <a:t>芯片行业分类</a:t>
            </a:r>
            <a:endParaRPr spc="130" dirty="0">
              <a:solidFill>
                <a:schemeClr val="tx1"/>
              </a:solidFill>
              <a:latin typeface="Arial" panose="020B0604020202020204" pitchFamily="34" charset="0"/>
              <a:ea typeface="汉仪旗黑-55简" panose="00020600040101010101" charset="-122"/>
              <a:sym typeface="华文细黑" panose="02010600040101010101" charset="-122"/>
            </a:endParaRPr>
          </a:p>
        </p:txBody>
      </p:sp>
      <p:pic>
        <p:nvPicPr>
          <p:cNvPr id="2" name="图片 1"/>
          <p:cNvPicPr>
            <a:picLocks noChangeAspect="1"/>
          </p:cNvPicPr>
          <p:nvPr/>
        </p:nvPicPr>
        <p:blipFill>
          <a:blip r:embed="rId1"/>
          <a:stretch>
            <a:fillRect/>
          </a:stretch>
        </p:blipFill>
        <p:spPr>
          <a:xfrm>
            <a:off x="10523220" y="48895"/>
            <a:ext cx="1668780" cy="1485900"/>
          </a:xfrm>
          <a:prstGeom prst="rect">
            <a:avLst/>
          </a:prstGeom>
        </p:spPr>
      </p:pic>
      <p:sp>
        <p:nvSpPr>
          <p:cNvPr id="3" name="文本框 2"/>
          <p:cNvSpPr txBox="1"/>
          <p:nvPr/>
        </p:nvSpPr>
        <p:spPr>
          <a:xfrm>
            <a:off x="273050" y="1058545"/>
            <a:ext cx="10150475" cy="829945"/>
          </a:xfrm>
          <a:prstGeom prst="rect">
            <a:avLst/>
          </a:prstGeom>
          <a:noFill/>
        </p:spPr>
        <p:txBody>
          <a:bodyPr wrap="square" rtlCol="0" anchor="t">
            <a:spAutoFit/>
          </a:bodyPr>
          <a:p>
            <a:r>
              <a:rPr lang="zh-CN" altLang="en-US" sz="1600" spc="130" dirty="0">
                <a:latin typeface="Arial" panose="020B0604020202020204" pitchFamily="34" charset="0"/>
                <a:ea typeface="思源黑体 CN Bold"/>
              </a:rPr>
              <a:t>人工智能（AI）芯片主要包括GPU、FPGA、ASIC三类，当前主流的AI芯片是GPU，未来可能被ASIC替代。三类AI芯片之间的主要区别在于适用范围不同，GPU属于通用型芯片，ASIC属于专用型芯片，而FPGA则是介于两者之间的半定制化芯片</a:t>
            </a:r>
            <a:endParaRPr lang="zh-CN" altLang="en-US" sz="1600" spc="130" dirty="0">
              <a:latin typeface="Arial" panose="020B0604020202020204" pitchFamily="34" charset="0"/>
              <a:ea typeface="思源黑体 CN Bold"/>
            </a:endParaRPr>
          </a:p>
        </p:txBody>
      </p:sp>
      <p:pic>
        <p:nvPicPr>
          <p:cNvPr id="5" name="图片 4"/>
          <p:cNvPicPr>
            <a:picLocks noChangeAspect="1"/>
          </p:cNvPicPr>
          <p:nvPr/>
        </p:nvPicPr>
        <p:blipFill>
          <a:blip r:embed="rId2"/>
          <a:stretch>
            <a:fillRect/>
          </a:stretch>
        </p:blipFill>
        <p:spPr>
          <a:xfrm>
            <a:off x="353060" y="1980565"/>
            <a:ext cx="9951720" cy="3685540"/>
          </a:xfrm>
          <a:prstGeom prst="rect">
            <a:avLst/>
          </a:prstGeom>
        </p:spPr>
      </p:pic>
    </p:spTree>
  </p:cSld>
  <p:clrMapOvr>
    <a:masterClrMapping/>
  </p:clrMapOvr>
  <p:transition spd="slow" advTm="3000">
    <p:push/>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形状 30"/>
          <p:cNvSpPr/>
          <p:nvPr/>
        </p:nvSpPr>
        <p:spPr>
          <a:xfrm>
            <a:off x="0" y="48895"/>
            <a:ext cx="3980815" cy="373380"/>
          </a:xfrm>
          <a:custGeom>
            <a:avLst/>
            <a:gdLst>
              <a:gd name="connsiteX0" fmla="*/ 124918 w 1413447"/>
              <a:gd name="connsiteY0" fmla="*/ 0 h 535213"/>
              <a:gd name="connsiteX1" fmla="*/ 1413447 w 1413447"/>
              <a:gd name="connsiteY1" fmla="*/ 0 h 535213"/>
              <a:gd name="connsiteX2" fmla="*/ 1293066 w 1413447"/>
              <a:gd name="connsiteY2" fmla="*/ 515770 h 535213"/>
              <a:gd name="connsiteX3" fmla="*/ 1296954 w 1413447"/>
              <a:gd name="connsiteY3" fmla="*/ 499111 h 535213"/>
              <a:gd name="connsiteX4" fmla="*/ 1284655 w 1413447"/>
              <a:gd name="connsiteY4" fmla="*/ 517355 h 535213"/>
              <a:gd name="connsiteX5" fmla="*/ 1263549 w 1413447"/>
              <a:gd name="connsiteY5" fmla="*/ 531584 h 535213"/>
              <a:gd name="connsiteX6" fmla="*/ 1245575 w 1413447"/>
              <a:gd name="connsiteY6" fmla="*/ 535213 h 535213"/>
              <a:gd name="connsiteX7" fmla="*/ 74294 w 1413447"/>
              <a:gd name="connsiteY7" fmla="*/ 535213 h 535213"/>
              <a:gd name="connsiteX8" fmla="*/ 56319 w 1413447"/>
              <a:gd name="connsiteY8" fmla="*/ 531584 h 535213"/>
              <a:gd name="connsiteX9" fmla="*/ 15766 w 1413447"/>
              <a:gd name="connsiteY9" fmla="*/ 470404 h 535213"/>
              <a:gd name="connsiteX10" fmla="*/ 19864 w 1413447"/>
              <a:gd name="connsiteY10" fmla="*/ 450109 h 535213"/>
              <a:gd name="connsiteX11" fmla="*/ 0 w 1413447"/>
              <a:gd name="connsiteY11" fmla="*/ 535213 h 53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3447" h="535213">
                <a:moveTo>
                  <a:pt x="124918" y="0"/>
                </a:moveTo>
                <a:lnTo>
                  <a:pt x="1413447" y="0"/>
                </a:lnTo>
                <a:lnTo>
                  <a:pt x="1293066" y="515770"/>
                </a:lnTo>
                <a:lnTo>
                  <a:pt x="1296954" y="499111"/>
                </a:lnTo>
                <a:lnTo>
                  <a:pt x="1284655" y="517355"/>
                </a:lnTo>
                <a:cubicBezTo>
                  <a:pt x="1278647" y="523362"/>
                  <a:pt x="1271493" y="528224"/>
                  <a:pt x="1263549" y="531584"/>
                </a:cubicBezTo>
                <a:lnTo>
                  <a:pt x="1245575" y="535213"/>
                </a:lnTo>
                <a:lnTo>
                  <a:pt x="74294" y="535213"/>
                </a:lnTo>
                <a:lnTo>
                  <a:pt x="56319" y="531584"/>
                </a:lnTo>
                <a:cubicBezTo>
                  <a:pt x="32488" y="521505"/>
                  <a:pt x="15766" y="497907"/>
                  <a:pt x="15766" y="470404"/>
                </a:cubicBezTo>
                <a:lnTo>
                  <a:pt x="19864" y="450109"/>
                </a:lnTo>
                <a:lnTo>
                  <a:pt x="0" y="535213"/>
                </a:lnTo>
                <a:close/>
              </a:path>
            </a:pathLst>
          </a:custGeom>
          <a:solidFill>
            <a:srgbClr val="267CA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nSpc>
                <a:spcPct val="130000"/>
              </a:lnSpc>
            </a:pPr>
            <a:r>
              <a:rPr lang="en-US" altLang="zh-CN">
                <a:latin typeface="Arial" panose="020B0604020202020204" pitchFamily="34" charset="0"/>
                <a:ea typeface="汉仪旗黑-55简" panose="00020600040101010101" charset="-122"/>
                <a:sym typeface="+mn-ea"/>
              </a:rPr>
              <a:t>    </a:t>
            </a:r>
            <a:r>
              <a:rPr lang="en-US" altLang="zh-CN">
                <a:solidFill>
                  <a:schemeClr val="tx1"/>
                </a:solidFill>
                <a:latin typeface="Arial" panose="020B0604020202020204" pitchFamily="34" charset="0"/>
                <a:ea typeface="汉仪旗黑-55简" panose="00020600040101010101" charset="-122"/>
                <a:sym typeface="+mn-ea"/>
              </a:rPr>
              <a:t> 2021</a:t>
            </a:r>
            <a:r>
              <a:rPr lang="zh-CN" altLang="en-US">
                <a:solidFill>
                  <a:schemeClr val="tx1"/>
                </a:solidFill>
                <a:latin typeface="Arial" panose="020B0604020202020204" pitchFamily="34" charset="0"/>
                <a:ea typeface="汉仪旗黑-55简" panose="00020600040101010101" charset="-122"/>
                <a:sym typeface="+mn-ea"/>
              </a:rPr>
              <a:t>年中国</a:t>
            </a:r>
            <a:r>
              <a:rPr lang="en-US" altLang="zh-CN">
                <a:solidFill>
                  <a:schemeClr val="tx1"/>
                </a:solidFill>
                <a:latin typeface="Arial" panose="020B0604020202020204" pitchFamily="34" charset="0"/>
                <a:ea typeface="汉仪旗黑-55简" panose="00020600040101010101" charset="-122"/>
                <a:sym typeface="+mn-ea"/>
              </a:rPr>
              <a:t>AI</a:t>
            </a:r>
            <a:r>
              <a:rPr lang="zh-CN" altLang="en-US">
                <a:solidFill>
                  <a:schemeClr val="tx1"/>
                </a:solidFill>
                <a:latin typeface="Arial" panose="020B0604020202020204" pitchFamily="34" charset="0"/>
                <a:ea typeface="汉仪旗黑-55简" panose="00020600040101010101" charset="-122"/>
                <a:sym typeface="+mn-ea"/>
              </a:rPr>
              <a:t>芯片</a:t>
            </a:r>
            <a:r>
              <a:rPr lang="en-US" altLang="zh-CN">
                <a:solidFill>
                  <a:schemeClr val="tx1"/>
                </a:solidFill>
                <a:latin typeface="Arial" panose="020B0604020202020204" pitchFamily="34" charset="0"/>
                <a:ea typeface="汉仪旗黑-55简" panose="00020600040101010101" charset="-122"/>
                <a:sym typeface="+mn-ea"/>
              </a:rPr>
              <a:t>50</a:t>
            </a:r>
            <a:r>
              <a:rPr lang="zh-CN" altLang="en-US">
                <a:solidFill>
                  <a:schemeClr val="tx1"/>
                </a:solidFill>
                <a:latin typeface="Arial" panose="020B0604020202020204" pitchFamily="34" charset="0"/>
                <a:ea typeface="汉仪旗黑-55简" panose="00020600040101010101" charset="-122"/>
                <a:sym typeface="+mn-ea"/>
              </a:rPr>
              <a:t>强</a:t>
            </a:r>
            <a:endParaRPr lang="zh-CN" altLang="en-US" spc="130" dirty="0">
              <a:solidFill>
                <a:schemeClr val="tx1"/>
              </a:solidFill>
              <a:latin typeface="Arial" panose="020B0604020202020204" pitchFamily="34" charset="0"/>
              <a:ea typeface="汉仪旗黑-55简" panose="00020600040101010101" charset="-122"/>
              <a:sym typeface="+mn-ea"/>
            </a:endParaRPr>
          </a:p>
        </p:txBody>
      </p:sp>
      <p:pic>
        <p:nvPicPr>
          <p:cNvPr id="2" name="图片 1"/>
          <p:cNvPicPr>
            <a:picLocks noChangeAspect="1"/>
          </p:cNvPicPr>
          <p:nvPr/>
        </p:nvPicPr>
        <p:blipFill>
          <a:blip r:embed="rId1"/>
          <a:stretch>
            <a:fillRect/>
          </a:stretch>
        </p:blipFill>
        <p:spPr>
          <a:xfrm>
            <a:off x="10523220" y="48895"/>
            <a:ext cx="1668780" cy="1485900"/>
          </a:xfrm>
          <a:prstGeom prst="rect">
            <a:avLst/>
          </a:prstGeom>
        </p:spPr>
      </p:pic>
      <p:pic>
        <p:nvPicPr>
          <p:cNvPr id="7" name="图片 6"/>
          <p:cNvPicPr>
            <a:picLocks noChangeAspect="1"/>
          </p:cNvPicPr>
          <p:nvPr/>
        </p:nvPicPr>
        <p:blipFill>
          <a:blip r:embed="rId2"/>
          <a:stretch>
            <a:fillRect/>
          </a:stretch>
        </p:blipFill>
        <p:spPr>
          <a:xfrm>
            <a:off x="0" y="774065"/>
            <a:ext cx="3348355" cy="5751830"/>
          </a:xfrm>
          <a:prstGeom prst="rect">
            <a:avLst/>
          </a:prstGeom>
        </p:spPr>
      </p:pic>
      <p:pic>
        <p:nvPicPr>
          <p:cNvPr id="11" name="图片 10"/>
          <p:cNvPicPr>
            <a:picLocks noChangeAspect="1"/>
          </p:cNvPicPr>
          <p:nvPr/>
        </p:nvPicPr>
        <p:blipFill>
          <a:blip r:embed="rId3"/>
          <a:stretch>
            <a:fillRect/>
          </a:stretch>
        </p:blipFill>
        <p:spPr>
          <a:xfrm>
            <a:off x="3496310" y="896620"/>
            <a:ext cx="3275330" cy="5961380"/>
          </a:xfrm>
          <a:prstGeom prst="rect">
            <a:avLst/>
          </a:prstGeom>
        </p:spPr>
      </p:pic>
      <p:pic>
        <p:nvPicPr>
          <p:cNvPr id="12" name="图片 11"/>
          <p:cNvPicPr>
            <a:picLocks noChangeAspect="1"/>
          </p:cNvPicPr>
          <p:nvPr/>
        </p:nvPicPr>
        <p:blipFill>
          <a:blip r:embed="rId4"/>
          <a:stretch>
            <a:fillRect/>
          </a:stretch>
        </p:blipFill>
        <p:spPr>
          <a:xfrm>
            <a:off x="6919595" y="923925"/>
            <a:ext cx="3865245" cy="5010785"/>
          </a:xfrm>
          <a:prstGeom prst="rect">
            <a:avLst/>
          </a:prstGeom>
        </p:spPr>
      </p:pic>
    </p:spTree>
  </p:cSld>
  <p:clrMapOvr>
    <a:masterClrMapping/>
  </p:clrMapOvr>
  <p:transition spd="slow" advTm="3000">
    <p:push/>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nvSpPr>
        <p:spPr>
          <a:xfrm>
            <a:off x="64770" y="1109980"/>
            <a:ext cx="12126595" cy="810260"/>
          </a:xfrm>
          <a:prstGeom prst="rect">
            <a:avLst/>
          </a:prstGeom>
          <a:noFill/>
        </p:spPr>
        <p:txBody>
          <a:bodyPr wrap="square" rtlCol="0">
            <a:spAutoFit/>
          </a:bodyPr>
          <a:lstStyle/>
          <a:p>
            <a:pPr>
              <a:lnSpc>
                <a:spcPct val="130000"/>
              </a:lnSpc>
            </a:pPr>
            <a:endParaRPr lang="zh-CN" altLang="en-US" sz="1200" spc="130" dirty="0">
              <a:solidFill>
                <a:schemeClr val="tx1"/>
              </a:solidFill>
              <a:latin typeface="华文细黑" panose="02010600040101010101" charset="-122"/>
              <a:ea typeface="思源黑体 CN Bold"/>
              <a:sym typeface="华文细黑" panose="02010600040101010101" charset="-122"/>
            </a:endParaRPr>
          </a:p>
          <a:p>
            <a:pPr>
              <a:lnSpc>
                <a:spcPct val="130000"/>
              </a:lnSpc>
            </a:pPr>
            <a:endParaRPr lang="zh-CN" altLang="en-US" sz="1200" spc="130" dirty="0">
              <a:solidFill>
                <a:schemeClr val="tx1"/>
              </a:solidFill>
              <a:latin typeface="华文细黑" panose="02010600040101010101" charset="-122"/>
              <a:ea typeface="思源黑体 CN Bold"/>
              <a:sym typeface="华文细黑" panose="02010600040101010101" charset="-122"/>
            </a:endParaRPr>
          </a:p>
          <a:p>
            <a:pPr>
              <a:lnSpc>
                <a:spcPct val="130000"/>
              </a:lnSpc>
            </a:pPr>
            <a:endParaRPr sz="1200" spc="130" dirty="0">
              <a:solidFill>
                <a:schemeClr val="tx1"/>
              </a:solidFill>
              <a:latin typeface="华文细黑" panose="02010600040101010101" charset="-122"/>
              <a:ea typeface="思源黑体 CN Bold"/>
              <a:sym typeface="华文细黑" panose="02010600040101010101" charset="-122"/>
            </a:endParaRPr>
          </a:p>
        </p:txBody>
      </p:sp>
      <p:pic>
        <p:nvPicPr>
          <p:cNvPr id="2" name="图片 1"/>
          <p:cNvPicPr>
            <a:picLocks noChangeAspect="1"/>
          </p:cNvPicPr>
          <p:nvPr>
            <p:custDataLst>
              <p:tags r:id="rId1"/>
            </p:custDataLst>
          </p:nvPr>
        </p:nvPicPr>
        <p:blipFill>
          <a:blip r:embed="rId2"/>
          <a:stretch>
            <a:fillRect/>
          </a:stretch>
        </p:blipFill>
        <p:spPr>
          <a:xfrm>
            <a:off x="10523220" y="48895"/>
            <a:ext cx="1668780" cy="1485900"/>
          </a:xfrm>
          <a:prstGeom prst="rect">
            <a:avLst/>
          </a:prstGeom>
        </p:spPr>
      </p:pic>
      <p:sp>
        <p:nvSpPr>
          <p:cNvPr id="5" name="文本框 4"/>
          <p:cNvSpPr txBox="1"/>
          <p:nvPr>
            <p:custDataLst>
              <p:tags r:id="rId3"/>
            </p:custDataLst>
          </p:nvPr>
        </p:nvSpPr>
        <p:spPr bwMode="auto">
          <a:xfrm>
            <a:off x="64770" y="178435"/>
            <a:ext cx="8049260" cy="473075"/>
          </a:xfrm>
          <a:prstGeom prst="rect">
            <a:avLst/>
          </a:prstGeom>
          <a:noFill/>
        </p:spPr>
        <p:txBody>
          <a:bodyPr wrap="square" lIns="90000" tIns="46800" rIns="90000" bIns="0" anchor="b" anchorCtr="0">
            <a:noAutofit/>
          </a:bodyPr>
          <a:p>
            <a:pPr indent="0" algn="l"/>
            <a:r>
              <a:rPr lang="en-US" altLang="zh-CN" sz="3100" b="1">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sym typeface="+mn-ea"/>
              </a:rPr>
              <a:t>IC</a:t>
            </a:r>
            <a:r>
              <a:rPr lang="zh-CN" altLang="en-US" sz="3100" b="1">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sym typeface="+mn-ea"/>
              </a:rPr>
              <a:t>设计的发展路径和薪酬待遇</a:t>
            </a:r>
            <a:endParaRPr lang="zh-CN" altLang="en-US" sz="3100" b="1" u="sng" spc="30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4" name="文本框 3"/>
          <p:cNvSpPr txBox="1"/>
          <p:nvPr/>
        </p:nvSpPr>
        <p:spPr>
          <a:xfrm>
            <a:off x="213360" y="842645"/>
            <a:ext cx="10878820" cy="5507990"/>
          </a:xfrm>
          <a:prstGeom prst="rect">
            <a:avLst/>
          </a:prstGeom>
          <a:noFill/>
        </p:spPr>
        <p:txBody>
          <a:bodyPr wrap="square" rtlCol="0" anchor="t">
            <a:spAutoFit/>
          </a:bodyPr>
          <a:p>
            <a:pPr indent="0"/>
            <a:r>
              <a:rPr lang="zh-CN" altLang="en-US" sz="1600" b="1">
                <a:latin typeface="宋体" panose="02010600030101010101" pitchFamily="2" charset="-122"/>
                <a:ea typeface="宋体" panose="02010600030101010101" pitchFamily="2" charset="-122"/>
                <a:cs typeface="宋体" panose="02010600030101010101" pitchFamily="2" charset="-122"/>
                <a:sym typeface="+mn-ea"/>
              </a:rPr>
              <a:t>职业发展路径：</a:t>
            </a:r>
            <a:endParaRPr lang="en-US" altLang="zh-CN" sz="1600" b="1">
              <a:latin typeface="宋体" panose="02010600030101010101" pitchFamily="2" charset="-122"/>
              <a:ea typeface="宋体" panose="02010600030101010101" pitchFamily="2" charset="-122"/>
              <a:cs typeface="宋体" panose="02010600030101010101" pitchFamily="2" charset="-122"/>
              <a:sym typeface="+mn-ea"/>
            </a:endParaRPr>
          </a:p>
          <a:p>
            <a:pPr indent="0"/>
            <a:endParaRPr lang="en-US" altLang="zh-CN" sz="1600">
              <a:latin typeface="宋体" panose="02010600030101010101" pitchFamily="2" charset="-122"/>
              <a:ea typeface="宋体" panose="02010600030101010101" pitchFamily="2" charset="-122"/>
              <a:cs typeface="宋体" panose="02010600030101010101" pitchFamily="2" charset="-122"/>
              <a:sym typeface="+mn-ea"/>
            </a:endParaRPr>
          </a:p>
          <a:p>
            <a:pPr indent="0"/>
            <a:r>
              <a:rPr lang="en-US" altLang="zh-CN" sz="1600">
                <a:latin typeface="宋体" panose="02010600030101010101" pitchFamily="2" charset="-122"/>
                <a:ea typeface="宋体" panose="02010600030101010101" pitchFamily="2" charset="-122"/>
                <a:cs typeface="宋体" panose="02010600030101010101" pitchFamily="2" charset="-122"/>
                <a:sym typeface="+mn-ea"/>
              </a:rPr>
              <a:t>1.</a:t>
            </a:r>
            <a:r>
              <a:rPr lang="zh-CN" altLang="en-US" sz="1600">
                <a:latin typeface="宋体" panose="02010600030101010101" pitchFamily="2" charset="-122"/>
                <a:ea typeface="宋体" panose="02010600030101010101" pitchFamily="2" charset="-122"/>
                <a:cs typeface="宋体" panose="02010600030101010101" pitchFamily="2" charset="-122"/>
                <a:sym typeface="+mn-ea"/>
              </a:rPr>
              <a:t>专业</a:t>
            </a:r>
            <a:r>
              <a:rPr lang="en-US" altLang="zh-CN" sz="1600">
                <a:latin typeface="宋体" panose="02010600030101010101" pitchFamily="2" charset="-122"/>
                <a:ea typeface="宋体" panose="02010600030101010101" pitchFamily="2" charset="-122"/>
                <a:cs typeface="宋体" panose="02010600030101010101" pitchFamily="2" charset="-122"/>
                <a:sym typeface="+mn-ea"/>
              </a:rPr>
              <a:t>技术</a:t>
            </a:r>
            <a:r>
              <a:rPr lang="zh-CN" altLang="en-US" sz="1600">
                <a:latin typeface="宋体" panose="02010600030101010101" pitchFamily="2" charset="-122"/>
                <a:ea typeface="宋体" panose="02010600030101010101" pitchFamily="2" charset="-122"/>
                <a:cs typeface="宋体" panose="02010600030101010101" pitchFamily="2" charset="-122"/>
                <a:sym typeface="+mn-ea"/>
              </a:rPr>
              <a:t>线</a:t>
            </a:r>
            <a:r>
              <a:rPr lang="en-US" altLang="zh-CN" sz="1600">
                <a:latin typeface="宋体" panose="02010600030101010101" pitchFamily="2" charset="-122"/>
                <a:ea typeface="宋体" panose="02010600030101010101" pitchFamily="2" charset="-122"/>
                <a:cs typeface="宋体" panose="02010600030101010101" pitchFamily="2" charset="-122"/>
                <a:sym typeface="+mn-ea"/>
              </a:rPr>
              <a:t>，从初级工程师（Junior）--&gt; 高级工程师（Senior）--&gt; 主管工程师（Staff）--&gt; 高级主管工程师（Senior Staff）--&gt; 技术专家（Principle）--&gt; 技术副总裁（Vice President）</a:t>
            </a:r>
            <a:endParaRPr lang="en-US" altLang="zh-CN" sz="1600">
              <a:latin typeface="宋体" panose="02010600030101010101" pitchFamily="2" charset="-122"/>
              <a:ea typeface="宋体" panose="02010600030101010101" pitchFamily="2" charset="-122"/>
              <a:cs typeface="宋体" panose="02010600030101010101" pitchFamily="2" charset="-122"/>
            </a:endParaRPr>
          </a:p>
          <a:p>
            <a:pPr indent="0"/>
            <a:endParaRPr lang="en-US" altLang="zh-CN" sz="1600">
              <a:latin typeface="宋体" panose="02010600030101010101" pitchFamily="2" charset="-122"/>
              <a:ea typeface="宋体" panose="02010600030101010101" pitchFamily="2" charset="-122"/>
              <a:cs typeface="宋体" panose="02010600030101010101" pitchFamily="2" charset="-122"/>
            </a:endParaRPr>
          </a:p>
          <a:p>
            <a:pPr indent="0"/>
            <a:r>
              <a:rPr lang="en-US" altLang="zh-CN" sz="1600">
                <a:latin typeface="宋体" panose="02010600030101010101" pitchFamily="2" charset="-122"/>
                <a:ea typeface="宋体" panose="02010600030101010101" pitchFamily="2" charset="-122"/>
                <a:cs typeface="宋体" panose="02010600030101010101" pitchFamily="2" charset="-122"/>
                <a:sym typeface="+mn-ea"/>
              </a:rPr>
              <a:t>2.管理</a:t>
            </a:r>
            <a:r>
              <a:rPr lang="zh-CN" altLang="en-US" sz="1600">
                <a:latin typeface="宋体" panose="02010600030101010101" pitchFamily="2" charset="-122"/>
                <a:ea typeface="宋体" panose="02010600030101010101" pitchFamily="2" charset="-122"/>
                <a:cs typeface="宋体" panose="02010600030101010101" pitchFamily="2" charset="-122"/>
                <a:sym typeface="+mn-ea"/>
              </a:rPr>
              <a:t>线</a:t>
            </a:r>
            <a:r>
              <a:rPr lang="en-US" altLang="zh-CN" sz="1600">
                <a:latin typeface="宋体" panose="02010600030101010101" pitchFamily="2" charset="-122"/>
                <a:ea typeface="宋体" panose="02010600030101010101" pitchFamily="2" charset="-122"/>
                <a:cs typeface="宋体" panose="02010600030101010101" pitchFamily="2" charset="-122"/>
                <a:sym typeface="+mn-ea"/>
              </a:rPr>
              <a:t>，从初级工程师（Junior）--&gt; 高级工程师（Senior）--&gt; 组长 （Leader）--&gt; 经理（Manager）--&gt; 部门主管（Director）--&gt; 副总（Vice President）</a:t>
            </a:r>
            <a:endParaRPr lang="en-US" altLang="zh-CN" sz="1600">
              <a:latin typeface="宋体" panose="02010600030101010101" pitchFamily="2" charset="-122"/>
              <a:ea typeface="宋体" panose="02010600030101010101" pitchFamily="2" charset="-122"/>
              <a:cs typeface="宋体" panose="02010600030101010101" pitchFamily="2" charset="-122"/>
              <a:sym typeface="+mn-ea"/>
            </a:endParaRPr>
          </a:p>
          <a:p>
            <a:pPr indent="0"/>
            <a:endParaRPr lang="en-US" altLang="zh-CN" sz="1600">
              <a:latin typeface="宋体" panose="02010600030101010101" pitchFamily="2" charset="-122"/>
              <a:ea typeface="宋体" panose="02010600030101010101" pitchFamily="2" charset="-122"/>
              <a:cs typeface="宋体" panose="02010600030101010101" pitchFamily="2" charset="-122"/>
            </a:endParaRPr>
          </a:p>
          <a:p>
            <a:pPr indent="0"/>
            <a:r>
              <a:rPr lang="en-US" altLang="zh-CN" sz="1600">
                <a:latin typeface="宋体" panose="02010600030101010101" pitchFamily="2" charset="-122"/>
                <a:ea typeface="宋体" panose="02010600030101010101" pitchFamily="2" charset="-122"/>
                <a:cs typeface="宋体" panose="02010600030101010101" pitchFamily="2" charset="-122"/>
              </a:rPr>
              <a:t>3.选择创业：很多的人也会选择原来擅长的方向，选择一个细分市场组建团队去追逐梦想。</a:t>
            </a:r>
            <a:endParaRPr lang="en-US" altLang="zh-CN" sz="1600">
              <a:latin typeface="宋体" panose="02010600030101010101" pitchFamily="2" charset="-122"/>
              <a:ea typeface="宋体" panose="02010600030101010101" pitchFamily="2" charset="-122"/>
              <a:cs typeface="宋体" panose="02010600030101010101" pitchFamily="2" charset="-122"/>
            </a:endParaRPr>
          </a:p>
          <a:p>
            <a:pPr indent="0"/>
            <a:endParaRPr lang="en-US" altLang="zh-CN" sz="1600">
              <a:latin typeface="宋体" panose="02010600030101010101" pitchFamily="2" charset="-122"/>
              <a:ea typeface="宋体" panose="02010600030101010101" pitchFamily="2" charset="-122"/>
              <a:cs typeface="宋体" panose="02010600030101010101" pitchFamily="2" charset="-122"/>
            </a:endParaRPr>
          </a:p>
          <a:p>
            <a:pPr indent="0"/>
            <a:r>
              <a:rPr lang="en-US" altLang="zh-CN" sz="1600">
                <a:latin typeface="宋体" panose="02010600030101010101" pitchFamily="2" charset="-122"/>
                <a:ea typeface="宋体" panose="02010600030101010101" pitchFamily="2" charset="-122"/>
                <a:cs typeface="宋体" panose="02010600030101010101" pitchFamily="2" charset="-122"/>
              </a:rPr>
              <a:t>4.选择转行：彻底离开原行业，奔向一个崭新的领域。</a:t>
            </a:r>
            <a:endParaRPr lang="en-US" altLang="zh-CN" sz="1600">
              <a:latin typeface="宋体" panose="02010600030101010101" pitchFamily="2" charset="-122"/>
              <a:ea typeface="宋体" panose="02010600030101010101" pitchFamily="2" charset="-122"/>
              <a:cs typeface="宋体" panose="02010600030101010101" pitchFamily="2" charset="-122"/>
            </a:endParaRPr>
          </a:p>
          <a:p>
            <a:pPr indent="0"/>
            <a:endParaRPr lang="zh-CN" altLang="en-US" sz="1600">
              <a:latin typeface="宋体" panose="02010600030101010101" pitchFamily="2" charset="-122"/>
              <a:ea typeface="宋体" panose="02010600030101010101" pitchFamily="2" charset="-122"/>
              <a:cs typeface="宋体" panose="02010600030101010101" pitchFamily="2" charset="-122"/>
            </a:endParaRPr>
          </a:p>
          <a:p>
            <a:pPr indent="0"/>
            <a:endParaRPr lang="zh-CN" altLang="en-US" sz="1600" b="1">
              <a:latin typeface="宋体" panose="02010600030101010101" pitchFamily="2" charset="-122"/>
              <a:ea typeface="宋体" panose="02010600030101010101" pitchFamily="2" charset="-122"/>
              <a:cs typeface="宋体" panose="02010600030101010101" pitchFamily="2" charset="-122"/>
            </a:endParaRPr>
          </a:p>
          <a:p>
            <a:pPr indent="0"/>
            <a:r>
              <a:rPr lang="zh-CN" altLang="en-US" sz="1600" b="1">
                <a:latin typeface="宋体" panose="02010600030101010101" pitchFamily="2" charset="-122"/>
                <a:ea typeface="宋体" panose="02010600030101010101" pitchFamily="2" charset="-122"/>
                <a:cs typeface="宋体" panose="02010600030101010101" pitchFamily="2" charset="-122"/>
              </a:rPr>
              <a:t>薪酬待遇：</a:t>
            </a:r>
            <a:endParaRPr lang="en-US" altLang="zh-CN" sz="1600" b="1">
              <a:latin typeface="宋体" panose="02010600030101010101" pitchFamily="2" charset="-122"/>
              <a:ea typeface="宋体" panose="02010600030101010101" pitchFamily="2" charset="-122"/>
              <a:cs typeface="宋体" panose="02010600030101010101" pitchFamily="2" charset="-122"/>
            </a:endParaRPr>
          </a:p>
          <a:p>
            <a:pPr indent="0"/>
            <a:endParaRPr lang="en-US" altLang="zh-CN" sz="1600">
              <a:latin typeface="宋体" panose="02010600030101010101" pitchFamily="2" charset="-122"/>
              <a:ea typeface="宋体" panose="02010600030101010101" pitchFamily="2" charset="-122"/>
              <a:cs typeface="宋体" panose="02010600030101010101" pitchFamily="2" charset="-122"/>
            </a:endParaRPr>
          </a:p>
          <a:p>
            <a:pPr indent="0"/>
            <a:r>
              <a:rPr lang="en-US" altLang="zh-CN" sz="1600">
                <a:latin typeface="宋体" panose="02010600030101010101" pitchFamily="2" charset="-122"/>
                <a:ea typeface="宋体" panose="02010600030101010101" pitchFamily="2" charset="-122"/>
                <a:cs typeface="宋体" panose="02010600030101010101" pitchFamily="2" charset="-122"/>
              </a:rPr>
              <a:t>从初级工程师（Junior）--&gt; 30W-50w</a:t>
            </a:r>
            <a:endParaRPr lang="en-US" altLang="zh-CN" sz="1600">
              <a:latin typeface="宋体" panose="02010600030101010101" pitchFamily="2" charset="-122"/>
              <a:ea typeface="宋体" panose="02010600030101010101" pitchFamily="2" charset="-122"/>
              <a:cs typeface="宋体" panose="02010600030101010101" pitchFamily="2" charset="-122"/>
            </a:endParaRPr>
          </a:p>
          <a:p>
            <a:pPr indent="0"/>
            <a:endParaRPr lang="en-US" altLang="zh-CN" sz="1600">
              <a:latin typeface="宋体" panose="02010600030101010101" pitchFamily="2" charset="-122"/>
              <a:ea typeface="宋体" panose="02010600030101010101" pitchFamily="2" charset="-122"/>
              <a:cs typeface="宋体" panose="02010600030101010101" pitchFamily="2" charset="-122"/>
            </a:endParaRPr>
          </a:p>
          <a:p>
            <a:pPr indent="0"/>
            <a:r>
              <a:rPr lang="en-US" altLang="zh-CN" sz="1600">
                <a:latin typeface="宋体" panose="02010600030101010101" pitchFamily="2" charset="-122"/>
                <a:ea typeface="宋体" panose="02010600030101010101" pitchFamily="2" charset="-122"/>
                <a:cs typeface="宋体" panose="02010600030101010101" pitchFamily="2" charset="-122"/>
              </a:rPr>
              <a:t>高级工程师（Senior）--&gt; 65W-150w</a:t>
            </a:r>
            <a:endParaRPr lang="en-US" altLang="zh-CN" sz="1600">
              <a:latin typeface="宋体" panose="02010600030101010101" pitchFamily="2" charset="-122"/>
              <a:ea typeface="宋体" panose="02010600030101010101" pitchFamily="2" charset="-122"/>
              <a:cs typeface="宋体" panose="02010600030101010101" pitchFamily="2" charset="-122"/>
            </a:endParaRPr>
          </a:p>
          <a:p>
            <a:pPr indent="0"/>
            <a:endParaRPr lang="en-US" altLang="zh-CN" sz="1600">
              <a:latin typeface="宋体" panose="02010600030101010101" pitchFamily="2" charset="-122"/>
              <a:ea typeface="宋体" panose="02010600030101010101" pitchFamily="2" charset="-122"/>
              <a:cs typeface="宋体" panose="02010600030101010101" pitchFamily="2" charset="-122"/>
            </a:endParaRPr>
          </a:p>
          <a:p>
            <a:pPr indent="0"/>
            <a:r>
              <a:rPr lang="en-US" altLang="zh-CN" sz="1600">
                <a:latin typeface="宋体" panose="02010600030101010101" pitchFamily="2" charset="-122"/>
                <a:ea typeface="宋体" panose="02010600030101010101" pitchFamily="2" charset="-122"/>
                <a:cs typeface="宋体" panose="02010600030101010101" pitchFamily="2" charset="-122"/>
              </a:rPr>
              <a:t>主管工程师（Staff）--&gt; 90W-250w</a:t>
            </a:r>
            <a:endParaRPr lang="en-US" altLang="zh-CN" sz="1600">
              <a:latin typeface="宋体" panose="02010600030101010101" pitchFamily="2" charset="-122"/>
              <a:ea typeface="宋体" panose="02010600030101010101" pitchFamily="2" charset="-122"/>
              <a:cs typeface="宋体" panose="02010600030101010101" pitchFamily="2" charset="-122"/>
            </a:endParaRPr>
          </a:p>
          <a:p>
            <a:pPr indent="0"/>
            <a:endParaRPr lang="en-US" altLang="zh-CN" sz="1600">
              <a:latin typeface="宋体" panose="02010600030101010101" pitchFamily="2" charset="-122"/>
              <a:ea typeface="宋体" panose="02010600030101010101" pitchFamily="2" charset="-122"/>
              <a:cs typeface="宋体" panose="02010600030101010101" pitchFamily="2" charset="-122"/>
            </a:endParaRPr>
          </a:p>
          <a:p>
            <a:pPr indent="0"/>
            <a:r>
              <a:rPr lang="en-US" altLang="zh-CN" sz="1600">
                <a:latin typeface="宋体" panose="02010600030101010101" pitchFamily="2" charset="-122"/>
                <a:ea typeface="宋体" panose="02010600030101010101" pitchFamily="2" charset="-122"/>
                <a:cs typeface="宋体" panose="02010600030101010101" pitchFamily="2" charset="-122"/>
              </a:rPr>
              <a:t>高级主管工程师及以上阶段 --&gt;100W-400w</a:t>
            </a:r>
            <a:endParaRPr lang="en-US" altLang="zh-CN" sz="16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ransition spd="slow" advTm="3000">
    <p:push/>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rot="5400000">
            <a:off x="2118887" y="-2760991"/>
            <a:ext cx="8100548" cy="12691913"/>
          </a:xfrm>
          <a:prstGeom prst="rect">
            <a:avLst/>
          </a:prstGeom>
          <a:blipFill dpi="0" rotWithShape="1">
            <a:blip r:embed="rId1">
              <a:alphaModFix amt="9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华文细黑" panose="02010600040101010101" charset="-122"/>
              <a:ea typeface="思源黑体 CN Bold"/>
              <a:sym typeface="华文细黑" panose="02010600040101010101" charset="-122"/>
            </a:endParaRPr>
          </a:p>
        </p:txBody>
      </p:sp>
      <p:sp>
        <p:nvSpPr>
          <p:cNvPr id="13" name="文本框 7"/>
          <p:cNvSpPr txBox="1"/>
          <p:nvPr/>
        </p:nvSpPr>
        <p:spPr bwMode="auto">
          <a:xfrm>
            <a:off x="1905000" y="2576889"/>
            <a:ext cx="8305800" cy="1197610"/>
          </a:xfrm>
          <a:prstGeom prst="rect">
            <a:avLst/>
          </a:prstGeom>
          <a:noFill/>
        </p:spPr>
        <p:txBody>
          <a:bodyPr wrap="square" lIns="91438" tIns="45719" rIns="91438" bIns="45719">
            <a:spAutoFit/>
            <a:scene3d>
              <a:camera prst="orthographicFront"/>
              <a:lightRig rig="threePt" dir="t"/>
            </a:scene3d>
            <a:sp3d contourW="12700"/>
          </a:bodyPr>
          <a:lstStyle/>
          <a:p>
            <a:pPr algn="dist">
              <a:defRPr/>
            </a:pPr>
            <a:r>
              <a:rPr lang="zh-CN" altLang="en-US" sz="7200" dirty="0">
                <a:solidFill>
                  <a:schemeClr val="tx1">
                    <a:lumMod val="65000"/>
                    <a:lumOff val="35000"/>
                  </a:schemeClr>
                </a:solidFill>
                <a:latin typeface="Arial" panose="020B0604020202020204" pitchFamily="34" charset="0"/>
                <a:ea typeface="汉仪旗黑-55简" panose="00020600040101010101" charset="-122"/>
                <a:sym typeface="华文细黑" panose="02010600040101010101" charset="-122"/>
              </a:rPr>
              <a:t>演示</a:t>
            </a:r>
            <a:r>
              <a:rPr lang="zh-CN" altLang="en-US" sz="7200" dirty="0" smtClean="0">
                <a:solidFill>
                  <a:schemeClr val="tx1">
                    <a:lumMod val="65000"/>
                    <a:lumOff val="35000"/>
                  </a:schemeClr>
                </a:solidFill>
                <a:latin typeface="Arial" panose="020B0604020202020204" pitchFamily="34" charset="0"/>
                <a:ea typeface="汉仪旗黑-55简" panose="00020600040101010101" charset="-122"/>
                <a:sym typeface="华文细黑" panose="02010600040101010101" charset="-122"/>
              </a:rPr>
              <a:t>完毕</a:t>
            </a:r>
            <a:r>
              <a:rPr lang="en-US" altLang="zh-CN" sz="7200" dirty="0" smtClean="0">
                <a:solidFill>
                  <a:schemeClr val="tx1">
                    <a:lumMod val="65000"/>
                    <a:lumOff val="35000"/>
                  </a:schemeClr>
                </a:solidFill>
                <a:latin typeface="Arial" panose="020B0604020202020204" pitchFamily="34" charset="0"/>
                <a:ea typeface="汉仪旗黑-55简" panose="00020600040101010101" charset="-122"/>
                <a:sym typeface="华文细黑" panose="02010600040101010101" charset="-122"/>
              </a:rPr>
              <a:t>/</a:t>
            </a:r>
            <a:r>
              <a:rPr lang="zh-CN" altLang="en-US" sz="7200" dirty="0" smtClean="0">
                <a:solidFill>
                  <a:srgbClr val="267CA0"/>
                </a:solidFill>
                <a:latin typeface="Arial" panose="020B0604020202020204" pitchFamily="34" charset="0"/>
                <a:ea typeface="汉仪旗黑-55简" panose="00020600040101010101" charset="-122"/>
                <a:sym typeface="华文细黑" panose="02010600040101010101" charset="-122"/>
              </a:rPr>
              <a:t>感谢聆听</a:t>
            </a:r>
            <a:endParaRPr lang="zh-CN" altLang="en-US" sz="7200" dirty="0">
              <a:solidFill>
                <a:srgbClr val="267CA0"/>
              </a:solidFill>
              <a:latin typeface="Arial" panose="020B0604020202020204" pitchFamily="34" charset="0"/>
              <a:ea typeface="汉仪旗黑-55简" panose="00020600040101010101" charset="-122"/>
              <a:sym typeface="华文细黑" panose="02010600040101010101" charset="-122"/>
            </a:endParaRPr>
          </a:p>
        </p:txBody>
      </p:sp>
      <p:sp>
        <p:nvSpPr>
          <p:cNvPr id="14" name="文本框 10"/>
          <p:cNvSpPr txBox="1"/>
          <p:nvPr/>
        </p:nvSpPr>
        <p:spPr bwMode="auto">
          <a:xfrm>
            <a:off x="2855331" y="3805146"/>
            <a:ext cx="6545249" cy="782320"/>
          </a:xfrm>
          <a:prstGeom prst="rect">
            <a:avLst/>
          </a:prstGeom>
          <a:noFill/>
        </p:spPr>
        <p:txBody>
          <a:bodyPr wrap="square" lIns="91438" tIns="45719" rIns="91438" bIns="45719">
            <a:spAutoFit/>
            <a:scene3d>
              <a:camera prst="orthographicFront"/>
              <a:lightRig rig="threePt" dir="t"/>
            </a:scene3d>
            <a:sp3d contourW="12700"/>
          </a:bodyPr>
          <a:lstStyle/>
          <a:p>
            <a:pPr algn="ctr">
              <a:lnSpc>
                <a:spcPct val="150000"/>
              </a:lnSpc>
              <a:defRPr/>
            </a:pPr>
            <a:r>
              <a:rPr lang="en-US" altLang="zh-CN" sz="1500" dirty="0">
                <a:solidFill>
                  <a:schemeClr val="tx1">
                    <a:lumMod val="65000"/>
                    <a:lumOff val="35000"/>
                  </a:schemeClr>
                </a:solidFill>
                <a:latin typeface="Arial" panose="020B0604020202020204" pitchFamily="34" charset="0"/>
                <a:ea typeface="思源黑体 CN Bold"/>
                <a:sym typeface="华文细黑" panose="02010600040101010101" charset="-122"/>
              </a:rPr>
              <a:t>This template is exclusively designed The user can demonstrate on a projector or </a:t>
            </a:r>
            <a:r>
              <a:rPr lang="en-US" altLang="zh-CN" sz="1500" dirty="0" err="1">
                <a:solidFill>
                  <a:schemeClr val="tx1">
                    <a:lumMod val="65000"/>
                    <a:lumOff val="35000"/>
                  </a:schemeClr>
                </a:solidFill>
                <a:latin typeface="Arial" panose="020B0604020202020204" pitchFamily="34" charset="0"/>
                <a:ea typeface="思源黑体 CN Bold"/>
                <a:sym typeface="华文细黑" panose="02010600040101010101" charset="-122"/>
              </a:rPr>
              <a:t>computerThis</a:t>
            </a:r>
            <a:r>
              <a:rPr lang="en-US" altLang="zh-CN" sz="1500" dirty="0">
                <a:solidFill>
                  <a:schemeClr val="tx1">
                    <a:lumMod val="65000"/>
                    <a:lumOff val="35000"/>
                  </a:schemeClr>
                </a:solidFill>
                <a:latin typeface="Arial" panose="020B0604020202020204" pitchFamily="34" charset="0"/>
                <a:ea typeface="思源黑体 CN Bold"/>
                <a:sym typeface="华文细黑" panose="02010600040101010101" charset="-122"/>
              </a:rPr>
              <a:t> template is exclusively</a:t>
            </a:r>
            <a:endParaRPr lang="en-US" altLang="zh-CN" sz="1500" dirty="0">
              <a:solidFill>
                <a:schemeClr val="tx1">
                  <a:lumMod val="65000"/>
                  <a:lumOff val="35000"/>
                </a:schemeClr>
              </a:solidFill>
              <a:latin typeface="Arial" panose="020B0604020202020204" pitchFamily="34" charset="0"/>
              <a:ea typeface="思源黑体 CN Bold"/>
              <a:sym typeface="华文细黑" panose="02010600040101010101" charset="-122"/>
            </a:endParaRPr>
          </a:p>
        </p:txBody>
      </p:sp>
      <p:sp>
        <p:nvSpPr>
          <p:cNvPr id="15" name="矩形: 圆角 2"/>
          <p:cNvSpPr/>
          <p:nvPr/>
        </p:nvSpPr>
        <p:spPr>
          <a:xfrm>
            <a:off x="4290923" y="4795590"/>
            <a:ext cx="1431636" cy="304800"/>
          </a:xfrm>
          <a:prstGeom prst="roundRect">
            <a:avLst>
              <a:gd name="adj" fmla="val 29167"/>
            </a:avLst>
          </a:prstGeom>
          <a:gradFill>
            <a:gsLst>
              <a:gs pos="0">
                <a:srgbClr val="267CA0"/>
              </a:gs>
              <a:gs pos="33000">
                <a:srgbClr val="388BA5">
                  <a:alpha val="90000"/>
                </a:srgbClr>
              </a:gs>
              <a:gs pos="66000">
                <a:srgbClr val="509FA4">
                  <a:alpha val="90000"/>
                </a:srgbClr>
              </a:gs>
              <a:gs pos="100000">
                <a:srgbClr val="5BAAA4">
                  <a:alpha val="8500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dirty="0">
              <a:solidFill>
                <a:srgbClr val="509FA4"/>
              </a:solidFill>
              <a:latin typeface="华文细黑" panose="02010600040101010101" charset="-122"/>
              <a:ea typeface="思源黑体 CN Bold"/>
              <a:sym typeface="华文细黑" panose="02010600040101010101" charset="-122"/>
            </a:endParaRPr>
          </a:p>
        </p:txBody>
      </p:sp>
      <p:sp>
        <p:nvSpPr>
          <p:cNvPr id="16" name="矩形: 圆角 12"/>
          <p:cNvSpPr/>
          <p:nvPr/>
        </p:nvSpPr>
        <p:spPr>
          <a:xfrm>
            <a:off x="6498586" y="4795590"/>
            <a:ext cx="1431636" cy="304800"/>
          </a:xfrm>
          <a:prstGeom prst="roundRect">
            <a:avLst>
              <a:gd name="adj" fmla="val 29167"/>
            </a:avLst>
          </a:prstGeom>
          <a:gradFill>
            <a:gsLst>
              <a:gs pos="0">
                <a:srgbClr val="267CA0"/>
              </a:gs>
              <a:gs pos="33000">
                <a:srgbClr val="388BA5">
                  <a:alpha val="90000"/>
                </a:srgbClr>
              </a:gs>
              <a:gs pos="66000">
                <a:srgbClr val="509FA4">
                  <a:alpha val="90000"/>
                </a:srgbClr>
              </a:gs>
              <a:gs pos="100000">
                <a:srgbClr val="5BAAA4">
                  <a:alpha val="8500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dirty="0">
              <a:solidFill>
                <a:srgbClr val="509FA4"/>
              </a:solidFill>
              <a:latin typeface="华文细黑" panose="02010600040101010101" charset="-122"/>
              <a:ea typeface="思源黑体 CN Bold"/>
              <a:sym typeface="华文细黑" panose="02010600040101010101" charset="-122"/>
            </a:endParaRPr>
          </a:p>
        </p:txBody>
      </p:sp>
      <p:sp>
        <p:nvSpPr>
          <p:cNvPr id="17" name="文本框 13"/>
          <p:cNvSpPr txBox="1"/>
          <p:nvPr/>
        </p:nvSpPr>
        <p:spPr bwMode="auto">
          <a:xfrm>
            <a:off x="4147287" y="1780874"/>
            <a:ext cx="3874484" cy="751840"/>
          </a:xfrm>
          <a:prstGeom prst="rect">
            <a:avLst/>
          </a:prstGeom>
          <a:noFill/>
        </p:spPr>
        <p:txBody>
          <a:bodyPr wrap="square" lIns="91438" tIns="45719" rIns="91438" bIns="45719">
            <a:spAutoFit/>
            <a:scene3d>
              <a:camera prst="orthographicFront"/>
              <a:lightRig rig="threePt" dir="t"/>
            </a:scene3d>
            <a:sp3d contourW="12700"/>
          </a:bodyPr>
          <a:lstStyle/>
          <a:p>
            <a:pPr algn="ctr">
              <a:defRPr/>
            </a:pPr>
            <a:r>
              <a:rPr lang="en-US" altLang="zh-CN" sz="4300" dirty="0" smtClean="0">
                <a:solidFill>
                  <a:srgbClr val="509FA4"/>
                </a:solidFill>
                <a:latin typeface="Arial" panose="020B0604020202020204" pitchFamily="34" charset="0"/>
                <a:ea typeface="汉仪旗黑-55简" panose="00020600040101010101" charset="-122"/>
                <a:sym typeface="华文细黑" panose="02010600040101010101" charset="-122"/>
              </a:rPr>
              <a:t>THANK YOU</a:t>
            </a:r>
            <a:endParaRPr lang="en-US" altLang="zh-CN" sz="4300" dirty="0" smtClean="0">
              <a:solidFill>
                <a:srgbClr val="509FA4"/>
              </a:solidFill>
              <a:latin typeface="Arial" panose="020B0604020202020204" pitchFamily="34" charset="0"/>
              <a:ea typeface="汉仪旗黑-55简" panose="00020600040101010101" charset="-122"/>
              <a:sym typeface="华文细黑" panose="02010600040101010101" charset="-122"/>
            </a:endParaRPr>
          </a:p>
        </p:txBody>
      </p:sp>
      <p:sp>
        <p:nvSpPr>
          <p:cNvPr id="18" name="文本框 14"/>
          <p:cNvSpPr txBox="1"/>
          <p:nvPr/>
        </p:nvSpPr>
        <p:spPr bwMode="auto">
          <a:xfrm>
            <a:off x="4338320" y="4795520"/>
            <a:ext cx="1530985" cy="320675"/>
          </a:xfrm>
          <a:prstGeom prst="rect">
            <a:avLst/>
          </a:prstGeom>
          <a:noFill/>
          <a:ln>
            <a:noFill/>
          </a:ln>
        </p:spPr>
        <p:txBody>
          <a:bodyPr wrap="square" lIns="91438" tIns="45719" rIns="91438" bIns="45719">
            <a:spAutoFit/>
            <a:scene3d>
              <a:camera prst="orthographicFront"/>
              <a:lightRig rig="threePt" dir="t"/>
            </a:scene3d>
            <a:sp3d contourW="12700"/>
          </a:bodyPr>
          <a:lstStyle/>
          <a:p>
            <a:pPr algn="ctr">
              <a:defRPr/>
            </a:pPr>
            <a:r>
              <a:rPr lang="zh-CN" altLang="en-US" sz="1500" dirty="0">
                <a:solidFill>
                  <a:schemeClr val="bg1"/>
                </a:solidFill>
                <a:latin typeface="Arial" panose="020B0604020202020204" pitchFamily="34" charset="0"/>
                <a:ea typeface="汉仪旗黑-55简" panose="00020600040101010101" charset="-122"/>
                <a:sym typeface="华文细黑" panose="02010600040101010101" charset="-122"/>
              </a:rPr>
              <a:t>汇报</a:t>
            </a:r>
            <a:r>
              <a:rPr lang="zh-CN" altLang="en-US" sz="1500" dirty="0" smtClean="0">
                <a:solidFill>
                  <a:schemeClr val="bg1"/>
                </a:solidFill>
                <a:latin typeface="Arial" panose="020B0604020202020204" pitchFamily="34" charset="0"/>
                <a:ea typeface="汉仪旗黑-55简" panose="00020600040101010101" charset="-122"/>
                <a:sym typeface="华文细黑" panose="02010600040101010101" charset="-122"/>
              </a:rPr>
              <a:t>：</a:t>
            </a:r>
            <a:r>
              <a:rPr lang="en-US" altLang="zh-CN" sz="1500" dirty="0" smtClean="0">
                <a:solidFill>
                  <a:schemeClr val="bg1"/>
                </a:solidFill>
                <a:latin typeface="Arial" panose="020B0604020202020204" pitchFamily="34" charset="0"/>
                <a:ea typeface="汉仪旗黑-55简" panose="00020600040101010101" charset="-122"/>
                <a:sym typeface="华文细黑" panose="02010600040101010101" charset="-122"/>
              </a:rPr>
              <a:t>ViVian</a:t>
            </a:r>
            <a:endParaRPr lang="en-US" altLang="zh-CN" sz="1500" dirty="0" smtClean="0">
              <a:solidFill>
                <a:schemeClr val="bg1"/>
              </a:solidFill>
              <a:latin typeface="Arial" panose="020B0604020202020204" pitchFamily="34" charset="0"/>
              <a:ea typeface="汉仪旗黑-55简" panose="00020600040101010101" charset="-122"/>
              <a:sym typeface="华文细黑" panose="02010600040101010101" charset="-122"/>
            </a:endParaRPr>
          </a:p>
        </p:txBody>
      </p:sp>
      <p:sp>
        <p:nvSpPr>
          <p:cNvPr id="19" name="文本框 15"/>
          <p:cNvSpPr txBox="1"/>
          <p:nvPr/>
        </p:nvSpPr>
        <p:spPr bwMode="auto">
          <a:xfrm>
            <a:off x="6550254" y="4795590"/>
            <a:ext cx="1337824" cy="320675"/>
          </a:xfrm>
          <a:prstGeom prst="rect">
            <a:avLst/>
          </a:prstGeom>
          <a:noFill/>
          <a:ln>
            <a:noFill/>
          </a:ln>
        </p:spPr>
        <p:txBody>
          <a:bodyPr wrap="square" lIns="91438" tIns="45719" rIns="91438" bIns="45719">
            <a:spAutoFit/>
            <a:scene3d>
              <a:camera prst="orthographicFront"/>
              <a:lightRig rig="threePt" dir="t"/>
            </a:scene3d>
            <a:sp3d contourW="12700"/>
          </a:bodyPr>
          <a:lstStyle/>
          <a:p>
            <a:pPr algn="ctr">
              <a:defRPr/>
            </a:pPr>
            <a:r>
              <a:rPr lang="zh-CN" altLang="en-US" sz="1500" dirty="0">
                <a:solidFill>
                  <a:schemeClr val="bg1"/>
                </a:solidFill>
                <a:latin typeface="Arial" panose="020B0604020202020204" pitchFamily="34" charset="0"/>
                <a:ea typeface="思源黑体 CN Bold"/>
                <a:sym typeface="华文细黑" panose="02010600040101010101" charset="-122"/>
              </a:rPr>
              <a:t>部门：武汉</a:t>
            </a:r>
            <a:endParaRPr lang="zh-CN" altLang="en-US" sz="1500" dirty="0">
              <a:solidFill>
                <a:schemeClr val="bg1"/>
              </a:solidFill>
              <a:latin typeface="Arial" panose="020B0604020202020204" pitchFamily="34" charset="0"/>
              <a:ea typeface="思源黑体 CN Bold"/>
              <a:sym typeface="华文细黑" panose="02010600040101010101" charset="-122"/>
            </a:endParaRPr>
          </a:p>
        </p:txBody>
      </p:sp>
      <p:pic>
        <p:nvPicPr>
          <p:cNvPr id="3" name="图片 2"/>
          <p:cNvPicPr>
            <a:picLocks noChangeAspect="1"/>
          </p:cNvPicPr>
          <p:nvPr/>
        </p:nvPicPr>
        <p:blipFill>
          <a:blip r:embed="rId2"/>
          <a:stretch>
            <a:fillRect/>
          </a:stretch>
        </p:blipFill>
        <p:spPr>
          <a:xfrm>
            <a:off x="10510520" y="71755"/>
            <a:ext cx="1668780" cy="14859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5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par>
                          <p:cTn id="10" fill="hold">
                            <p:stCondLst>
                              <p:cond delay="500"/>
                            </p:stCondLst>
                            <p:childTnLst>
                              <p:par>
                                <p:cTn id="11" presetID="56" presetClass="entr" presetSubtype="0" fill="hold" grpId="0" nodeType="afterEffect">
                                  <p:stCondLst>
                                    <p:cond delay="0"/>
                                  </p:stCondLst>
                                  <p:iterate type="lt">
                                    <p:tmPct val="10000"/>
                                  </p:iterate>
                                  <p:childTnLst>
                                    <p:set>
                                      <p:cBhvr>
                                        <p:cTn id="12" dur="1" fill="hold">
                                          <p:stCondLst>
                                            <p:cond delay="0"/>
                                          </p:stCondLst>
                                        </p:cTn>
                                        <p:tgtEl>
                                          <p:spTgt spid="13"/>
                                        </p:tgtEl>
                                        <p:attrNameLst>
                                          <p:attrName>style.visibility</p:attrName>
                                        </p:attrNameLst>
                                      </p:cBhvr>
                                      <p:to>
                                        <p:strVal val="visible"/>
                                      </p:to>
                                    </p:set>
                                    <p:anim by="(-#ppt_w*2)" calcmode="lin" valueType="num">
                                      <p:cBhvr rctx="PPT">
                                        <p:cTn id="13" dur="500" autoRev="1" fill="hold">
                                          <p:stCondLst>
                                            <p:cond delay="0"/>
                                          </p:stCondLst>
                                        </p:cTn>
                                        <p:tgtEl>
                                          <p:spTgt spid="13"/>
                                        </p:tgtEl>
                                        <p:attrNameLst>
                                          <p:attrName>ppt_w</p:attrName>
                                        </p:attrNameLst>
                                      </p:cBhvr>
                                    </p:anim>
                                    <p:anim by="(#ppt_w*0.50)" calcmode="lin" valueType="num">
                                      <p:cBhvr>
                                        <p:cTn id="14" dur="500" decel="50000" autoRev="1" fill="hold">
                                          <p:stCondLst>
                                            <p:cond delay="0"/>
                                          </p:stCondLst>
                                        </p:cTn>
                                        <p:tgtEl>
                                          <p:spTgt spid="13"/>
                                        </p:tgtEl>
                                        <p:attrNameLst>
                                          <p:attrName>ppt_x</p:attrName>
                                        </p:attrNameLst>
                                      </p:cBhvr>
                                    </p:anim>
                                    <p:anim from="(-#ppt_h/2)" to="(#ppt_y)" calcmode="lin" valueType="num">
                                      <p:cBhvr>
                                        <p:cTn id="15" dur="1000" fill="hold">
                                          <p:stCondLst>
                                            <p:cond delay="0"/>
                                          </p:stCondLst>
                                        </p:cTn>
                                        <p:tgtEl>
                                          <p:spTgt spid="13"/>
                                        </p:tgtEl>
                                        <p:attrNameLst>
                                          <p:attrName>ppt_y</p:attrName>
                                        </p:attrNameLst>
                                      </p:cBhvr>
                                    </p:anim>
                                    <p:animRot by="21600000">
                                      <p:cBhvr>
                                        <p:cTn id="16" dur="1000" fill="hold">
                                          <p:stCondLst>
                                            <p:cond delay="0"/>
                                          </p:stCondLst>
                                        </p:cTn>
                                        <p:tgtEl>
                                          <p:spTgt spid="13"/>
                                        </p:tgtEl>
                                        <p:attrNameLst>
                                          <p:attrName>r</p:attrName>
                                        </p:attrNameLst>
                                      </p:cBhvr>
                                    </p:animRot>
                                  </p:childTnLst>
                                </p:cTn>
                              </p:par>
                            </p:childTnLst>
                          </p:cTn>
                        </p:par>
                        <p:par>
                          <p:cTn id="17" fill="hold">
                            <p:stCondLst>
                              <p:cond delay="1799"/>
                            </p:stCondLst>
                            <p:childTnLst>
                              <p:par>
                                <p:cTn id="18" presetID="16" presetClass="entr" presetSubtype="37"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barn(outVertical)">
                                      <p:cBhvr>
                                        <p:cTn id="20" dur="500"/>
                                        <p:tgtEl>
                                          <p:spTgt spid="14"/>
                                        </p:tgtEl>
                                      </p:cBhvr>
                                    </p:animEffect>
                                  </p:childTnLst>
                                </p:cTn>
                              </p:par>
                            </p:childTnLst>
                          </p:cTn>
                        </p:par>
                        <p:par>
                          <p:cTn id="21" fill="hold">
                            <p:stCondLst>
                              <p:cond delay="2299"/>
                            </p:stCondLst>
                            <p:childTnLst>
                              <p:par>
                                <p:cTn id="22" presetID="37" presetClass="entr" presetSubtype="0" fill="hold" grpId="0"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1000"/>
                                        <p:tgtEl>
                                          <p:spTgt spid="15"/>
                                        </p:tgtEl>
                                      </p:cBhvr>
                                    </p:animEffect>
                                    <p:anim calcmode="lin" valueType="num">
                                      <p:cBhvr>
                                        <p:cTn id="25" dur="1000" fill="hold"/>
                                        <p:tgtEl>
                                          <p:spTgt spid="15"/>
                                        </p:tgtEl>
                                        <p:attrNameLst>
                                          <p:attrName>ppt_x</p:attrName>
                                        </p:attrNameLst>
                                      </p:cBhvr>
                                      <p:tavLst>
                                        <p:tav tm="0">
                                          <p:val>
                                            <p:strVal val="#ppt_x"/>
                                          </p:val>
                                        </p:tav>
                                        <p:tav tm="100000">
                                          <p:val>
                                            <p:strVal val="#ppt_x"/>
                                          </p:val>
                                        </p:tav>
                                      </p:tavLst>
                                    </p:anim>
                                    <p:anim calcmode="lin" valueType="num">
                                      <p:cBhvr>
                                        <p:cTn id="26" dur="900" decel="100000" fill="hold"/>
                                        <p:tgtEl>
                                          <p:spTgt spid="15"/>
                                        </p:tgtEl>
                                        <p:attrNameLst>
                                          <p:attrName>ppt_y</p:attrName>
                                        </p:attrNameLst>
                                      </p:cBhvr>
                                      <p:tavLst>
                                        <p:tav tm="0">
                                          <p:val>
                                            <p:strVal val="#ppt_y+1"/>
                                          </p:val>
                                        </p:tav>
                                        <p:tav tm="100000">
                                          <p:val>
                                            <p:strVal val="#ppt_y-.03"/>
                                          </p:val>
                                        </p:tav>
                                      </p:tavLst>
                                    </p:anim>
                                    <p:anim calcmode="lin" valueType="num">
                                      <p:cBhvr>
                                        <p:cTn id="27" dur="100" accel="100000" fill="hold">
                                          <p:stCondLst>
                                            <p:cond delay="900"/>
                                          </p:stCondLst>
                                        </p:cTn>
                                        <p:tgtEl>
                                          <p:spTgt spid="15"/>
                                        </p:tgtEl>
                                        <p:attrNameLst>
                                          <p:attrName>ppt_y</p:attrName>
                                        </p:attrNameLst>
                                      </p:cBhvr>
                                      <p:tavLst>
                                        <p:tav tm="0">
                                          <p:val>
                                            <p:strVal val="#ppt_y-.03"/>
                                          </p:val>
                                        </p:tav>
                                        <p:tav tm="100000">
                                          <p:val>
                                            <p:strVal val="#ppt_y"/>
                                          </p:val>
                                        </p:tav>
                                      </p:tavLst>
                                    </p:anim>
                                  </p:childTnLst>
                                </p:cTn>
                              </p:par>
                              <p:par>
                                <p:cTn id="28" presetID="37"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1000"/>
                                        <p:tgtEl>
                                          <p:spTgt spid="16"/>
                                        </p:tgtEl>
                                      </p:cBhvr>
                                    </p:animEffect>
                                    <p:anim calcmode="lin" valueType="num">
                                      <p:cBhvr>
                                        <p:cTn id="31" dur="1000" fill="hold"/>
                                        <p:tgtEl>
                                          <p:spTgt spid="16"/>
                                        </p:tgtEl>
                                        <p:attrNameLst>
                                          <p:attrName>ppt_x</p:attrName>
                                        </p:attrNameLst>
                                      </p:cBhvr>
                                      <p:tavLst>
                                        <p:tav tm="0">
                                          <p:val>
                                            <p:strVal val="#ppt_x"/>
                                          </p:val>
                                        </p:tav>
                                        <p:tav tm="100000">
                                          <p:val>
                                            <p:strVal val="#ppt_x"/>
                                          </p:val>
                                        </p:tav>
                                      </p:tavLst>
                                    </p:anim>
                                    <p:anim calcmode="lin" valueType="num">
                                      <p:cBhvr>
                                        <p:cTn id="32" dur="900" decel="100000" fill="hold"/>
                                        <p:tgtEl>
                                          <p:spTgt spid="16"/>
                                        </p:tgtEl>
                                        <p:attrNameLst>
                                          <p:attrName>ppt_y</p:attrName>
                                        </p:attrNameLst>
                                      </p:cBhvr>
                                      <p:tavLst>
                                        <p:tav tm="0">
                                          <p:val>
                                            <p:strVal val="#ppt_y+1"/>
                                          </p:val>
                                        </p:tav>
                                        <p:tav tm="100000">
                                          <p:val>
                                            <p:strVal val="#ppt_y-.03"/>
                                          </p:val>
                                        </p:tav>
                                      </p:tavLst>
                                    </p:anim>
                                    <p:anim calcmode="lin" valueType="num">
                                      <p:cBhvr>
                                        <p:cTn id="33" dur="100" accel="100000" fill="hold">
                                          <p:stCondLst>
                                            <p:cond delay="900"/>
                                          </p:stCondLst>
                                        </p:cTn>
                                        <p:tgtEl>
                                          <p:spTgt spid="16"/>
                                        </p:tgtEl>
                                        <p:attrNameLst>
                                          <p:attrName>ppt_y</p:attrName>
                                        </p:attrNameLst>
                                      </p:cBhvr>
                                      <p:tavLst>
                                        <p:tav tm="0">
                                          <p:val>
                                            <p:strVal val="#ppt_y-.03"/>
                                          </p:val>
                                        </p:tav>
                                        <p:tav tm="100000">
                                          <p:val>
                                            <p:strVal val="#ppt_y"/>
                                          </p:val>
                                        </p:tav>
                                      </p:tavLst>
                                    </p:anim>
                                  </p:childTnLst>
                                </p:cTn>
                              </p:par>
                              <p:par>
                                <p:cTn id="34" presetID="37"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1000"/>
                                        <p:tgtEl>
                                          <p:spTgt spid="18"/>
                                        </p:tgtEl>
                                      </p:cBhvr>
                                    </p:animEffect>
                                    <p:anim calcmode="lin" valueType="num">
                                      <p:cBhvr>
                                        <p:cTn id="37" dur="1000" fill="hold"/>
                                        <p:tgtEl>
                                          <p:spTgt spid="18"/>
                                        </p:tgtEl>
                                        <p:attrNameLst>
                                          <p:attrName>ppt_x</p:attrName>
                                        </p:attrNameLst>
                                      </p:cBhvr>
                                      <p:tavLst>
                                        <p:tav tm="0">
                                          <p:val>
                                            <p:strVal val="#ppt_x"/>
                                          </p:val>
                                        </p:tav>
                                        <p:tav tm="100000">
                                          <p:val>
                                            <p:strVal val="#ppt_x"/>
                                          </p:val>
                                        </p:tav>
                                      </p:tavLst>
                                    </p:anim>
                                    <p:anim calcmode="lin" valueType="num">
                                      <p:cBhvr>
                                        <p:cTn id="38" dur="900" decel="100000" fill="hold"/>
                                        <p:tgtEl>
                                          <p:spTgt spid="18"/>
                                        </p:tgtEl>
                                        <p:attrNameLst>
                                          <p:attrName>ppt_y</p:attrName>
                                        </p:attrNameLst>
                                      </p:cBhvr>
                                      <p:tavLst>
                                        <p:tav tm="0">
                                          <p:val>
                                            <p:strVal val="#ppt_y+1"/>
                                          </p:val>
                                        </p:tav>
                                        <p:tav tm="100000">
                                          <p:val>
                                            <p:strVal val="#ppt_y-.03"/>
                                          </p:val>
                                        </p:tav>
                                      </p:tavLst>
                                    </p:anim>
                                    <p:anim calcmode="lin" valueType="num">
                                      <p:cBhvr>
                                        <p:cTn id="39" dur="100" accel="100000" fill="hold">
                                          <p:stCondLst>
                                            <p:cond delay="900"/>
                                          </p:stCondLst>
                                        </p:cTn>
                                        <p:tgtEl>
                                          <p:spTgt spid="18"/>
                                        </p:tgtEl>
                                        <p:attrNameLst>
                                          <p:attrName>ppt_y</p:attrName>
                                        </p:attrNameLst>
                                      </p:cBhvr>
                                      <p:tavLst>
                                        <p:tav tm="0">
                                          <p:val>
                                            <p:strVal val="#ppt_y-.03"/>
                                          </p:val>
                                        </p:tav>
                                        <p:tav tm="100000">
                                          <p:val>
                                            <p:strVal val="#ppt_y"/>
                                          </p:val>
                                        </p:tav>
                                      </p:tavLst>
                                    </p:anim>
                                  </p:childTnLst>
                                </p:cTn>
                              </p:par>
                              <p:par>
                                <p:cTn id="40" presetID="37"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1000"/>
                                        <p:tgtEl>
                                          <p:spTgt spid="19"/>
                                        </p:tgtEl>
                                      </p:cBhvr>
                                    </p:animEffect>
                                    <p:anim calcmode="lin" valueType="num">
                                      <p:cBhvr>
                                        <p:cTn id="43" dur="1000" fill="hold"/>
                                        <p:tgtEl>
                                          <p:spTgt spid="19"/>
                                        </p:tgtEl>
                                        <p:attrNameLst>
                                          <p:attrName>ppt_x</p:attrName>
                                        </p:attrNameLst>
                                      </p:cBhvr>
                                      <p:tavLst>
                                        <p:tav tm="0">
                                          <p:val>
                                            <p:strVal val="#ppt_x"/>
                                          </p:val>
                                        </p:tav>
                                        <p:tav tm="100000">
                                          <p:val>
                                            <p:strVal val="#ppt_x"/>
                                          </p:val>
                                        </p:tav>
                                      </p:tavLst>
                                    </p:anim>
                                    <p:anim calcmode="lin" valueType="num">
                                      <p:cBhvr>
                                        <p:cTn id="44" dur="900" decel="100000" fill="hold"/>
                                        <p:tgtEl>
                                          <p:spTgt spid="19"/>
                                        </p:tgtEl>
                                        <p:attrNameLst>
                                          <p:attrName>ppt_y</p:attrName>
                                        </p:attrNameLst>
                                      </p:cBhvr>
                                      <p:tavLst>
                                        <p:tav tm="0">
                                          <p:val>
                                            <p:strVal val="#ppt_y+1"/>
                                          </p:val>
                                        </p:tav>
                                        <p:tav tm="100000">
                                          <p:val>
                                            <p:strVal val="#ppt_y-.03"/>
                                          </p:val>
                                        </p:tav>
                                      </p:tavLst>
                                    </p:anim>
                                    <p:anim calcmode="lin" valueType="num">
                                      <p:cBhvr>
                                        <p:cTn id="45" dur="100" accel="100000" fill="hold">
                                          <p:stCondLst>
                                            <p:cond delay="900"/>
                                          </p:stCondLst>
                                        </p:cTn>
                                        <p:tgtEl>
                                          <p:spTgt spid="19"/>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bldLvl="0" animBg="1"/>
      <p:bldP spid="16" grpId="0" bldLvl="0" animBg="1"/>
      <p:bldP spid="17" grpId="0"/>
      <p:bldP spid="18" grpId="0"/>
      <p:bldP spid="19" grpId="0"/>
    </p:bldLst>
  </p:timing>
</p:sld>
</file>

<file path=ppt/tags/tag1.xml><?xml version="1.0" encoding="utf-8"?>
<p:tagLst xmlns:p="http://schemas.openxmlformats.org/presentationml/2006/main">
  <p:tag name="KSO_WM_UNIT_INDEX" val="2157_1_34"/>
  <p:tag name="KSO_WM_TEMPLATE_INDEX" val="20197105"/>
  <p:tag name="KSO_WM_UNIT_DIAGRAM_MODELTYPE" val="partialZoom"/>
</p:tagLst>
</file>

<file path=ppt/tags/tag2.xml><?xml version="1.0" encoding="utf-8"?>
<p:tagLst xmlns:p="http://schemas.openxmlformats.org/presentationml/2006/main">
  <p:tag name="PA" val="v5.2.8"/>
  <p:tag name="KSO_WM_UNIT_DIAGRAM_MODELTYPE" val="partialZoom"/>
  <p:tag name="KSO_WM_UNIT_VALUE" val="1333*1333"/>
  <p:tag name="KSO_WM_UNIT_HIGHLIGHT" val="0"/>
  <p:tag name="KSO_WM_UNIT_COMPATIBLE" val="0"/>
  <p:tag name="KSO_WM_UNIT_DIAGRAM_ISNUMVISUAL" val="0"/>
  <p:tag name="KSO_WM_UNIT_DIAGRAM_ISREFERUNIT" val="0"/>
  <p:tag name="KSO_WM_DIAGRAM_GROUP_CODE" val="ζ1-1"/>
  <p:tag name="KSO_WM_UNIT_TYPE" val="ζ_h_d"/>
  <p:tag name="KSO_WM_UNIT_INDEX" val="2157_1_1"/>
  <p:tag name="KSO_WM_UNIT_ID" val="mixed20197105_1*ζ_h_d*1_1_1"/>
  <p:tag name="KSO_WM_TEMPLATE_CATEGORY" val="mixed"/>
  <p:tag name="KSO_WM_TEMPLATE_INDEX" val="20197105"/>
  <p:tag name="KSO_WM_UNIT_SUPPORT_UNIT_TYPE" val="[&quot;all&quot;]"/>
  <p:tag name="KSO_WM_UNIT_LAYERLEVEL" val="1_1_1"/>
  <p:tag name="KSO_WM_TAG_VERSION" val="1.0"/>
  <p:tag name="KSO_WM_BEAUTIFY_FLAG" val="#wm#"/>
  <p:tag name="KSO_WM_UNIT_PARTIAL_ZOOM_TEMPLATE_ID" val="3110864"/>
  <p:tag name="KSO_WM_UNIT_PARTIAL_ZOOM_EFFECT_TID" val="0"/>
  <p:tag name="KSO_WM_UNIT_PARTIAL_ZOOM_ORG_WIDTH" val="19200"/>
  <p:tag name="KSO_WM_UNIT_PARTIAL_ZOOM_ORG_HEIGHT" val="10800"/>
  <p:tag name="KSO_WM_UNIT_PARTIAL_ZOOM_CONFIRM_ZOOM_AREA" val="1.1983"/>
  <p:tag name="KSO_WM_UNIT_PARTIAL_ZOOM_HDIMAGE" val="0"/>
</p:tagLst>
</file>

<file path=ppt/tags/tag3.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32"/>
  <p:tag name="KSO_WM_UNIT_ID" val="mixed20197105_1*ζ_h_i*1_1_32"/>
  <p:tag name="KSO_WM_TEMPLATE_CATEGORY" val="mixed"/>
  <p:tag name="KSO_WM_TEMPLATE_INDEX" val="20197105"/>
  <p:tag name="KSO_WM_UNIT_LAYERLEVEL" val="1_1_1"/>
  <p:tag name="KSO_WM_TAG_VERSION" val="1.0"/>
  <p:tag name="KSO_WM_BEAUTIFY_FLAG" val="#wm#"/>
</p:tagLst>
</file>

<file path=ppt/tags/tag4.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8"/>
  <p:tag name="KSO_WM_UNIT_ID" val="mixed20197105_1*ζ_h_i*1_1_8"/>
  <p:tag name="KSO_WM_TEMPLATE_CATEGORY" val="mixed"/>
  <p:tag name="KSO_WM_TEMPLATE_INDEX" val="20197105"/>
  <p:tag name="KSO_WM_UNIT_LAYERLEVEL" val="1_1_1"/>
  <p:tag name="KSO_WM_TAG_VERSION" val="1.0"/>
  <p:tag name="KSO_WM_BEAUTIFY_FLAG" val="#wm#"/>
</p:tagLst>
</file>

<file path=ppt/tags/tag5.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13"/>
  <p:tag name="KSO_WM_UNIT_ID" val="mixed20197105_1*ζ_h_i*1_1_13"/>
  <p:tag name="KSO_WM_TEMPLATE_CATEGORY" val="mixed"/>
  <p:tag name="KSO_WM_TEMPLATE_INDEX" val="20197105"/>
  <p:tag name="KSO_WM_UNIT_LAYERLEVEL" val="1_1_1"/>
  <p:tag name="KSO_WM_TAG_VERSION" val="1.0"/>
  <p:tag name="KSO_WM_BEAUTIFY_FLAG" val="#wm#"/>
</p:tagLst>
</file>

<file path=ppt/tags/tag6.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14"/>
  <p:tag name="KSO_WM_UNIT_ID" val="mixed20197105_1*ζ_h_i*1_1_14"/>
  <p:tag name="KSO_WM_TEMPLATE_CATEGORY" val="mixed"/>
  <p:tag name="KSO_WM_TEMPLATE_INDEX" val="20197105"/>
  <p:tag name="KSO_WM_UNIT_LAYERLEVEL" val="1_1_1"/>
  <p:tag name="KSO_WM_TAG_VERSION" val="1.0"/>
  <p:tag name="KSO_WM_BEAUTIFY_FLAG" val="#wm#"/>
</p:tagLst>
</file>

<file path=ppt/tags/tag7.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15"/>
  <p:tag name="KSO_WM_UNIT_ID" val="mixed20197105_1*ζ_h_i*1_1_15"/>
  <p:tag name="KSO_WM_TEMPLATE_CATEGORY" val="mixed"/>
  <p:tag name="KSO_WM_TEMPLATE_INDEX" val="20197105"/>
  <p:tag name="KSO_WM_UNIT_LAYERLEVEL" val="1_1_1"/>
  <p:tag name="KSO_WM_TAG_VERSION" val="1.0"/>
  <p:tag name="KSO_WM_BEAUTIFY_FLAG" val="#wm#"/>
</p:tagLst>
</file>

<file path=ppt/tags/tag8.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17"/>
  <p:tag name="KSO_WM_UNIT_ID" val="mixed20197105_1*ζ_h_i*1_1_17"/>
  <p:tag name="KSO_WM_TEMPLATE_CATEGORY" val="mixed"/>
  <p:tag name="KSO_WM_TEMPLATE_INDEX" val="20197105"/>
  <p:tag name="KSO_WM_UNIT_LAYERLEVEL" val="1_1_1"/>
  <p:tag name="KSO_WM_TAG_VERSION" val="1.0"/>
  <p:tag name="KSO_WM_BEAUTIFY_FLAG" val="#wm#"/>
</p:tagLst>
</file>

<file path=ppt/tags/tag9.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18"/>
  <p:tag name="KSO_WM_UNIT_ID" val="mixed20197105_1*ζ_h_i*1_1_18"/>
  <p:tag name="KSO_WM_TEMPLATE_CATEGORY" val="mixed"/>
  <p:tag name="KSO_WM_TEMPLATE_INDEX" val="20197105"/>
  <p:tag name="KSO_WM_UNIT_LAYERLEVEL" val="1_1_1"/>
  <p:tag name="KSO_WM_TAG_VERSION" val="1.0"/>
  <p:tag name="KSO_WM_BEAUTIFY_FLAG" val="#wm#"/>
</p:tagLst>
</file>

<file path=ppt/tags/tag10.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19"/>
  <p:tag name="KSO_WM_UNIT_ID" val="mixed20197105_1*ζ_h_i*1_1_19"/>
  <p:tag name="KSO_WM_TEMPLATE_CATEGORY" val="mixed"/>
  <p:tag name="KSO_WM_TEMPLATE_INDEX" val="20197105"/>
  <p:tag name="KSO_WM_UNIT_LAYERLEVEL" val="1_1_1"/>
  <p:tag name="KSO_WM_TAG_VERSION" val="1.0"/>
  <p:tag name="KSO_WM_BEAUTIFY_FLAG" val="#wm#"/>
</p:tagLst>
</file>

<file path=ppt/tags/tag11.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1"/>
  <p:tag name="KSO_WM_UNIT_ID" val="mixed20197105_1*ζ_h_i*1_1_1"/>
  <p:tag name="KSO_WM_TEMPLATE_CATEGORY" val="mixed"/>
  <p:tag name="KSO_WM_TEMPLATE_INDEX" val="20197105"/>
  <p:tag name="KSO_WM_UNIT_LAYERLEVEL" val="1_1_1"/>
  <p:tag name="KSO_WM_TAG_VERSION" val="1.0"/>
  <p:tag name="KSO_WM_BEAUTIFY_FLAG" val="#wm#"/>
</p:tagLst>
</file>

<file path=ppt/tags/tag12.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4"/>
  <p:tag name="KSO_WM_UNIT_ID" val="mixed20197105_1*ζ_h_i*1_1_4"/>
  <p:tag name="KSO_WM_TEMPLATE_CATEGORY" val="mixed"/>
  <p:tag name="KSO_WM_TEMPLATE_INDEX" val="20197105"/>
  <p:tag name="KSO_WM_UNIT_LAYERLEVEL" val="1_1_1"/>
  <p:tag name="KSO_WM_TAG_VERSION" val="1.0"/>
  <p:tag name="KSO_WM_BEAUTIFY_FLAG" val="#wm#"/>
</p:tagLst>
</file>

<file path=ppt/tags/tag13.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16"/>
  <p:tag name="KSO_WM_UNIT_ID" val="mixed20197105_1*ζ_h_i*1_1_16"/>
  <p:tag name="KSO_WM_TEMPLATE_CATEGORY" val="mixed"/>
  <p:tag name="KSO_WM_TEMPLATE_INDEX" val="20197105"/>
  <p:tag name="KSO_WM_UNIT_LAYERLEVEL" val="1_1_1"/>
  <p:tag name="KSO_WM_TAG_VERSION" val="1.0"/>
  <p:tag name="KSO_WM_BEAUTIFY_FLAG" val="#wm#"/>
</p:tagLst>
</file>

<file path=ppt/tags/tag14.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20"/>
  <p:tag name="KSO_WM_UNIT_ID" val="mixed20197105_1*ζ_h_i*1_1_20"/>
  <p:tag name="KSO_WM_TEMPLATE_CATEGORY" val="mixed"/>
  <p:tag name="KSO_WM_TEMPLATE_INDEX" val="20197105"/>
  <p:tag name="KSO_WM_UNIT_LAYERLEVEL" val="1_1_1"/>
  <p:tag name="KSO_WM_TAG_VERSION" val="1.0"/>
  <p:tag name="KSO_WM_BEAUTIFY_FLAG" val="#wm#"/>
</p:tagLst>
</file>

<file path=ppt/tags/tag15.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21"/>
  <p:tag name="KSO_WM_UNIT_ID" val="mixed20197105_1*ζ_h_i*1_1_21"/>
  <p:tag name="KSO_WM_TEMPLATE_CATEGORY" val="mixed"/>
  <p:tag name="KSO_WM_TEMPLATE_INDEX" val="20197105"/>
  <p:tag name="KSO_WM_UNIT_LAYERLEVEL" val="1_1_1"/>
  <p:tag name="KSO_WM_TAG_VERSION" val="1.0"/>
  <p:tag name="KSO_WM_BEAUTIFY_FLAG" val="#wm#"/>
</p:tagLst>
</file>

<file path=ppt/tags/tag16.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22"/>
  <p:tag name="KSO_WM_UNIT_ID" val="mixed20197105_1*ζ_h_i*1_1_22"/>
  <p:tag name="KSO_WM_TEMPLATE_CATEGORY" val="mixed"/>
  <p:tag name="KSO_WM_TEMPLATE_INDEX" val="20197105"/>
  <p:tag name="KSO_WM_UNIT_LAYERLEVEL" val="1_1_1"/>
  <p:tag name="KSO_WM_TAG_VERSION" val="1.0"/>
  <p:tag name="KSO_WM_BEAUTIFY_FLAG" val="#wm#"/>
</p:tagLst>
</file>

<file path=ppt/tags/tag17.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24"/>
  <p:tag name="KSO_WM_UNIT_ID" val="mixed20197105_1*ζ_h_i*1_1_24"/>
  <p:tag name="KSO_WM_TEMPLATE_CATEGORY" val="mixed"/>
  <p:tag name="KSO_WM_TEMPLATE_INDEX" val="20197105"/>
  <p:tag name="KSO_WM_UNIT_LAYERLEVEL" val="1_1_1"/>
  <p:tag name="KSO_WM_TAG_VERSION" val="1.0"/>
  <p:tag name="KSO_WM_BEAUTIFY_FLAG" val="#wm#"/>
</p:tagLst>
</file>

<file path=ppt/tags/tag18.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25"/>
  <p:tag name="KSO_WM_UNIT_ID" val="mixed20197105_1*ζ_h_i*1_1_25"/>
  <p:tag name="KSO_WM_TEMPLATE_CATEGORY" val="mixed"/>
  <p:tag name="KSO_WM_TEMPLATE_INDEX" val="20197105"/>
  <p:tag name="KSO_WM_UNIT_LAYERLEVEL" val="1_1_1"/>
  <p:tag name="KSO_WM_TAG_VERSION" val="1.0"/>
  <p:tag name="KSO_WM_BEAUTIFY_FLAG" val="#wm#"/>
</p:tagLst>
</file>

<file path=ppt/tags/tag19.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26"/>
  <p:tag name="KSO_WM_UNIT_ID" val="mixed20197105_1*ζ_h_i*1_1_26"/>
  <p:tag name="KSO_WM_TEMPLATE_CATEGORY" val="mixed"/>
  <p:tag name="KSO_WM_TEMPLATE_INDEX" val="20197105"/>
  <p:tag name="KSO_WM_UNIT_LAYERLEVEL" val="1_1_1"/>
  <p:tag name="KSO_WM_TAG_VERSION" val="1.0"/>
  <p:tag name="KSO_WM_BEAUTIFY_FLAG" val="#wm#"/>
</p:tagLst>
</file>

<file path=ppt/tags/tag20.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12"/>
  <p:tag name="KSO_WM_UNIT_ID" val="mixed20197105_1*ζ_h_i*1_1_12"/>
  <p:tag name="KSO_WM_TEMPLATE_CATEGORY" val="mixed"/>
  <p:tag name="KSO_WM_TEMPLATE_INDEX" val="20197105"/>
  <p:tag name="KSO_WM_UNIT_LAYERLEVEL" val="1_1_1"/>
  <p:tag name="KSO_WM_TAG_VERSION" val="1.0"/>
  <p:tag name="KSO_WM_BEAUTIFY_FLAG" val="#wm#"/>
</p:tagLst>
</file>

<file path=ppt/tags/tag21.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23"/>
  <p:tag name="KSO_WM_UNIT_ID" val="mixed20197105_1*ζ_h_i*1_1_23"/>
  <p:tag name="KSO_WM_TEMPLATE_CATEGORY" val="mixed"/>
  <p:tag name="KSO_WM_TEMPLATE_INDEX" val="20197105"/>
  <p:tag name="KSO_WM_UNIT_LAYERLEVEL" val="1_1_1"/>
  <p:tag name="KSO_WM_TAG_VERSION" val="1.0"/>
  <p:tag name="KSO_WM_BEAUTIFY_FLAG" val="#wm#"/>
</p:tagLst>
</file>

<file path=ppt/tags/tag22.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27"/>
  <p:tag name="KSO_WM_UNIT_ID" val="mixed20197105_1*ζ_h_i*1_1_27"/>
  <p:tag name="KSO_WM_TEMPLATE_CATEGORY" val="mixed"/>
  <p:tag name="KSO_WM_TEMPLATE_INDEX" val="20197105"/>
  <p:tag name="KSO_WM_UNIT_LAYERLEVEL" val="1_1_1"/>
  <p:tag name="KSO_WM_TAG_VERSION" val="1.0"/>
  <p:tag name="KSO_WM_BEAUTIFY_FLAG" val="#wm#"/>
</p:tagLst>
</file>

<file path=ppt/tags/tag23.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28"/>
  <p:tag name="KSO_WM_UNIT_ID" val="mixed20197105_1*ζ_h_i*1_1_28"/>
  <p:tag name="KSO_WM_TEMPLATE_CATEGORY" val="mixed"/>
  <p:tag name="KSO_WM_TEMPLATE_INDEX" val="20197105"/>
  <p:tag name="KSO_WM_UNIT_LAYERLEVEL" val="1_1_1"/>
  <p:tag name="KSO_WM_TAG_VERSION" val="1.0"/>
  <p:tag name="KSO_WM_BEAUTIFY_FLAG" val="#wm#"/>
</p:tagLst>
</file>

<file path=ppt/tags/tag24.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29"/>
  <p:tag name="KSO_WM_UNIT_ID" val="mixed20197105_1*ζ_h_i*1_1_29"/>
  <p:tag name="KSO_WM_TEMPLATE_CATEGORY" val="mixed"/>
  <p:tag name="KSO_WM_TEMPLATE_INDEX" val="20197105"/>
  <p:tag name="KSO_WM_UNIT_LAYERLEVEL" val="1_1_1"/>
  <p:tag name="KSO_WM_TAG_VERSION" val="1.0"/>
  <p:tag name="KSO_WM_BEAUTIFY_FLAG" val="#wm#"/>
</p:tagLst>
</file>

<file path=ppt/tags/tag25.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30"/>
  <p:tag name="KSO_WM_UNIT_ID" val="mixed20197105_1*ζ_h_i*1_1_30"/>
  <p:tag name="KSO_WM_TEMPLATE_CATEGORY" val="mixed"/>
  <p:tag name="KSO_WM_TEMPLATE_INDEX" val="20197105"/>
  <p:tag name="KSO_WM_UNIT_LAYERLEVEL" val="1_1_1"/>
  <p:tag name="KSO_WM_TAG_VERSION" val="1.0"/>
  <p:tag name="KSO_WM_BEAUTIFY_FLAG" val="#wm#"/>
</p:tagLst>
</file>

<file path=ppt/tags/tag26.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31"/>
  <p:tag name="KSO_WM_UNIT_ID" val="mixed20197105_1*ζ_h_i*1_1_31"/>
  <p:tag name="KSO_WM_TEMPLATE_CATEGORY" val="mixed"/>
  <p:tag name="KSO_WM_TEMPLATE_INDEX" val="20197105"/>
  <p:tag name="KSO_WM_UNIT_LAYERLEVEL" val="1_1_1"/>
  <p:tag name="KSO_WM_TAG_VERSION" val="1.0"/>
  <p:tag name="KSO_WM_BEAUTIFY_FLAG" val="#wm#"/>
</p:tagLst>
</file>

<file path=ppt/tags/tag27.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2"/>
  <p:tag name="KSO_WM_UNIT_ID" val="mixed20197105_1*ζ_h_i*1_1_2"/>
  <p:tag name="KSO_WM_TEMPLATE_CATEGORY" val="mixed"/>
  <p:tag name="KSO_WM_TEMPLATE_INDEX" val="20197105"/>
  <p:tag name="KSO_WM_UNIT_LAYERLEVEL" val="1_1_1"/>
  <p:tag name="KSO_WM_TAG_VERSION" val="1.0"/>
  <p:tag name="KSO_WM_BEAUTIFY_FLAG" val="#wm#"/>
</p:tagLst>
</file>

<file path=ppt/tags/tag28.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3"/>
  <p:tag name="KSO_WM_UNIT_ID" val="mixed20197105_1*ζ_h_i*1_1_3"/>
  <p:tag name="KSO_WM_TEMPLATE_CATEGORY" val="mixed"/>
  <p:tag name="KSO_WM_TEMPLATE_INDEX" val="20197105"/>
  <p:tag name="KSO_WM_UNIT_LAYERLEVEL" val="1_1_1"/>
  <p:tag name="KSO_WM_TAG_VERSION" val="1.0"/>
  <p:tag name="KSO_WM_BEAUTIFY_FLAG" val="#wm#"/>
</p:tagLst>
</file>

<file path=ppt/tags/tag29.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5"/>
  <p:tag name="KSO_WM_UNIT_ID" val="mixed20197105_1*ζ_h_i*1_1_5"/>
  <p:tag name="KSO_WM_TEMPLATE_CATEGORY" val="mixed"/>
  <p:tag name="KSO_WM_TEMPLATE_INDEX" val="20197105"/>
  <p:tag name="KSO_WM_UNIT_LAYERLEVEL" val="1_1_1"/>
  <p:tag name="KSO_WM_TAG_VERSION" val="1.0"/>
  <p:tag name="KSO_WM_BEAUTIFY_FLAG" val="#wm#"/>
</p:tagLst>
</file>

<file path=ppt/tags/tag30.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6"/>
  <p:tag name="KSO_WM_UNIT_ID" val="mixed20197105_1*ζ_h_i*1_1_6"/>
  <p:tag name="KSO_WM_TEMPLATE_CATEGORY" val="mixed"/>
  <p:tag name="KSO_WM_TEMPLATE_INDEX" val="20197105"/>
  <p:tag name="KSO_WM_UNIT_LAYERLEVEL" val="1_1_1"/>
  <p:tag name="KSO_WM_TAG_VERSION" val="1.0"/>
  <p:tag name="KSO_WM_BEAUTIFY_FLAG" val="#wm#"/>
</p:tagLst>
</file>

<file path=ppt/tags/tag31.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7"/>
  <p:tag name="KSO_WM_UNIT_ID" val="mixed20197105_1*ζ_h_i*1_1_7"/>
  <p:tag name="KSO_WM_TEMPLATE_CATEGORY" val="mixed"/>
  <p:tag name="KSO_WM_TEMPLATE_INDEX" val="20197105"/>
  <p:tag name="KSO_WM_UNIT_LAYERLEVEL" val="1_1_1"/>
  <p:tag name="KSO_WM_TAG_VERSION" val="1.0"/>
  <p:tag name="KSO_WM_BEAUTIFY_FLAG" val="#wm#"/>
</p:tagLst>
</file>

<file path=ppt/tags/tag32.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9"/>
  <p:tag name="KSO_WM_UNIT_ID" val="mixed20197105_1*ζ_h_i*1_1_9"/>
  <p:tag name="KSO_WM_TEMPLATE_CATEGORY" val="mixed"/>
  <p:tag name="KSO_WM_TEMPLATE_INDEX" val="20197105"/>
  <p:tag name="KSO_WM_UNIT_LAYERLEVEL" val="1_1_1"/>
  <p:tag name="KSO_WM_TAG_VERSION" val="1.0"/>
  <p:tag name="KSO_WM_BEAUTIFY_FLAG" val="#wm#"/>
</p:tagLst>
</file>

<file path=ppt/tags/tag33.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10"/>
  <p:tag name="KSO_WM_UNIT_ID" val="mixed20197105_1*ζ_h_i*1_1_10"/>
  <p:tag name="KSO_WM_TEMPLATE_CATEGORY" val="mixed"/>
  <p:tag name="KSO_WM_TEMPLATE_INDEX" val="20197105"/>
  <p:tag name="KSO_WM_UNIT_LAYERLEVEL" val="1_1_1"/>
  <p:tag name="KSO_WM_TAG_VERSION" val="1.0"/>
  <p:tag name="KSO_WM_BEAUTIFY_FLAG" val="#wm#"/>
</p:tagLst>
</file>

<file path=ppt/tags/tag34.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2157_1_11"/>
  <p:tag name="KSO_WM_UNIT_ID" val="mixed20197105_1*ζ_h_i*1_1_11"/>
  <p:tag name="KSO_WM_TEMPLATE_CATEGORY" val="mixed"/>
  <p:tag name="KSO_WM_TEMPLATE_INDEX" val="20197105"/>
  <p:tag name="KSO_WM_UNIT_LAYERLEVEL" val="1_1_1"/>
  <p:tag name="KSO_WM_TAG_VERSION" val="1.0"/>
  <p:tag name="KSO_WM_BEAUTIFY_FLAG" val="#wm#"/>
</p:tagLst>
</file>

<file path=ppt/tags/tag35.xml><?xml version="1.0" encoding="utf-8"?>
<p:tagLst xmlns:p="http://schemas.openxmlformats.org/presentationml/2006/main">
  <p:tag name="KSO_WM_UNIT_INDEX" val="8604_1_15"/>
  <p:tag name="KSO_WM_TEMPLATE_INDEX" val="20197106"/>
  <p:tag name="KSO_WM_UNIT_DIAGRAM_MODELTYPE" val="partialZoom"/>
</p:tagLst>
</file>

<file path=ppt/tags/tag36.xml><?xml version="1.0" encoding="utf-8"?>
<p:tagLst xmlns:p="http://schemas.openxmlformats.org/presentationml/2006/main">
  <p:tag name="PA" val="v5.2.8"/>
  <p:tag name="KSO_WM_UNIT_DIAGRAM_MODELTYPE" val="partialZoom"/>
  <p:tag name="KSO_WM_UNIT_VALUE" val="1470*1470"/>
  <p:tag name="KSO_WM_UNIT_HIGHLIGHT" val="0"/>
  <p:tag name="KSO_WM_UNIT_COMPATIBLE" val="0"/>
  <p:tag name="KSO_WM_UNIT_DIAGRAM_ISNUMVISUAL" val="0"/>
  <p:tag name="KSO_WM_UNIT_DIAGRAM_ISREFERUNIT" val="0"/>
  <p:tag name="KSO_WM_DIAGRAM_GROUP_CODE" val="ζ1-1"/>
  <p:tag name="KSO_WM_UNIT_TYPE" val="ζ_h_d"/>
  <p:tag name="KSO_WM_UNIT_INDEX" val="8604_1_1"/>
  <p:tag name="KSO_WM_UNIT_ID" val="mixed20197106_1*ζ_h_d*1_1_1"/>
  <p:tag name="KSO_WM_TEMPLATE_CATEGORY" val="mixed"/>
  <p:tag name="KSO_WM_TEMPLATE_INDEX" val="20197106"/>
  <p:tag name="KSO_WM_UNIT_SUPPORT_UNIT_TYPE" val="[&quot;all&quot;]"/>
  <p:tag name="KSO_WM_UNIT_LAYERLEVEL" val="1_1_1"/>
  <p:tag name="KSO_WM_TAG_VERSION" val="1.0"/>
  <p:tag name="KSO_WM_BEAUTIFY_FLAG" val="#wm#"/>
  <p:tag name="KSO_WM_UNIT_PARTIAL_ZOOM_TEMPLATE_ID" val="3110879"/>
  <p:tag name="KSO_WM_UNIT_PARTIAL_ZOOM_EFFECT_TID" val="0"/>
  <p:tag name="KSO_WM_UNIT_PARTIAL_ZOOM_ORG_WIDTH" val="19200"/>
  <p:tag name="KSO_WM_UNIT_PARTIAL_ZOOM_ORG_HEIGHT" val="10800"/>
  <p:tag name="KSO_WM_UNIT_PARTIAL_ZOOM_CONFIRM_ZOOM_AREA" val="1.06253"/>
  <p:tag name="KSO_WM_UNIT_PARTIAL_ZOOM_HDIMAGE" val="0"/>
</p:tagLst>
</file>

<file path=ppt/tags/tag37.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8604_1_7"/>
  <p:tag name="KSO_WM_UNIT_ID" val="mixed20197106_1*ζ_h_i*1_1_7"/>
  <p:tag name="KSO_WM_TEMPLATE_CATEGORY" val="mixed"/>
  <p:tag name="KSO_WM_TEMPLATE_INDEX" val="20197106"/>
  <p:tag name="KSO_WM_UNIT_LAYERLEVEL" val="1_1_1"/>
  <p:tag name="KSO_WM_TAG_VERSION" val="1.0"/>
  <p:tag name="KSO_WM_BEAUTIFY_FLAG" val="#wm#"/>
</p:tagLst>
</file>

<file path=ppt/tags/tag38.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8604_1_11"/>
  <p:tag name="KSO_WM_UNIT_ID" val="mixed20197106_1*ζ_h_i*1_1_11"/>
  <p:tag name="KSO_WM_TEMPLATE_CATEGORY" val="mixed"/>
  <p:tag name="KSO_WM_TEMPLATE_INDEX" val="20197106"/>
  <p:tag name="KSO_WM_UNIT_LAYERLEVEL" val="1_1_1"/>
  <p:tag name="KSO_WM_TAG_VERSION" val="1.0"/>
  <p:tag name="KSO_WM_BEAUTIFY_FLAG" val="#wm#"/>
</p:tagLst>
</file>

<file path=ppt/tags/tag39.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8604_1_9"/>
  <p:tag name="KSO_WM_UNIT_ID" val="mixed20197106_1*ζ_h_i*1_1_9"/>
  <p:tag name="KSO_WM_TEMPLATE_CATEGORY" val="mixed"/>
  <p:tag name="KSO_WM_TEMPLATE_INDEX" val="20197106"/>
  <p:tag name="KSO_WM_UNIT_LAYERLEVEL" val="1_1_1"/>
  <p:tag name="KSO_WM_TAG_VERSION" val="1.0"/>
  <p:tag name="KSO_WM_BEAUTIFY_FLAG" val="#wm#"/>
</p:tagLst>
</file>

<file path=ppt/tags/tag40.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8604_1_6"/>
  <p:tag name="KSO_WM_UNIT_ID" val="mixed20197106_1*ζ_h_i*1_1_6"/>
  <p:tag name="KSO_WM_TEMPLATE_CATEGORY" val="mixed"/>
  <p:tag name="KSO_WM_TEMPLATE_INDEX" val="20197106"/>
  <p:tag name="KSO_WM_UNIT_LAYERLEVEL" val="1_1_1"/>
  <p:tag name="KSO_WM_TAG_VERSION" val="1.0"/>
  <p:tag name="KSO_WM_BEAUTIFY_FLAG" val="#wm#"/>
</p:tagLst>
</file>

<file path=ppt/tags/tag41.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8604_1_4"/>
  <p:tag name="KSO_WM_UNIT_ID" val="mixed20197106_1*ζ_h_i*1_1_4"/>
  <p:tag name="KSO_WM_TEMPLATE_CATEGORY" val="mixed"/>
  <p:tag name="KSO_WM_TEMPLATE_INDEX" val="20197106"/>
  <p:tag name="KSO_WM_UNIT_LAYERLEVEL" val="1_1_1"/>
  <p:tag name="KSO_WM_TAG_VERSION" val="1.0"/>
  <p:tag name="KSO_WM_BEAUTIFY_FLAG" val="#wm#"/>
</p:tagLst>
</file>

<file path=ppt/tags/tag42.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8604_1_3"/>
  <p:tag name="KSO_WM_UNIT_ID" val="mixed20197106_1*ζ_h_i*1_1_3"/>
  <p:tag name="KSO_WM_TEMPLATE_CATEGORY" val="mixed"/>
  <p:tag name="KSO_WM_TEMPLATE_INDEX" val="20197106"/>
  <p:tag name="KSO_WM_UNIT_LAYERLEVEL" val="1_1_1"/>
  <p:tag name="KSO_WM_TAG_VERSION" val="1.0"/>
  <p:tag name="KSO_WM_BEAUTIFY_FLAG" val="#wm#"/>
</p:tagLst>
</file>

<file path=ppt/tags/tag43.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8604_1_2"/>
  <p:tag name="KSO_WM_UNIT_ID" val="mixed20197106_1*ζ_h_i*1_1_2"/>
  <p:tag name="KSO_WM_TEMPLATE_CATEGORY" val="mixed"/>
  <p:tag name="KSO_WM_TEMPLATE_INDEX" val="20197106"/>
  <p:tag name="KSO_WM_UNIT_LAYERLEVEL" val="1_1_1"/>
  <p:tag name="KSO_WM_TAG_VERSION" val="1.0"/>
  <p:tag name="KSO_WM_BEAUTIFY_FLAG" val="#wm#"/>
</p:tagLst>
</file>

<file path=ppt/tags/tag44.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8604_1_1"/>
  <p:tag name="KSO_WM_UNIT_ID" val="mixed20197106_1*ζ_h_i*1_1_1"/>
  <p:tag name="KSO_WM_TEMPLATE_CATEGORY" val="mixed"/>
  <p:tag name="KSO_WM_TEMPLATE_INDEX" val="20197106"/>
  <p:tag name="KSO_WM_UNIT_LAYERLEVEL" val="1_1_1"/>
  <p:tag name="KSO_WM_TAG_VERSION" val="1.0"/>
  <p:tag name="KSO_WM_BEAUTIFY_FLAG" val="#wm#"/>
</p:tagLst>
</file>

<file path=ppt/tags/tag45.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8604_1_14"/>
  <p:tag name="KSO_WM_UNIT_ID" val="mixed20197106_1*ζ_h_i*1_1_14"/>
  <p:tag name="KSO_WM_TEMPLATE_CATEGORY" val="mixed"/>
  <p:tag name="KSO_WM_TEMPLATE_INDEX" val="20197106"/>
  <p:tag name="KSO_WM_UNIT_LAYERLEVEL" val="1_1_1"/>
  <p:tag name="KSO_WM_TAG_VERSION" val="1.0"/>
  <p:tag name="KSO_WM_BEAUTIFY_FLAG" val="#wm#"/>
</p:tagLst>
</file>

<file path=ppt/tags/tag46.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8604_1_8"/>
  <p:tag name="KSO_WM_UNIT_ID" val="mixed20197106_1*ζ_h_i*1_1_8"/>
  <p:tag name="KSO_WM_TEMPLATE_CATEGORY" val="mixed"/>
  <p:tag name="KSO_WM_TEMPLATE_INDEX" val="20197106"/>
  <p:tag name="KSO_WM_UNIT_LAYERLEVEL" val="1_1_1"/>
  <p:tag name="KSO_WM_TAG_VERSION" val="1.0"/>
  <p:tag name="KSO_WM_BEAUTIFY_FLAG" val="#wm#"/>
</p:tagLst>
</file>

<file path=ppt/tags/tag47.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8604_1_13"/>
  <p:tag name="KSO_WM_UNIT_ID" val="mixed20197106_1*ζ_h_i*1_1_13"/>
  <p:tag name="KSO_WM_TEMPLATE_CATEGORY" val="mixed"/>
  <p:tag name="KSO_WM_TEMPLATE_INDEX" val="20197106"/>
  <p:tag name="KSO_WM_UNIT_LAYERLEVEL" val="1_1_1"/>
  <p:tag name="KSO_WM_TAG_VERSION" val="1.0"/>
  <p:tag name="KSO_WM_BEAUTIFY_FLAG" val="#wm#"/>
</p:tagLst>
</file>

<file path=ppt/tags/tag48.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8604_1_12"/>
  <p:tag name="KSO_WM_UNIT_ID" val="mixed20197106_1*ζ_h_i*1_1_12"/>
  <p:tag name="KSO_WM_TEMPLATE_CATEGORY" val="mixed"/>
  <p:tag name="KSO_WM_TEMPLATE_INDEX" val="20197106"/>
  <p:tag name="KSO_WM_UNIT_LAYERLEVEL" val="1_1_1"/>
  <p:tag name="KSO_WM_TAG_VERSION" val="1.0"/>
  <p:tag name="KSO_WM_BEAUTIFY_FLAG" val="#wm#"/>
</p:tagLst>
</file>

<file path=ppt/tags/tag49.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8604_1_10"/>
  <p:tag name="KSO_WM_UNIT_ID" val="mixed20197106_1*ζ_h_i*1_1_10"/>
  <p:tag name="KSO_WM_TEMPLATE_CATEGORY" val="mixed"/>
  <p:tag name="KSO_WM_TEMPLATE_INDEX" val="20197106"/>
  <p:tag name="KSO_WM_UNIT_LAYERLEVEL" val="1_1_1"/>
  <p:tag name="KSO_WM_TAG_VERSION" val="1.0"/>
  <p:tag name="KSO_WM_BEAUTIFY_FLAG" val="#wm#"/>
</p:tagLst>
</file>

<file path=ppt/tags/tag50.xml><?xml version="1.0" encoding="utf-8"?>
<p:tagLst xmlns:p="http://schemas.openxmlformats.org/presentationml/2006/main">
  <p:tag name="PA" val="v5.2.8"/>
  <p:tag name="KSO_WM_UNIT_DIAGRAM_MODELTYPE" val="partialZoom"/>
  <p:tag name="KSO_WM_UNIT_HIGHLIGHT" val="0"/>
  <p:tag name="KSO_WM_UNIT_COMPATIBLE" val="0"/>
  <p:tag name="KSO_WM_UNIT_DIAGRAM_ISNUMVISUAL" val="0"/>
  <p:tag name="KSO_WM_UNIT_DIAGRAM_ISREFERUNIT" val="0"/>
  <p:tag name="KSO_WM_DIAGRAM_GROUP_CODE" val="ζ1-1"/>
  <p:tag name="KSO_WM_UNIT_TYPE" val="ζ_h_i"/>
  <p:tag name="KSO_WM_UNIT_INDEX" val="8604_1_5"/>
  <p:tag name="KSO_WM_UNIT_ID" val="mixed20197106_1*ζ_h_i*1_1_5"/>
  <p:tag name="KSO_WM_TEMPLATE_CATEGORY" val="mixed"/>
  <p:tag name="KSO_WM_TEMPLATE_INDEX" val="20197106"/>
  <p:tag name="KSO_WM_UNIT_LAYERLEVEL" val="1_1_1"/>
  <p:tag name="KSO_WM_TAG_VERSION" val="1.0"/>
  <p:tag name="KSO_WM_BEAUTIFY_FLAG" val="#wm#"/>
</p:tagLst>
</file>

<file path=ppt/tags/tag51.xml><?xml version="1.0" encoding="utf-8"?>
<p:tagLst xmlns:p="http://schemas.openxmlformats.org/presentationml/2006/main">
  <p:tag name="KSO_WM_UNIT_PLACING_PICTURE_USER_VIEWPORT" val="{&quot;height&quot;:2340,&quot;width&quot;:2628}"/>
</p:tagLst>
</file>

<file path=ppt/tags/tag52.xml><?xml version="1.0" encoding="utf-8"?>
<p:tagLst xmlns:p="http://schemas.openxmlformats.org/presentationml/2006/main">
  <p:tag name="KSO_WM_UNIT_NOCLEAR" val="0"/>
  <p:tag name="KSO_WM_UNIT_VALUE" val="2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87706_1*l_h_f*1_1_1"/>
  <p:tag name="KSO_WM_TEMPLATE_CATEGORY" val="diagram"/>
  <p:tag name="KSO_WM_TEMPLATE_INDEX" val="20187706"/>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1"/>
  <p:tag name="KSO_WM_FULL_TEXT_BEAUTIFY_COPY_ID" val="30"/>
</p:tagLst>
</file>

<file path=ppt/tags/tag53.xml><?xml version="1.0" encoding="utf-8"?>
<p:tagLst xmlns:p="http://schemas.openxmlformats.org/presentationml/2006/main">
  <p:tag name="KSO_WM_UNIT_PLACING_PICTURE_USER_VIEWPORT" val="{&quot;height&quot;:2340,&quot;width&quot;:2628}"/>
</p:tagLst>
</file>

<file path=ppt/tags/tag54.xml><?xml version="1.0" encoding="utf-8"?>
<p:tagLst xmlns:p="http://schemas.openxmlformats.org/presentationml/2006/main">
  <p:tag name="KSO_WM_UNIT_PLACING_PICTURE_USER_VIEWPORT" val="{&quot;height&quot;:9641,&quot;width&quot;:18939}"/>
</p:tagLst>
</file>

<file path=ppt/tags/tag55.xml><?xml version="1.0" encoding="utf-8"?>
<p:tagLst xmlns:p="http://schemas.openxmlformats.org/presentationml/2006/main">
  <p:tag name="KSO_WM_UNIT_ISCONTENTS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187706_1*l_h_a*1_1_1"/>
  <p:tag name="KSO_WM_TEMPLATE_CATEGORY" val="diagram"/>
  <p:tag name="KSO_WM_TEMPLATE_INDEX" val="20187706"/>
  <p:tag name="KSO_WM_UNIT_LAYERLEVEL" val="1_1_1"/>
  <p:tag name="KSO_WM_TAG_VERSION" val="1.0"/>
  <p:tag name="KSO_WM_BEAUTIFY_FLAG" val="#wm#"/>
  <p:tag name="KSO_WM_UNIT_PRESET_TEXT" val="添加标题"/>
  <p:tag name="KSO_WM_UNIT_TEXT_FILL_FORE_SCHEMECOLOR_INDEX" val="5"/>
  <p:tag name="KSO_WM_UNIT_TEXT_FILL_TYPE" val="1"/>
  <p:tag name="KSO_WM_UNIT_USESOURCEFORMAT_APPLY" val="1"/>
  <p:tag name="KSO_WM_FULL_TEXT_BEAUTIFY_COPY_ID" val="29"/>
</p:tagLst>
</file>

<file path=ppt/tags/tag56.xml><?xml version="1.0" encoding="utf-8"?>
<p:tagLst xmlns:p="http://schemas.openxmlformats.org/presentationml/2006/main">
  <p:tag name="KSO_WM_UNIT_PLACING_PICTURE_USER_VIEWPORT" val="{&quot;height&quot;:2340,&quot;width&quot;:2628}"/>
</p:tagLst>
</file>

<file path=ppt/tags/tag57.xml><?xml version="1.0" encoding="utf-8"?>
<p:tagLst xmlns:p="http://schemas.openxmlformats.org/presentationml/2006/main">
  <p:tag name="KSO_WM_UNIT_ISCONTENTS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187706_1*l_h_a*1_1_1"/>
  <p:tag name="KSO_WM_TEMPLATE_CATEGORY" val="diagram"/>
  <p:tag name="KSO_WM_TEMPLATE_INDEX" val="20187706"/>
  <p:tag name="KSO_WM_UNIT_LAYERLEVEL" val="1_1_1"/>
  <p:tag name="KSO_WM_TAG_VERSION" val="1.0"/>
  <p:tag name="KSO_WM_BEAUTIFY_FLAG" val="#wm#"/>
  <p:tag name="KSO_WM_UNIT_PRESET_TEXT" val="添加标题"/>
  <p:tag name="KSO_WM_UNIT_TEXT_FILL_FORE_SCHEMECOLOR_INDEX" val="5"/>
  <p:tag name="KSO_WM_UNIT_TEXT_FILL_TYPE" val="1"/>
  <p:tag name="KSO_WM_UNIT_USESOURCEFORMAT_APPLY" val="1"/>
  <p:tag name="KSO_WM_FULL_TEXT_BEAUTIFY_COPY_ID" val="29"/>
</p:tagLst>
</file>

<file path=ppt/tags/tag58.xml><?xml version="1.0" encoding="utf-8"?>
<p:tagLst xmlns:p="http://schemas.openxmlformats.org/presentationml/2006/main">
  <p:tag name="KSO_WM_UNIT_PLACING_PICTURE_USER_VIEWPORT" val="{&quot;height&quot;:2340,&quot;width&quot;:2628}"/>
</p:tagLst>
</file>

<file path=ppt/tags/tag59.xml><?xml version="1.0" encoding="utf-8"?>
<p:tagLst xmlns:p="http://schemas.openxmlformats.org/presentationml/2006/main">
  <p:tag name="KSO_WM_UNIT_ISCONTENTS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187706_1*l_h_a*1_1_1"/>
  <p:tag name="KSO_WM_TEMPLATE_CATEGORY" val="diagram"/>
  <p:tag name="KSO_WM_TEMPLATE_INDEX" val="20187706"/>
  <p:tag name="KSO_WM_UNIT_LAYERLEVEL" val="1_1_1"/>
  <p:tag name="KSO_WM_TAG_VERSION" val="1.0"/>
  <p:tag name="KSO_WM_BEAUTIFY_FLAG" val="#wm#"/>
  <p:tag name="KSO_WM_UNIT_PRESET_TEXT" val="添加标题"/>
  <p:tag name="KSO_WM_UNIT_TEXT_FILL_FORE_SCHEMECOLOR_INDEX" val="5"/>
  <p:tag name="KSO_WM_UNIT_TEXT_FILL_TYPE" val="1"/>
  <p:tag name="KSO_WM_UNIT_USESOURCEFORMAT_APPLY" val="1"/>
  <p:tag name="KSO_WM_FULL_TEXT_BEAUTIFY_COPY_ID" val="29"/>
</p:tagLst>
</file>

<file path=ppt/tags/tag60.xml><?xml version="1.0" encoding="utf-8"?>
<p:tagLst xmlns:p="http://schemas.openxmlformats.org/presentationml/2006/main">
  <p:tag name="KSO_WM_UNIT_NOCLEAR" val="0"/>
  <p:tag name="KSO_WM_UNIT_VALUE" val="2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87706_1*l_h_f*1_1_1"/>
  <p:tag name="KSO_WM_TEMPLATE_CATEGORY" val="diagram"/>
  <p:tag name="KSO_WM_TEMPLATE_INDEX" val="20187706"/>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1"/>
  <p:tag name="KSO_WM_FULL_TEXT_BEAUTIFY_COPY_ID" val="30"/>
</p:tagLst>
</file>

<file path=ppt/tags/tag61.xml><?xml version="1.0" encoding="utf-8"?>
<p:tagLst xmlns:p="http://schemas.openxmlformats.org/presentationml/2006/main">
  <p:tag name="KSO_WM_UNIT_NOCLEAR" val="0"/>
  <p:tag name="KSO_WM_UNIT_VALUE" val="2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87706_1*l_h_f*1_1_1"/>
  <p:tag name="KSO_WM_TEMPLATE_CATEGORY" val="diagram"/>
  <p:tag name="KSO_WM_TEMPLATE_INDEX" val="20187706"/>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1"/>
  <p:tag name="KSO_WM_FULL_TEXT_BEAUTIFY_COPY_ID" val="30"/>
</p:tagLst>
</file>

<file path=ppt/tags/tag62.xml><?xml version="1.0" encoding="utf-8"?>
<p:tagLst xmlns:p="http://schemas.openxmlformats.org/presentationml/2006/main">
  <p:tag name="KSO_WM_UNIT_NOCLEAR" val="0"/>
  <p:tag name="KSO_WM_UNIT_VALUE" val="2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87706_1*l_h_f*1_1_1"/>
  <p:tag name="KSO_WM_TEMPLATE_CATEGORY" val="diagram"/>
  <p:tag name="KSO_WM_TEMPLATE_INDEX" val="20187706"/>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1"/>
  <p:tag name="KSO_WM_FULL_TEXT_BEAUTIFY_COPY_ID" val="30"/>
</p:tagLst>
</file>

<file path=ppt/tags/tag63.xml><?xml version="1.0" encoding="utf-8"?>
<p:tagLst xmlns:p="http://schemas.openxmlformats.org/presentationml/2006/main">
  <p:tag name="KSO_WM_UNIT_PLACING_PICTURE_USER_VIEWPORT" val="{&quot;height&quot;:2340,&quot;width&quot;:2628}"/>
</p:tagLst>
</file>

<file path=ppt/tags/tag64.xml><?xml version="1.0" encoding="utf-8"?>
<p:tagLst xmlns:p="http://schemas.openxmlformats.org/presentationml/2006/main">
  <p:tag name="KSO_WM_UNIT_ISCONTENTS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187706_1*l_h_a*1_1_1"/>
  <p:tag name="KSO_WM_TEMPLATE_CATEGORY" val="diagram"/>
  <p:tag name="KSO_WM_TEMPLATE_INDEX" val="20187706"/>
  <p:tag name="KSO_WM_UNIT_LAYERLEVEL" val="1_1_1"/>
  <p:tag name="KSO_WM_TAG_VERSION" val="1.0"/>
  <p:tag name="KSO_WM_BEAUTIFY_FLAG" val="#wm#"/>
  <p:tag name="KSO_WM_UNIT_PRESET_TEXT" val="添加标题"/>
  <p:tag name="KSO_WM_UNIT_TEXT_FILL_FORE_SCHEMECOLOR_INDEX" val="5"/>
  <p:tag name="KSO_WM_UNIT_TEXT_FILL_TYPE" val="1"/>
  <p:tag name="KSO_WM_UNIT_USESOURCEFORMAT_APPLY" val="1"/>
  <p:tag name="KSO_WM_FULL_TEXT_BEAUTIFY_COPY_ID" val="2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4330</Words>
  <Application>WPS 演示</Application>
  <PresentationFormat>自定义</PresentationFormat>
  <Paragraphs>180</Paragraphs>
  <Slides>22</Slides>
  <Notes>26</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22</vt:i4>
      </vt:variant>
    </vt:vector>
  </HeadingPairs>
  <TitlesOfParts>
    <vt:vector size="35" baseType="lpstr">
      <vt:lpstr>Arial</vt:lpstr>
      <vt:lpstr>宋体</vt:lpstr>
      <vt:lpstr>Wingdings</vt:lpstr>
      <vt:lpstr>华文细黑</vt:lpstr>
      <vt:lpstr>思源黑体 CN Bold</vt:lpstr>
      <vt:lpstr>汉仪旗黑-55简</vt:lpstr>
      <vt:lpstr>黑体</vt:lpstr>
      <vt:lpstr>微软雅黑</vt:lpstr>
      <vt:lpstr>Arial Unicode MS</vt:lpstr>
      <vt:lpstr>等线 Light</vt:lpstr>
      <vt:lpstr>等线</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商务风简约工作汇报述职报告PPT模板</dc:title>
  <dc:creator/>
  <cp:lastModifiedBy>博乐猎头熊芳芳-13638677956</cp:lastModifiedBy>
  <cp:revision>137</cp:revision>
  <dcterms:created xsi:type="dcterms:W3CDTF">2019-07-22T01:12:00Z</dcterms:created>
  <dcterms:modified xsi:type="dcterms:W3CDTF">2022-01-14T01:19:46Z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2052-11.1.0.11194</vt:lpwstr>
  </property>
  <property fmtid="{D5CDD505-2E9C-101B-9397-08002B2CF9AE}" pid="3" name="ICV">
    <vt:lpwstr>53C8A000BC7F4FF2B83A41815CAAF7A3</vt:lpwstr>
  </property>
</Properties>
</file>